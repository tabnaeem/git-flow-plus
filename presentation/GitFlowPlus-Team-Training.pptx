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introducing Git Flow Plus, a purpose-built extension of Git Flow that turns release management from a manual, tribal-knowledge process into a structured, auditable, tool-enforced workflow. This deck is for everyone touching a release: developers writing features, QA validating builds, DevOps shipping them, and the business stakeholders who need visibility into what is going out and when. By the end of this session everyone should understand the branch model, the version numbering scheme, and exactly which command to run at each stage of the release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Git Flow was designed in 2010 for a single maintainer cutting infrequent releases. It says nothing about who approved a feature for release, nothing about tracking QA builds separately from production, and nothing about a durable audit trail. Most teams that adopt it end up bolting on spreadsheets, Slack threads, and release-manager tribal knowledge to compensate. Git Flow Plus keeps the branch topology teams already know, but adds the missing enterprise layer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pillars: a Release Manifest that always answers "what is in this release", an audit trail that answers "who put it there and when", mandatory tagging so a QA build is never confused with a production build, and an explicit feature state machine so nobody has to guess whether something is ready to ship. All four are just structured data and Git primitives — nothing proprietary, nothing that locks you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five clear owners. Planning is the product/BA side, not covered by tooling. Development happens on feature branches owned by individual developers. Integration is the one stage owned exclusively by the Release Manager — nobody else merges into staging. QA verification produces a tagged, reproducible build. Release is the final, one-way step onto main. Notice there is no stage where a developer talks directly to production — every path runs through the Release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picture to internalize before anything else. Three permanent branches: main is production and only ever receives a merge from release finish. Staging is the release line — feature branches start there, and the entire release lifecycle happens on it. Develop is intentionally off to the side — it exists purely so a developer can integrate and unit-test against other in-flight feature branches before asking a Release Manager to merge into staging. It is never merged into staging or main by tooling. Feature branches, shown dashed, start from staging and stay alive through the whole QA cycle — they are only deleted in bulk when release finish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 developer's seat, the workflow is deliberately narrow. You start a feature — that always branches from staging, not develop, and it immediately registers in the Feature Registry as "Created". You commit normally. If you want to integrate against other people's in-flight feature branches to unit test, you can merge through develop, but that is optional and never required. When you are ready, you push and open a pull request — that is the end of your responsibility. You never merge your own feature branch; there is no feature finish command. A Release Manager decides if and when the feature actually ships. If QA finds an issue after your feature has already been merged into staging, you do not open a new branch — you commit the fix to the same feature branch, which is still alive, and ask the Release Manager to re-run the merge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Release Manager is the only role that can move a feature across the staging boundary. release start opens a manifest for the release and refuses a second concurrent release outright. From there, feature list shows every feature currently sitting in Approved state, waiting to be pulled in. Approving is purely a planning decision — it does not touch the repository. Add is the one command that performs a real merge: it merges the feature branch into staging, bumps the version's feature counter, and writes an entry into featureHistory. Because it is safe to re-run, if a developer pushes a QA fix commit to that same branch later, the Release Manager just runs add again — it pulls in the new commit without incrementing the counter a second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QA cycle starts with release build, which cuts a mandatory annotated Git tag — that tag is the single source of truth for exactly what QA is testing. A post-qa-tag hook can push that build to a QA environment automatically. If QA passes, the release moves to release finish. If QA finds a defect, the fix is never a new branch from scratch — the developer commits directly to the already-merged feature branch (or a release-fix branch, covered next), and the Release Manager re-runs release feature add. That resync pulls in the fix without double-counting the feature in the version number, then release build is run again to cut a fresh QA tag. This loop repeats until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release fix is Git Flow Plus's answer to "QA found a bug in this release — now what". It looks almost identical to a feature branch: releasefix start branches from staging, just like feature start. The difference is intent and lifecycle — a release fix is not part of the Feature Registry, it is scoped narrowly to one defect, and unlike a feature, any developer can run releasefix finish themselves because there is no separate approval gate — the defect was already found during this release's own QA process. Finishing it merges into staging immediately, but critically, that merge alone does not move the version number. Only release build does that, by cutting the next QA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DevOps work — pipeline changes, infrastructure-as-code updates, deployment script tweaks — needs to ride along with a release the same way a feature or fix does, so it gets the same treatment: a branch from staging, tracked in the manifest, merged back before the release closes. The part that matters most for this audience is the hook system. post-qa-tag and post-production-tag are plain shell hooks that fire automatically at exactly the two moments that matter — a QA tag being cut, and a production tag being cut. That is the integration point for whatever CI/CD system you already run; Git Flow Plus does not care whether that is GitHub Actions, Jenkins, or something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build is deliberately the only command in the whole tool that touches the fifth version field, the QA Build counter. Every time QA needs a fresh, reproducible artifact to test, the Release Manager runs this command — it tags the current state of staging with a fully self-describing message: which release, the full version string, which QA build number this is, and the exact list of features, release fixes, and DevOps changes included. That tag alone is enough to answer "what exactly did QA test in build 2" months later, without cross-referencing a spreadsheet.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fields, five independent counters, five different commands. Sprint is set once, when the release opens. Feature increments once per new feature merged via release feature add — resyncs do not increment it again. ReleaseFix increments per releasefix finish. DevOps increments per devops finish. QA increments per release build, and only release build. In the example on screen, 5.3.4.1.2 tells a complete story at a glance: sprint 5, the third feature just landed, four release fixes have gone in, one DevOps change, and this is the second QA build cut for this release. Nobody has to reconstruct that story from commit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single build — QA or production — leaves a permanent, annotated tag on the exact commit that was built. This timeline shows a release with three QA builds before sign-off, and then the final production tag, which lands on the same version as the last successful QA build — proving the exact commit QA signed off on is the exact commit that shipped. Because every tag is annotated rather than lightweight, the tag message itself carries the full audit record we saw two slides ago: features, fixes, DevOps changes, release manager,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release.json is the single source of truth for a release while it is active. It is nested by category — features, release fixes, DevOps — and within features, split by included, pending, and deferred, so anyone can see at a glance what shipped, what is still waiting for approval, and what was explicitly held back for a future release. The featureHistory array at the bottom is append-only — notice the second entry for LOGIN has resync: true, recording that a QA follow-up commit was pulled in without incrementing the feature counter a second time. This file is what release manifest and release feature status read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loop a release actually lives in for most of its life. Build cuts a QA tag, QA tests it, and if a defect turns up, the fix goes back to the same branch — not a new one — and the Release Manager resyncs with the same feature add command used originally. Because add is idempotent with respect to the feature counter, this loop can run as many times as needed without the version number inflating in a way that misrepresents how many actual features shipped — only the QA build counter climbs each pass. The loop only ends one way: QA finds nothing, and the release proceeds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everything together: a release starts, features and fixes land on staging in parallel via the Release Manager, QA cycles run build-test-resync as many times as needed, and finish is the single, one-way door to production. Notice the three panels below — what branches are touched, what the finish command specifically does, and — just as important — the things that structurally cannot happen in this model: no direct push to main, no branch disappearing mid-QA, no version field moving from the wrong command, no feature sneaking into a release without a Release Manager's explicit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one to screenshot. Every command in Git Flow Plus, who runs it, and what it does, in one table — organized so you can find "what do I run next" in a few seconds without digging through documentation mid-release. The full detail behind each of these lives in CommandReference.md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switch to the terminal. We will run this exact sequence against a throwaway repository: initialize, start a feature, have the Release Manager merge it in, simulate a QA-reported defect via a release fix, cut a QA build, and finish the release. After every single command we will stop and look at release status, the manifest, and git log so everyone can see precisely what changed and why. This is the best place to ask "what if" questions — try to break it, ask about edge cases, we have time built in for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roles, four clean lanes of responsibility, with almost no overlap. Developers own their feature branch and nothing past it. Release Managers own everything that happens on staging — they are the single point of control for what enters a release. QA owns sign-off — nothing reaches release finish without their approval. DevOps owns the pipeline and the hook wiring that makes the other three roles' work show up automatically in real environments. Business analysts and project managers, not shown as a card here, consume the release manifest and status commands as a reporting surface — they do not run any of the mutating commands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concrete payoffs, and every one of them maps directly back to a specific feature we walked through today: governance comes from the Release Manager gate, the audit trail from featureHistory, reproducible builds from mandatory tagging, single source of truth from the manifest, CI/CD integration from the hook system, and zero lock-in because — worth repeating one more time — every single thing Git Flow Plus does is a plain, ordinary Git operation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full picture — from a feature branch on a developer's laptop to a tagged production release, with a full audit trail at every step. Documentation for everything we covered lives in the repository. Happy to take questions now, or follow up individually afterward.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w="12700">
            <a:solidFill>
              <a:srgbClr val="1E2761"/>
            </a:solidFill>
            <a:prstDash val="solid"/>
          </a:ln>
        </p:spPr>
      </p:sp>
      <p:sp>
        <p:nvSpPr>
          <p:cNvPr id="3" name="Shape 1"/>
          <p:cNvSpPr/>
          <p:nvPr/>
        </p:nvSpPr>
        <p:spPr>
          <a:xfrm>
            <a:off x="8869680" y="-1463040"/>
            <a:ext cx="5029200" cy="5029200"/>
          </a:xfrm>
          <a:prstGeom prst="oval">
            <a:avLst/>
          </a:prstGeom>
          <a:solidFill>
            <a:srgbClr val="141A42"/>
          </a:solidFill>
          <a:ln w="12700">
            <a:solidFill>
              <a:srgbClr val="141A42"/>
            </a:solidFill>
            <a:prstDash val="solid"/>
          </a:ln>
        </p:spPr>
      </p:sp>
      <p:sp>
        <p:nvSpPr>
          <p:cNvPr id="4" name="Shape 2"/>
          <p:cNvSpPr/>
          <p:nvPr/>
        </p:nvSpPr>
        <p:spPr>
          <a:xfrm>
            <a:off x="-2011680" y="4754880"/>
            <a:ext cx="4114800" cy="4114800"/>
          </a:xfrm>
          <a:prstGeom prst="oval">
            <a:avLst/>
          </a:prstGeom>
          <a:solidFill>
            <a:srgbClr val="141A42"/>
          </a:solidFill>
          <a:ln w="12700">
            <a:solidFill>
              <a:srgbClr val="141A42"/>
            </a:solidFill>
            <a:prstDash val="solid"/>
          </a:ln>
        </p:spPr>
      </p:sp>
      <p:pic>
        <p:nvPicPr>
          <p:cNvPr id="5" name="Image 0" descr="C:\Users\Tabish.DESKTOP-AMHU6DL\AppData\Local\Temp\claude\C--Data-Apps-GitFlowPlus\670cb83e-903e-4a7a-8a42-3e26eddb1211\scratchpad\gfp-deck\icons\git-branch.png">    </p:cNvPr>
          <p:cNvPicPr>
            <a:picLocks noChangeAspect="1"/>
          </p:cNvPicPr>
          <p:nvPr/>
        </p:nvPicPr>
        <p:blipFill>
          <a:blip r:embed="rId1"/>
          <a:stretch>
            <a:fillRect/>
          </a:stretch>
        </p:blipFill>
        <p:spPr>
          <a:xfrm>
            <a:off x="822960" y="868680"/>
            <a:ext cx="822960" cy="822960"/>
          </a:xfrm>
          <a:prstGeom prst="rect">
            <a:avLst/>
          </a:prstGeom>
        </p:spPr>
      </p:pic>
      <p:sp>
        <p:nvSpPr>
          <p:cNvPr id="6" name="Text 3"/>
          <p:cNvSpPr/>
          <p:nvPr/>
        </p:nvSpPr>
        <p:spPr>
          <a:xfrm>
            <a:off x="777240" y="1874520"/>
            <a:ext cx="10607040" cy="1005840"/>
          </a:xfrm>
          <a:prstGeom prst="rect">
            <a:avLst/>
          </a:prstGeom>
          <a:noFill/>
          <a:ln/>
        </p:spPr>
        <p:txBody>
          <a:bodyPr wrap="square" lIns="0" tIns="0" rIns="0" bIns="0" rtlCol="0" anchor="ctr"/>
          <a:lstStyle/>
          <a:p>
            <a:pPr indent="0" marL="0">
              <a:buNone/>
            </a:pPr>
            <a:r>
              <a:rPr lang="en-US" sz="5400" b="1" spc="100" kern="0" dirty="0">
                <a:solidFill>
                  <a:srgbClr val="FFFFFF"/>
                </a:solidFill>
                <a:latin typeface="Cambria" pitchFamily="34" charset="0"/>
                <a:ea typeface="Cambria" pitchFamily="34" charset="-122"/>
                <a:cs typeface="Cambria" pitchFamily="34" charset="-120"/>
              </a:rPr>
              <a:t>GIT FLOW PLUS</a:t>
            </a:r>
            <a:endParaRPr lang="en-US" sz="5400" dirty="0"/>
          </a:p>
        </p:txBody>
      </p:sp>
      <p:sp>
        <p:nvSpPr>
          <p:cNvPr id="7" name="Text 4"/>
          <p:cNvSpPr/>
          <p:nvPr/>
        </p:nvSpPr>
        <p:spPr>
          <a:xfrm>
            <a:off x="804672" y="3017520"/>
            <a:ext cx="10058400" cy="548640"/>
          </a:xfrm>
          <a:prstGeom prst="rect">
            <a:avLst/>
          </a:prstGeom>
          <a:noFill/>
          <a:ln/>
        </p:spPr>
        <p:txBody>
          <a:bodyPr wrap="square" lIns="0" tIns="0" rIns="0" bIns="0" rtlCol="0" anchor="ctr"/>
          <a:lstStyle/>
          <a:p>
            <a:pPr indent="0" marL="0">
              <a:buNone/>
            </a:pPr>
            <a:r>
              <a:rPr lang="en-US" sz="2200" dirty="0">
                <a:solidFill>
                  <a:srgbClr val="9CA8E8"/>
                </a:solidFill>
                <a:latin typeface="Calibri" pitchFamily="34" charset="0"/>
                <a:ea typeface="Calibri" pitchFamily="34" charset="-122"/>
                <a:cs typeface="Calibri" pitchFamily="34" charset="-120"/>
              </a:rPr>
              <a:t>Enterprise Release Management Workflow</a:t>
            </a:r>
            <a:endParaRPr lang="en-US" sz="2200" dirty="0"/>
          </a:p>
        </p:txBody>
      </p:sp>
      <p:sp>
        <p:nvSpPr>
          <p:cNvPr id="8" name="Shape 5"/>
          <p:cNvSpPr/>
          <p:nvPr/>
        </p:nvSpPr>
        <p:spPr>
          <a:xfrm>
            <a:off x="822960" y="3749040"/>
            <a:ext cx="3108960" cy="0"/>
          </a:xfrm>
          <a:prstGeom prst="line">
            <a:avLst/>
          </a:prstGeom>
          <a:noFill/>
          <a:ln w="38100">
            <a:solidFill>
              <a:srgbClr val="2563EB"/>
            </a:solidFill>
            <a:prstDash val="solid"/>
          </a:ln>
        </p:spPr>
      </p:sp>
      <p:sp>
        <p:nvSpPr>
          <p:cNvPr id="9" name="Text 6"/>
          <p:cNvSpPr/>
          <p:nvPr/>
        </p:nvSpPr>
        <p:spPr>
          <a:xfrm>
            <a:off x="804672" y="3931920"/>
            <a:ext cx="8961120" cy="457200"/>
          </a:xfrm>
          <a:prstGeom prst="rect">
            <a:avLst/>
          </a:prstGeom>
          <a:noFill/>
          <a:ln/>
        </p:spPr>
        <p:txBody>
          <a:bodyPr wrap="square" lIns="0" tIns="0" rIns="0" bIns="0" rtlCol="0" anchor="ctr"/>
          <a:lstStyle/>
          <a:p>
            <a:pPr indent="0" marL="0">
              <a:buNone/>
            </a:pPr>
            <a:r>
              <a:rPr lang="en-US" sz="1500" i="1" dirty="0">
                <a:solidFill>
                  <a:srgbClr val="CBD3F3"/>
                </a:solidFill>
                <a:latin typeface="Calibri" pitchFamily="34" charset="0"/>
                <a:ea typeface="Calibri" pitchFamily="34" charset="-122"/>
                <a:cs typeface="Calibri" pitchFamily="34" charset="-120"/>
              </a:rPr>
              <a:t>A Modern Release Management Platform for Development, QA, and DevOps Teams</a:t>
            </a:r>
            <a:endParaRPr lang="en-US" sz="1500" dirty="0"/>
          </a:p>
        </p:txBody>
      </p:sp>
      <p:pic>
        <p:nvPicPr>
          <p:cNvPr id="10" name="Image 1" descr="C:\Users\Tabish.DESKTOP-AMHU6DL\AppData\Local\Temp\claude\C--Data-Apps-GitFlowPlus\670cb83e-903e-4a7a-8a42-3e26eddb1211\scratchpad\gfp-deck\icons\developer.png">    </p:cNvPr>
          <p:cNvPicPr>
            <a:picLocks noChangeAspect="1"/>
          </p:cNvPicPr>
          <p:nvPr/>
        </p:nvPicPr>
        <p:blipFill>
          <a:blip r:embed="rId2"/>
          <a:stretch>
            <a:fillRect/>
          </a:stretch>
        </p:blipFill>
        <p:spPr>
          <a:xfrm>
            <a:off x="822960" y="5349240"/>
            <a:ext cx="420624" cy="420624"/>
          </a:xfrm>
          <a:prstGeom prst="rect">
            <a:avLst/>
          </a:prstGeom>
        </p:spPr>
      </p:pic>
      <p:sp>
        <p:nvSpPr>
          <p:cNvPr id="11" name="Text 7"/>
          <p:cNvSpPr/>
          <p:nvPr/>
        </p:nvSpPr>
        <p:spPr>
          <a:xfrm>
            <a:off x="502920" y="5806440"/>
            <a:ext cx="1371600" cy="457200"/>
          </a:xfrm>
          <a:prstGeom prst="rect">
            <a:avLst/>
          </a:prstGeom>
          <a:noFill/>
          <a:ln/>
        </p:spPr>
        <p:txBody>
          <a:bodyPr wrap="square" lIns="0" tIns="0" rIns="0" bIns="0" rtlCol="0" anchor="ctr"/>
          <a:lstStyle/>
          <a:p>
            <a:pPr algn="ctr" indent="0" marL="0">
              <a:buNone/>
            </a:pPr>
            <a:r>
              <a:rPr lang="en-US" sz="950" dirty="0">
                <a:solidFill>
                  <a:srgbClr val="CBD3F3"/>
                </a:solidFill>
                <a:latin typeface="Calibri" pitchFamily="34" charset="0"/>
                <a:ea typeface="Calibri" pitchFamily="34" charset="-122"/>
                <a:cs typeface="Calibri" pitchFamily="34" charset="-120"/>
              </a:rPr>
              <a:t>Developers</a:t>
            </a:r>
            <a:endParaRPr lang="en-US" sz="950" dirty="0"/>
          </a:p>
        </p:txBody>
      </p:sp>
      <p:pic>
        <p:nvPicPr>
          <p:cNvPr id="12" name="Image 2" descr="C:\Users\Tabish.DESKTOP-AMHU6DL\AppData\Local\Temp\claude\C--Data-Apps-GitFlowPlus\670cb83e-903e-4a7a-8a42-3e26eddb1211\scratchpad\gfp-deck\icons\qa-engineer.png">    </p:cNvPr>
          <p:cNvPicPr>
            <a:picLocks noChangeAspect="1"/>
          </p:cNvPicPr>
          <p:nvPr/>
        </p:nvPicPr>
        <p:blipFill>
          <a:blip r:embed="rId3"/>
          <a:stretch>
            <a:fillRect/>
          </a:stretch>
        </p:blipFill>
        <p:spPr>
          <a:xfrm>
            <a:off x="2514600" y="5349240"/>
            <a:ext cx="420624" cy="420624"/>
          </a:xfrm>
          <a:prstGeom prst="rect">
            <a:avLst/>
          </a:prstGeom>
        </p:spPr>
      </p:pic>
      <p:sp>
        <p:nvSpPr>
          <p:cNvPr id="13" name="Text 8"/>
          <p:cNvSpPr/>
          <p:nvPr/>
        </p:nvSpPr>
        <p:spPr>
          <a:xfrm>
            <a:off x="2194560" y="5806440"/>
            <a:ext cx="1371600" cy="457200"/>
          </a:xfrm>
          <a:prstGeom prst="rect">
            <a:avLst/>
          </a:prstGeom>
          <a:noFill/>
          <a:ln/>
        </p:spPr>
        <p:txBody>
          <a:bodyPr wrap="square" lIns="0" tIns="0" rIns="0" bIns="0" rtlCol="0" anchor="ctr"/>
          <a:lstStyle/>
          <a:p>
            <a:pPr algn="ctr" indent="0" marL="0">
              <a:buNone/>
            </a:pPr>
            <a:r>
              <a:rPr lang="en-US" sz="950" dirty="0">
                <a:solidFill>
                  <a:srgbClr val="CBD3F3"/>
                </a:solidFill>
                <a:latin typeface="Calibri" pitchFamily="34" charset="0"/>
                <a:ea typeface="Calibri" pitchFamily="34" charset="-122"/>
                <a:cs typeface="Calibri" pitchFamily="34" charset="-120"/>
              </a:rPr>
              <a:t>QA Engineers</a:t>
            </a:r>
            <a:endParaRPr lang="en-US" sz="950" dirty="0"/>
          </a:p>
        </p:txBody>
      </p:sp>
      <p:pic>
        <p:nvPicPr>
          <p:cNvPr id="14" name="Image 3" descr="C:\Users\Tabish.DESKTOP-AMHU6DL\AppData\Local\Temp\claude\C--Data-Apps-GitFlowPlus\670cb83e-903e-4a7a-8a42-3e26eddb1211\scratchpad\gfp-deck\icons\devops-engineer.png">    </p:cNvPr>
          <p:cNvPicPr>
            <a:picLocks noChangeAspect="1"/>
          </p:cNvPicPr>
          <p:nvPr/>
        </p:nvPicPr>
        <p:blipFill>
          <a:blip r:embed="rId4"/>
          <a:stretch>
            <a:fillRect/>
          </a:stretch>
        </p:blipFill>
        <p:spPr>
          <a:xfrm>
            <a:off x="4206240" y="5349240"/>
            <a:ext cx="420624" cy="420624"/>
          </a:xfrm>
          <a:prstGeom prst="rect">
            <a:avLst/>
          </a:prstGeom>
        </p:spPr>
      </p:pic>
      <p:sp>
        <p:nvSpPr>
          <p:cNvPr id="15" name="Text 9"/>
          <p:cNvSpPr/>
          <p:nvPr/>
        </p:nvSpPr>
        <p:spPr>
          <a:xfrm>
            <a:off x="3886200" y="5806440"/>
            <a:ext cx="1371600" cy="457200"/>
          </a:xfrm>
          <a:prstGeom prst="rect">
            <a:avLst/>
          </a:prstGeom>
          <a:noFill/>
          <a:ln/>
        </p:spPr>
        <p:txBody>
          <a:bodyPr wrap="square" lIns="0" tIns="0" rIns="0" bIns="0" rtlCol="0" anchor="ctr"/>
          <a:lstStyle/>
          <a:p>
            <a:pPr algn="ctr" indent="0" marL="0">
              <a:buNone/>
            </a:pPr>
            <a:r>
              <a:rPr lang="en-US" sz="950" dirty="0">
                <a:solidFill>
                  <a:srgbClr val="CBD3F3"/>
                </a:solidFill>
                <a:latin typeface="Calibri" pitchFamily="34" charset="0"/>
                <a:ea typeface="Calibri" pitchFamily="34" charset="-122"/>
                <a:cs typeface="Calibri" pitchFamily="34" charset="-120"/>
              </a:rPr>
              <a:t>DevOps Engineers</a:t>
            </a:r>
            <a:endParaRPr lang="en-US" sz="950" dirty="0"/>
          </a:p>
        </p:txBody>
      </p:sp>
      <p:pic>
        <p:nvPicPr>
          <p:cNvPr id="16" name="Image 4" descr="C:\Users\Tabish.DESKTOP-AMHU6DL\AppData\Local\Temp\claude\C--Data-Apps-GitFlowPlus\670cb83e-903e-4a7a-8a42-3e26eddb1211\scratchpad\gfp-deck\icons\business-analyst.png">    </p:cNvPr>
          <p:cNvPicPr>
            <a:picLocks noChangeAspect="1"/>
          </p:cNvPicPr>
          <p:nvPr/>
        </p:nvPicPr>
        <p:blipFill>
          <a:blip r:embed="rId5"/>
          <a:stretch>
            <a:fillRect/>
          </a:stretch>
        </p:blipFill>
        <p:spPr>
          <a:xfrm>
            <a:off x="5897880" y="5349240"/>
            <a:ext cx="420624" cy="420624"/>
          </a:xfrm>
          <a:prstGeom prst="rect">
            <a:avLst/>
          </a:prstGeom>
        </p:spPr>
      </p:pic>
      <p:sp>
        <p:nvSpPr>
          <p:cNvPr id="17" name="Text 10"/>
          <p:cNvSpPr/>
          <p:nvPr/>
        </p:nvSpPr>
        <p:spPr>
          <a:xfrm>
            <a:off x="5577840" y="5806440"/>
            <a:ext cx="1371600" cy="457200"/>
          </a:xfrm>
          <a:prstGeom prst="rect">
            <a:avLst/>
          </a:prstGeom>
          <a:noFill/>
          <a:ln/>
        </p:spPr>
        <p:txBody>
          <a:bodyPr wrap="square" lIns="0" tIns="0" rIns="0" bIns="0" rtlCol="0" anchor="ctr"/>
          <a:lstStyle/>
          <a:p>
            <a:pPr algn="ctr" indent="0" marL="0">
              <a:buNone/>
            </a:pPr>
            <a:r>
              <a:rPr lang="en-US" sz="950" dirty="0">
                <a:solidFill>
                  <a:srgbClr val="CBD3F3"/>
                </a:solidFill>
                <a:latin typeface="Calibri" pitchFamily="34" charset="0"/>
                <a:ea typeface="Calibri" pitchFamily="34" charset="-122"/>
                <a:cs typeface="Calibri" pitchFamily="34" charset="-120"/>
              </a:rPr>
              <a:t>Business Analysts</a:t>
            </a:r>
            <a:endParaRPr lang="en-US" sz="950" dirty="0"/>
          </a:p>
        </p:txBody>
      </p:sp>
      <p:pic>
        <p:nvPicPr>
          <p:cNvPr id="18" name="Image 5" descr="C:\Users\Tabish.DESKTOP-AMHU6DL\AppData\Local\Temp\claude\C--Data-Apps-GitFlowPlus\670cb83e-903e-4a7a-8a42-3e26eddb1211\scratchpad\gfp-deck\icons\project-manager.png">    </p:cNvPr>
          <p:cNvPicPr>
            <a:picLocks noChangeAspect="1"/>
          </p:cNvPicPr>
          <p:nvPr/>
        </p:nvPicPr>
        <p:blipFill>
          <a:blip r:embed="rId6"/>
          <a:stretch>
            <a:fillRect/>
          </a:stretch>
        </p:blipFill>
        <p:spPr>
          <a:xfrm>
            <a:off x="7589520" y="5349240"/>
            <a:ext cx="420624" cy="420624"/>
          </a:xfrm>
          <a:prstGeom prst="rect">
            <a:avLst/>
          </a:prstGeom>
        </p:spPr>
      </p:pic>
      <p:sp>
        <p:nvSpPr>
          <p:cNvPr id="19" name="Text 11"/>
          <p:cNvSpPr/>
          <p:nvPr/>
        </p:nvSpPr>
        <p:spPr>
          <a:xfrm>
            <a:off x="7269480" y="5806440"/>
            <a:ext cx="1371600" cy="457200"/>
          </a:xfrm>
          <a:prstGeom prst="rect">
            <a:avLst/>
          </a:prstGeom>
          <a:noFill/>
          <a:ln/>
        </p:spPr>
        <p:txBody>
          <a:bodyPr wrap="square" lIns="0" tIns="0" rIns="0" bIns="0" rtlCol="0" anchor="ctr"/>
          <a:lstStyle/>
          <a:p>
            <a:pPr algn="ctr" indent="0" marL="0">
              <a:buNone/>
            </a:pPr>
            <a:r>
              <a:rPr lang="en-US" sz="950" dirty="0">
                <a:solidFill>
                  <a:srgbClr val="CBD3F3"/>
                </a:solidFill>
                <a:latin typeface="Calibri" pitchFamily="34" charset="0"/>
                <a:ea typeface="Calibri" pitchFamily="34" charset="-122"/>
                <a:cs typeface="Calibri" pitchFamily="34" charset="-120"/>
              </a:rPr>
              <a:t>Project Managers</a:t>
            </a:r>
            <a:endParaRPr lang="en-US" sz="950" dirty="0"/>
          </a:p>
        </p:txBody>
      </p:sp>
      <p:pic>
        <p:nvPicPr>
          <p:cNvPr id="20" name="Image 6" descr="C:\Users\Tabish.DESKTOP-AMHU6DL\AppData\Local\Temp\claude\C--Data-Apps-GitFlowPlus\670cb83e-903e-4a7a-8a42-3e26eddb1211\scratchpad\gfp-deck\icons\team-lead.png">    </p:cNvPr>
          <p:cNvPicPr>
            <a:picLocks noChangeAspect="1"/>
          </p:cNvPicPr>
          <p:nvPr/>
        </p:nvPicPr>
        <p:blipFill>
          <a:blip r:embed="rId7"/>
          <a:stretch>
            <a:fillRect/>
          </a:stretch>
        </p:blipFill>
        <p:spPr>
          <a:xfrm>
            <a:off x="9281160" y="5349240"/>
            <a:ext cx="420624" cy="420624"/>
          </a:xfrm>
          <a:prstGeom prst="rect">
            <a:avLst/>
          </a:prstGeom>
        </p:spPr>
      </p:pic>
      <p:sp>
        <p:nvSpPr>
          <p:cNvPr id="21" name="Text 12"/>
          <p:cNvSpPr/>
          <p:nvPr/>
        </p:nvSpPr>
        <p:spPr>
          <a:xfrm>
            <a:off x="8961120" y="5806440"/>
            <a:ext cx="1371600" cy="457200"/>
          </a:xfrm>
          <a:prstGeom prst="rect">
            <a:avLst/>
          </a:prstGeom>
          <a:noFill/>
          <a:ln/>
        </p:spPr>
        <p:txBody>
          <a:bodyPr wrap="square" lIns="0" tIns="0" rIns="0" bIns="0" rtlCol="0" anchor="ctr"/>
          <a:lstStyle/>
          <a:p>
            <a:pPr algn="ctr" indent="0" marL="0">
              <a:buNone/>
            </a:pPr>
            <a:r>
              <a:rPr lang="en-US" sz="950" dirty="0">
                <a:solidFill>
                  <a:srgbClr val="CBD3F3"/>
                </a:solidFill>
                <a:latin typeface="Calibri" pitchFamily="34" charset="0"/>
                <a:ea typeface="Calibri" pitchFamily="34" charset="-122"/>
                <a:cs typeface="Calibri" pitchFamily="34" charset="-120"/>
              </a:rPr>
              <a:t>Team Leads</a:t>
            </a:r>
            <a:endParaRPr lang="en-US" sz="950" dirty="0"/>
          </a:p>
        </p:txBody>
      </p:sp>
      <p:sp>
        <p:nvSpPr>
          <p:cNvPr id="22" name="Text 13"/>
          <p:cNvSpPr/>
          <p:nvPr/>
        </p:nvSpPr>
        <p:spPr>
          <a:xfrm>
            <a:off x="822960" y="6355080"/>
            <a:ext cx="5486400" cy="274320"/>
          </a:xfrm>
          <a:prstGeom prst="rect">
            <a:avLst/>
          </a:prstGeom>
          <a:noFill/>
          <a:ln/>
        </p:spPr>
        <p:txBody>
          <a:bodyPr wrap="square" lIns="0" tIns="0" rIns="0" bIns="0" rtlCol="0" anchor="ctr"/>
          <a:lstStyle/>
          <a:p>
            <a:pPr indent="0" marL="0">
              <a:buNone/>
            </a:pPr>
            <a:r>
              <a:rPr lang="en-US" sz="1000" dirty="0">
                <a:solidFill>
                  <a:srgbClr val="6B76B0"/>
                </a:solidFill>
                <a:latin typeface="Calibri" pitchFamily="34" charset="0"/>
                <a:ea typeface="Calibri" pitchFamily="34" charset="-122"/>
                <a:cs typeface="Calibri" pitchFamily="34" charset="-120"/>
              </a:rPr>
              <a:t>Presented to the Engineering Organization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EA580C"/>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Traditional Git Flow Falls Short at Enterprise Scale</a:t>
            </a:r>
            <a:endParaRPr lang="en-US" sz="3000" dirty="0"/>
          </a:p>
        </p:txBody>
      </p:sp>
      <p:sp>
        <p:nvSpPr>
          <p:cNvPr id="4" name="Shape 2"/>
          <p:cNvSpPr/>
          <p:nvPr/>
        </p:nvSpPr>
        <p:spPr>
          <a:xfrm>
            <a:off x="457200" y="1371600"/>
            <a:ext cx="5074920" cy="1508760"/>
          </a:xfrm>
          <a:prstGeom prst="roundRect">
            <a:avLst>
              <a:gd name="adj" fmla="val 3636"/>
            </a:avLst>
          </a:prstGeom>
          <a:solidFill>
            <a:srgbClr val="F3F4F6"/>
          </a:solidFill>
          <a:ln w="9525">
            <a:solidFill>
              <a:srgbClr val="E5E7EB"/>
            </a:solidFill>
            <a:prstDash val="solid"/>
          </a:ln>
          <a:effectLst>
            <a:outerShdw sx="100000" sy="100000" kx="0" ky="0" algn="bl" rotWithShape="0" blurRad="63500" dist="25400" dir="5400000">
              <a:srgbClr val="000000">
                <a:alpha val="14000"/>
              </a:srgbClr>
            </a:outerShdw>
          </a:effectLst>
        </p:spPr>
      </p:sp>
      <p:pic>
        <p:nvPicPr>
          <p:cNvPr id="5" name="Image 0" descr="C:\Users\Tabish.DESKTOP-AMHU6DL\AppData\Local\Temp\claude\C--Data-Apps-GitFlowPlus\670cb83e-903e-4a7a-8a42-3e26eddb1211\scratchpad\gfp-deck\icons\warning.png">    </p:cNvPr>
          <p:cNvPicPr>
            <a:picLocks noChangeAspect="1"/>
          </p:cNvPicPr>
          <p:nvPr/>
        </p:nvPicPr>
        <p:blipFill>
          <a:blip r:embed="rId1"/>
          <a:stretch>
            <a:fillRect/>
          </a:stretch>
        </p:blipFill>
        <p:spPr>
          <a:xfrm>
            <a:off x="640080" y="1572768"/>
            <a:ext cx="457200" cy="457200"/>
          </a:xfrm>
          <a:prstGeom prst="rect">
            <a:avLst/>
          </a:prstGeom>
        </p:spPr>
      </p:pic>
      <p:sp>
        <p:nvSpPr>
          <p:cNvPr id="6" name="Text 3"/>
          <p:cNvSpPr/>
          <p:nvPr/>
        </p:nvSpPr>
        <p:spPr>
          <a:xfrm>
            <a:off x="1280160" y="1517904"/>
            <a:ext cx="4069080" cy="320040"/>
          </a:xfrm>
          <a:prstGeom prst="rect">
            <a:avLst/>
          </a:prstGeom>
          <a:noFill/>
          <a:ln/>
        </p:spPr>
        <p:txBody>
          <a:bodyPr wrap="square" lIns="0" tIns="0" rIns="0" bIns="0" rtlCol="0" anchor="ctr"/>
          <a:lstStyle/>
          <a:p>
            <a:pPr indent="0" marL="0">
              <a:buNone/>
            </a:pPr>
            <a:r>
              <a:rPr lang="en-US" sz="1400" b="1" dirty="0">
                <a:solidFill>
                  <a:srgbClr val="EA580C"/>
                </a:solidFill>
                <a:latin typeface="Calibri" pitchFamily="34" charset="0"/>
                <a:ea typeface="Calibri" pitchFamily="34" charset="-122"/>
                <a:cs typeface="Calibri" pitchFamily="34" charset="-120"/>
              </a:rPr>
              <a:t>No release identity</a:t>
            </a:r>
            <a:endParaRPr lang="en-US" sz="1400" dirty="0"/>
          </a:p>
        </p:txBody>
      </p:sp>
      <p:sp>
        <p:nvSpPr>
          <p:cNvPr id="7" name="Text 4"/>
          <p:cNvSpPr/>
          <p:nvPr/>
        </p:nvSpPr>
        <p:spPr>
          <a:xfrm>
            <a:off x="1280160" y="1865376"/>
            <a:ext cx="4069080" cy="9144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Nothing on disk records which features, fixes, or DevOps work shipped in a given release — that history lives in people's memory and chat logs.</a:t>
            </a:r>
            <a:endParaRPr lang="en-US" sz="1100" dirty="0"/>
          </a:p>
        </p:txBody>
      </p:sp>
      <p:sp>
        <p:nvSpPr>
          <p:cNvPr id="8" name="Shape 5"/>
          <p:cNvSpPr/>
          <p:nvPr/>
        </p:nvSpPr>
        <p:spPr>
          <a:xfrm>
            <a:off x="5852160" y="1371600"/>
            <a:ext cx="5074920" cy="1508760"/>
          </a:xfrm>
          <a:prstGeom prst="roundRect">
            <a:avLst>
              <a:gd name="adj" fmla="val 3636"/>
            </a:avLst>
          </a:prstGeom>
          <a:solidFill>
            <a:srgbClr val="F3F4F6"/>
          </a:solidFill>
          <a:ln w="9525">
            <a:solidFill>
              <a:srgbClr val="E5E7EB"/>
            </a:solidFill>
            <a:prstDash val="solid"/>
          </a:ln>
          <a:effectLst>
            <a:outerShdw sx="100000" sy="100000" kx="0" ky="0" algn="bl" rotWithShape="0" blurRad="806450000" dist="322580000" dir="324000000000">
              <a:srgbClr val="000000">
                <a:alpha val="1400000000"/>
              </a:srgbClr>
            </a:outerShdw>
          </a:effectLst>
        </p:spPr>
      </p:sp>
      <p:pic>
        <p:nvPicPr>
          <p:cNvPr id="9" name="Image 1" descr="C:\Users\Tabish.DESKTOP-AMHU6DL\AppData\Local\Temp\claude\C--Data-Apps-GitFlowPlus\670cb83e-903e-4a7a-8a42-3e26eddb1211\scratchpad\gfp-deck\icons\warning.png">    </p:cNvPr>
          <p:cNvPicPr>
            <a:picLocks noChangeAspect="1"/>
          </p:cNvPicPr>
          <p:nvPr/>
        </p:nvPicPr>
        <p:blipFill>
          <a:blip r:embed="rId2"/>
          <a:stretch>
            <a:fillRect/>
          </a:stretch>
        </p:blipFill>
        <p:spPr>
          <a:xfrm>
            <a:off x="6035040" y="1572768"/>
            <a:ext cx="457200" cy="457200"/>
          </a:xfrm>
          <a:prstGeom prst="rect">
            <a:avLst/>
          </a:prstGeom>
        </p:spPr>
      </p:pic>
      <p:sp>
        <p:nvSpPr>
          <p:cNvPr id="10" name="Text 6"/>
          <p:cNvSpPr/>
          <p:nvPr/>
        </p:nvSpPr>
        <p:spPr>
          <a:xfrm>
            <a:off x="6675120" y="1517904"/>
            <a:ext cx="4069080" cy="320040"/>
          </a:xfrm>
          <a:prstGeom prst="rect">
            <a:avLst/>
          </a:prstGeom>
          <a:noFill/>
          <a:ln/>
        </p:spPr>
        <p:txBody>
          <a:bodyPr wrap="square" lIns="0" tIns="0" rIns="0" bIns="0" rtlCol="0" anchor="ctr"/>
          <a:lstStyle/>
          <a:p>
            <a:pPr indent="0" marL="0">
              <a:buNone/>
            </a:pPr>
            <a:r>
              <a:rPr lang="en-US" sz="1400" b="1" dirty="0">
                <a:solidFill>
                  <a:srgbClr val="EA580C"/>
                </a:solidFill>
                <a:latin typeface="Calibri" pitchFamily="34" charset="0"/>
                <a:ea typeface="Calibri" pitchFamily="34" charset="-122"/>
                <a:cs typeface="Calibri" pitchFamily="34" charset="-120"/>
              </a:rPr>
              <a:t>Manual, error-prone versioning</a:t>
            </a:r>
            <a:endParaRPr lang="en-US" sz="1400" dirty="0"/>
          </a:p>
        </p:txBody>
      </p:sp>
      <p:sp>
        <p:nvSpPr>
          <p:cNvPr id="11" name="Text 7"/>
          <p:cNvSpPr/>
          <p:nvPr/>
        </p:nvSpPr>
        <p:spPr>
          <a:xfrm>
            <a:off x="6675120" y="1865376"/>
            <a:ext cx="4069080" cy="9144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Version bumps are hand-edited, so sprint/feature/hotfix counters drift out of sync with what actually merged.</a:t>
            </a:r>
            <a:endParaRPr lang="en-US" sz="1100" dirty="0"/>
          </a:p>
        </p:txBody>
      </p:sp>
      <p:sp>
        <p:nvSpPr>
          <p:cNvPr id="12" name="Shape 8"/>
          <p:cNvSpPr/>
          <p:nvPr/>
        </p:nvSpPr>
        <p:spPr>
          <a:xfrm>
            <a:off x="457200" y="3063240"/>
            <a:ext cx="5074920" cy="1508760"/>
          </a:xfrm>
          <a:prstGeom prst="roundRect">
            <a:avLst>
              <a:gd name="adj" fmla="val 3636"/>
            </a:avLst>
          </a:prstGeom>
          <a:solidFill>
            <a:srgbClr val="F3F4F6"/>
          </a:solidFill>
          <a:ln w="9525">
            <a:solidFill>
              <a:srgbClr val="E5E7EB"/>
            </a:solidFill>
            <a:prstDash val="solid"/>
          </a:ln>
          <a:effectLst>
            <a:outerShdw sx="100000" sy="100000" kx="0" ky="0" algn="bl" rotWithShape="0" blurRad="10241915000000" dist="4096766000000" dir="19440000000000000">
              <a:srgbClr val="000000">
                <a:alpha val="140000000000000"/>
              </a:srgbClr>
            </a:outerShdw>
          </a:effectLst>
        </p:spPr>
      </p:sp>
      <p:pic>
        <p:nvPicPr>
          <p:cNvPr id="13" name="Image 2" descr="C:\Users\Tabish.DESKTOP-AMHU6DL\AppData\Local\Temp\claude\C--Data-Apps-GitFlowPlus\670cb83e-903e-4a7a-8a42-3e26eddb1211\scratchpad\gfp-deck\icons\warning.png">    </p:cNvPr>
          <p:cNvPicPr>
            <a:picLocks noChangeAspect="1"/>
          </p:cNvPicPr>
          <p:nvPr/>
        </p:nvPicPr>
        <p:blipFill>
          <a:blip r:embed="rId3"/>
          <a:stretch>
            <a:fillRect/>
          </a:stretch>
        </p:blipFill>
        <p:spPr>
          <a:xfrm>
            <a:off x="640080" y="3264408"/>
            <a:ext cx="457200" cy="457200"/>
          </a:xfrm>
          <a:prstGeom prst="rect">
            <a:avLst/>
          </a:prstGeom>
        </p:spPr>
      </p:pic>
      <p:sp>
        <p:nvSpPr>
          <p:cNvPr id="14" name="Text 9"/>
          <p:cNvSpPr/>
          <p:nvPr/>
        </p:nvSpPr>
        <p:spPr>
          <a:xfrm>
            <a:off x="1280160" y="3209544"/>
            <a:ext cx="4069080" cy="320040"/>
          </a:xfrm>
          <a:prstGeom prst="rect">
            <a:avLst/>
          </a:prstGeom>
          <a:noFill/>
          <a:ln/>
        </p:spPr>
        <p:txBody>
          <a:bodyPr wrap="square" lIns="0" tIns="0" rIns="0" bIns="0" rtlCol="0" anchor="ctr"/>
          <a:lstStyle/>
          <a:p>
            <a:pPr indent="0" marL="0">
              <a:buNone/>
            </a:pPr>
            <a:r>
              <a:rPr lang="en-US" sz="1400" b="1" dirty="0">
                <a:solidFill>
                  <a:srgbClr val="EA580C"/>
                </a:solidFill>
                <a:latin typeface="Calibri" pitchFamily="34" charset="0"/>
                <a:ea typeface="Calibri" pitchFamily="34" charset="-122"/>
                <a:cs typeface="Calibri" pitchFamily="34" charset="-120"/>
              </a:rPr>
              <a:t>No QA build trail</a:t>
            </a:r>
            <a:endParaRPr lang="en-US" sz="1400" dirty="0"/>
          </a:p>
        </p:txBody>
      </p:sp>
      <p:sp>
        <p:nvSpPr>
          <p:cNvPr id="15" name="Text 10"/>
          <p:cNvSpPr/>
          <p:nvPr/>
        </p:nvSpPr>
        <p:spPr>
          <a:xfrm>
            <a:off x="1280160" y="3557016"/>
            <a:ext cx="4069080" cy="9144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 QA build and a production build look identical in Git history — there is no tag distinguishing "tested" from "shipped".</a:t>
            </a:r>
            <a:endParaRPr lang="en-US" sz="1100" dirty="0"/>
          </a:p>
        </p:txBody>
      </p:sp>
      <p:sp>
        <p:nvSpPr>
          <p:cNvPr id="16" name="Shape 11"/>
          <p:cNvSpPr/>
          <p:nvPr/>
        </p:nvSpPr>
        <p:spPr>
          <a:xfrm>
            <a:off x="5852160" y="3063240"/>
            <a:ext cx="5074920" cy="1508760"/>
          </a:xfrm>
          <a:prstGeom prst="roundRect">
            <a:avLst>
              <a:gd name="adj" fmla="val 3636"/>
            </a:avLst>
          </a:prstGeom>
          <a:solidFill>
            <a:srgbClr val="F3F4F6"/>
          </a:solidFill>
          <a:ln w="9525">
            <a:solidFill>
              <a:srgbClr val="E5E7EB"/>
            </a:solidFill>
            <a:prstDash val="solid"/>
          </a:ln>
          <a:effectLst>
            <a:outerShdw sx="100000" sy="100000" kx="0" ky="0" algn="bl" rotWithShape="0" blurRad="130072320500000000" dist="52028928200000000" dir="1.1664e+21">
              <a:srgbClr val="000000">
                <a:alpha val="14000000000000000000"/>
              </a:srgbClr>
            </a:outerShdw>
          </a:effectLst>
        </p:spPr>
      </p:sp>
      <p:pic>
        <p:nvPicPr>
          <p:cNvPr id="17" name="Image 3" descr="C:\Users\Tabish.DESKTOP-AMHU6DL\AppData\Local\Temp\claude\C--Data-Apps-GitFlowPlus\670cb83e-903e-4a7a-8a42-3e26eddb1211\scratchpad\gfp-deck\icons\warning.png">    </p:cNvPr>
          <p:cNvPicPr>
            <a:picLocks noChangeAspect="1"/>
          </p:cNvPicPr>
          <p:nvPr/>
        </p:nvPicPr>
        <p:blipFill>
          <a:blip r:embed="rId4"/>
          <a:stretch>
            <a:fillRect/>
          </a:stretch>
        </p:blipFill>
        <p:spPr>
          <a:xfrm>
            <a:off x="6035040" y="3264408"/>
            <a:ext cx="457200" cy="457200"/>
          </a:xfrm>
          <a:prstGeom prst="rect">
            <a:avLst/>
          </a:prstGeom>
        </p:spPr>
      </p:pic>
      <p:sp>
        <p:nvSpPr>
          <p:cNvPr id="18" name="Text 12"/>
          <p:cNvSpPr/>
          <p:nvPr/>
        </p:nvSpPr>
        <p:spPr>
          <a:xfrm>
            <a:off x="6675120" y="3209544"/>
            <a:ext cx="4069080" cy="320040"/>
          </a:xfrm>
          <a:prstGeom prst="rect">
            <a:avLst/>
          </a:prstGeom>
          <a:noFill/>
          <a:ln/>
        </p:spPr>
        <p:txBody>
          <a:bodyPr wrap="square" lIns="0" tIns="0" rIns="0" bIns="0" rtlCol="0" anchor="ctr"/>
          <a:lstStyle/>
          <a:p>
            <a:pPr indent="0" marL="0">
              <a:buNone/>
            </a:pPr>
            <a:r>
              <a:rPr lang="en-US" sz="1400" b="1" dirty="0">
                <a:solidFill>
                  <a:srgbClr val="EA580C"/>
                </a:solidFill>
                <a:latin typeface="Calibri" pitchFamily="34" charset="0"/>
                <a:ea typeface="Calibri" pitchFamily="34" charset="-122"/>
                <a:cs typeface="Calibri" pitchFamily="34" charset="-120"/>
              </a:rPr>
              <a:t>Ambiguous branch roles</a:t>
            </a:r>
            <a:endParaRPr lang="en-US" sz="1400" dirty="0"/>
          </a:p>
        </p:txBody>
      </p:sp>
      <p:sp>
        <p:nvSpPr>
          <p:cNvPr id="19" name="Text 13"/>
          <p:cNvSpPr/>
          <p:nvPr/>
        </p:nvSpPr>
        <p:spPr>
          <a:xfrm>
            <a:off x="6675120" y="3557016"/>
            <a:ext cx="4069080" cy="9144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Plain Git Flow treats develop as the release line, so hotfixes, long-running QA cycles, and parallel feature work collide on one branch.</a:t>
            </a:r>
            <a:endParaRPr lang="en-US" sz="1100" dirty="0"/>
          </a:p>
        </p:txBody>
      </p:sp>
      <p:sp>
        <p:nvSpPr>
          <p:cNvPr id="20" name="Text 14"/>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21" name="Text 15"/>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7C3AED"/>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Why Git Flow Plus</a:t>
            </a:r>
            <a:endParaRPr lang="en-US" sz="3000" dirty="0"/>
          </a:p>
        </p:txBody>
      </p:sp>
      <p:sp>
        <p:nvSpPr>
          <p:cNvPr id="4" name="Shape 2"/>
          <p:cNvSpPr/>
          <p:nvPr/>
        </p:nvSpPr>
        <p:spPr>
          <a:xfrm>
            <a:off x="457200" y="1225296"/>
            <a:ext cx="3246120" cy="1417320"/>
          </a:xfrm>
          <a:prstGeom prst="roundRect">
            <a:avLst>
              <a:gd name="adj" fmla="val 3871"/>
            </a:avLst>
          </a:prstGeom>
          <a:solidFill>
            <a:srgbClr val="F3F4F6"/>
          </a:solidFill>
          <a:ln w="9525">
            <a:solidFill>
              <a:srgbClr val="E5E7EB"/>
            </a:solidFill>
            <a:prstDash val="solid"/>
          </a:ln>
          <a:effectLst>
            <a:outerShdw sx="100000" sy="100000" kx="0" ky="0" algn="bl" rotWithShape="0" blurRad="1.65191847035e+21" dist="660767388140000000000" dir="6.9984e+25">
              <a:srgbClr val="000000">
                <a:alpha val="1.4e+24"/>
              </a:srgbClr>
            </a:outerShdw>
          </a:effectLst>
        </p:spPr>
      </p:sp>
      <p:sp>
        <p:nvSpPr>
          <p:cNvPr id="5" name="Text 3"/>
          <p:cNvSpPr/>
          <p:nvPr/>
        </p:nvSpPr>
        <p:spPr>
          <a:xfrm>
            <a:off x="621792" y="1335024"/>
            <a:ext cx="2916936" cy="256032"/>
          </a:xfrm>
          <a:prstGeom prst="rect">
            <a:avLst/>
          </a:prstGeom>
          <a:noFill/>
          <a:ln/>
        </p:spPr>
        <p:txBody>
          <a:bodyPr wrap="square" lIns="0" tIns="0" rIns="0" bIns="0" rtlCol="0" anchor="ctr"/>
          <a:lstStyle/>
          <a:p>
            <a:pPr indent="0" marL="0">
              <a:buNone/>
            </a:pPr>
            <a:r>
              <a:rPr lang="en-US" sz="1100" b="1" spc="100" kern="0" dirty="0">
                <a:solidFill>
                  <a:srgbClr val="7C3AED"/>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621792" y="1645920"/>
            <a:ext cx="2916936" cy="8869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Understand the four pillars Git Flow Plus adds on top of standard Git Flow</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See how these pillars remove the manual/tribal-knowledge failure points</a:t>
            </a:r>
            <a:endParaRPr lang="en-US" sz="1200" dirty="0"/>
          </a:p>
        </p:txBody>
      </p:sp>
      <p:sp>
        <p:nvSpPr>
          <p:cNvPr id="7" name="Shape 5"/>
          <p:cNvSpPr/>
          <p:nvPr/>
        </p:nvSpPr>
        <p:spPr>
          <a:xfrm>
            <a:off x="457200" y="2788920"/>
            <a:ext cx="3246120" cy="2203704"/>
          </a:xfrm>
          <a:prstGeom prst="roundRect">
            <a:avLst>
              <a:gd name="adj" fmla="val 2490"/>
            </a:avLst>
          </a:prstGeom>
          <a:solidFill>
            <a:srgbClr val="F3F4F6"/>
          </a:solidFill>
          <a:ln w="9525">
            <a:solidFill>
              <a:srgbClr val="E5E7EB"/>
            </a:solidFill>
            <a:prstDash val="solid"/>
          </a:ln>
          <a:effectLst>
            <a:outerShdw sx="100000" sy="100000" kx="0" ky="0" algn="bl" rotWithShape="0" blurRad="2.0979364573445003e+25" dist="8.391745829378e+24" dir="4.19904e+30">
              <a:srgbClr val="000000">
                <a:alpha val="1.4000000000000002e+29"/>
              </a:srgbClr>
            </a:outerShdw>
          </a:effectLst>
        </p:spPr>
      </p:sp>
      <p:sp>
        <p:nvSpPr>
          <p:cNvPr id="8" name="Text 6"/>
          <p:cNvSpPr/>
          <p:nvPr/>
        </p:nvSpPr>
        <p:spPr>
          <a:xfrm>
            <a:off x="621792" y="2898648"/>
            <a:ext cx="2916936" cy="256032"/>
          </a:xfrm>
          <a:prstGeom prst="rect">
            <a:avLst/>
          </a:prstGeom>
          <a:noFill/>
          <a:ln/>
        </p:spPr>
        <p:txBody>
          <a:bodyPr wrap="square" lIns="0" tIns="0" rIns="0" bIns="0" rtlCol="0" anchor="ctr"/>
          <a:lstStyle/>
          <a:p>
            <a:pPr indent="0" marL="0">
              <a:buNone/>
            </a:pPr>
            <a:r>
              <a:rPr lang="en-US" sz="1100" b="1" spc="100" kern="0" dirty="0">
                <a:solidFill>
                  <a:srgbClr val="7C3AED"/>
                </a:solidFill>
                <a:latin typeface="Calibri" pitchFamily="34" charset="0"/>
                <a:ea typeface="Calibri" pitchFamily="34" charset="-122"/>
                <a:cs typeface="Calibri" pitchFamily="34" charset="-120"/>
              </a:rPr>
              <a:t>KEY NOTES</a:t>
            </a:r>
            <a:endParaRPr lang="en-US" sz="1100" dirty="0"/>
          </a:p>
        </p:txBody>
      </p:sp>
      <p:sp>
        <p:nvSpPr>
          <p:cNvPr id="9" name="Text 7"/>
          <p:cNvSpPr/>
          <p:nvPr/>
        </p:nvSpPr>
        <p:spPr>
          <a:xfrm>
            <a:off x="621792" y="3209544"/>
            <a:ext cx="2916936" cy="167335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Git Flow Plus is a CLI (Go, Cobra/Viper) — a thin wrapper over real git, so behavior always matches plain Git</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Nothing is hidden: every action is a normal commit, merge, or annotated tag</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Existing Git tooling (GitHub, GitLab, CI) keeps working unmodified</a:t>
            </a:r>
            <a:endParaRPr lang="en-US" sz="1150" dirty="0"/>
          </a:p>
        </p:txBody>
      </p:sp>
      <p:sp>
        <p:nvSpPr>
          <p:cNvPr id="10" name="Shape 8"/>
          <p:cNvSpPr/>
          <p:nvPr/>
        </p:nvSpPr>
        <p:spPr>
          <a:xfrm>
            <a:off x="457200" y="5120640"/>
            <a:ext cx="11274552" cy="1188720"/>
          </a:xfrm>
          <a:prstGeom prst="roundRect">
            <a:avLst>
              <a:gd name="adj" fmla="val 4615"/>
            </a:avLst>
          </a:prstGeom>
          <a:solidFill>
            <a:srgbClr val="0F172A"/>
          </a:solidFill>
          <a:ln w="12700">
            <a:solidFill>
              <a:srgbClr val="0F172A"/>
            </a:solidFill>
            <a:prstDash val="solid"/>
          </a:ln>
          <a:effectLst>
            <a:outerShdw sx="100000" sy="100000" kx="0" ky="0" algn="bl" rotWithShape="0" blurRad="2.6643793008275154e+29" dist="1.0657517203310059e+29" dir="2.519424e+35">
              <a:srgbClr val="000000">
                <a:alpha val="1.4000000000000003e+34"/>
              </a:srgbClr>
            </a:outerShdw>
          </a:effectLst>
        </p:spPr>
      </p:sp>
      <p:sp>
        <p:nvSpPr>
          <p:cNvPr id="11" name="Text 9"/>
          <p:cNvSpPr/>
          <p:nvPr/>
        </p:nvSpPr>
        <p:spPr>
          <a:xfrm>
            <a:off x="685800" y="5212080"/>
            <a:ext cx="10817352" cy="237744"/>
          </a:xfrm>
          <a:prstGeom prst="rect">
            <a:avLst/>
          </a:prstGeom>
          <a:noFill/>
          <a:ln/>
        </p:spPr>
        <p:txBody>
          <a:bodyPr wrap="square" lIns="0" tIns="0" rIns="0" bIns="0" rtlCol="0" anchor="ctr"/>
          <a:lstStyle/>
          <a:p>
            <a:pPr indent="0" marL="0">
              <a:buNone/>
            </a:pPr>
            <a:r>
              <a:rPr lang="en-US" sz="1000" b="1" spc="100" kern="0" dirty="0">
                <a:solidFill>
                  <a:srgbClr val="93C5FD"/>
                </a:solidFill>
                <a:latin typeface="Calibri" pitchFamily="34" charset="0"/>
                <a:ea typeface="Calibri" pitchFamily="34" charset="-122"/>
                <a:cs typeface="Calibri" pitchFamily="34" charset="-120"/>
              </a:rPr>
              <a:t>GET STARTED</a:t>
            </a:r>
            <a:endParaRPr lang="en-US" sz="1000" dirty="0"/>
          </a:p>
        </p:txBody>
      </p:sp>
      <p:sp>
        <p:nvSpPr>
          <p:cNvPr id="12" name="Text 10"/>
          <p:cNvSpPr/>
          <p:nvPr/>
        </p:nvSpPr>
        <p:spPr>
          <a:xfrm>
            <a:off x="685800" y="5504688"/>
            <a:ext cx="10817352" cy="694944"/>
          </a:xfrm>
          <a:prstGeom prst="rect">
            <a:avLst/>
          </a:prstGeom>
          <a:noFill/>
          <a:ln/>
        </p:spPr>
        <p:txBody>
          <a:bodyPr wrap="square" lIns="0" tIns="0" rIns="0" bIns="0" rtlCol="0" anchor="t"/>
          <a:lstStyle/>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init</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doctor</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version</a:t>
            </a:r>
            <a:endParaRPr lang="en-US" sz="1250" dirty="0"/>
          </a:p>
        </p:txBody>
      </p:sp>
      <p:sp>
        <p:nvSpPr>
          <p:cNvPr id="13" name="Text 11"/>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14" name="Text 12"/>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15" name="Shape 13"/>
          <p:cNvSpPr/>
          <p:nvPr/>
        </p:nvSpPr>
        <p:spPr>
          <a:xfrm>
            <a:off x="3886200" y="1225296"/>
            <a:ext cx="1755648" cy="2834640"/>
          </a:xfrm>
          <a:prstGeom prst="roundRect">
            <a:avLst>
              <a:gd name="adj" fmla="val 3125"/>
            </a:avLst>
          </a:prstGeom>
          <a:solidFill>
            <a:srgbClr val="F3F4F6"/>
          </a:solidFill>
          <a:ln w="9525">
            <a:solidFill>
              <a:srgbClr val="E5E7EB"/>
            </a:solidFill>
            <a:prstDash val="solid"/>
          </a:ln>
          <a:effectLst>
            <a:outerShdw sx="100000" sy="100000" kx="0" ky="0" algn="bl" rotWithShape="0" blurRad="3.3837617120509443e+33" dist="1.3535046848203775e+33" dir="1.5116544e+40">
              <a:srgbClr val="000000">
                <a:alpha val="1.4000000000000003e+39"/>
              </a:srgbClr>
            </a:outerShdw>
          </a:effectLst>
        </p:spPr>
      </p:sp>
      <p:sp>
        <p:nvSpPr>
          <p:cNvPr id="16" name="Shape 14"/>
          <p:cNvSpPr/>
          <p:nvPr/>
        </p:nvSpPr>
        <p:spPr>
          <a:xfrm>
            <a:off x="4398264" y="1481328"/>
            <a:ext cx="731520" cy="731520"/>
          </a:xfrm>
          <a:prstGeom prst="oval">
            <a:avLst/>
          </a:prstGeom>
          <a:solidFill>
            <a:srgbClr val="7C3AED"/>
          </a:solidFill>
          <a:ln w="12700">
            <a:solidFill>
              <a:srgbClr val="7C3AED"/>
            </a:solidFill>
            <a:prstDash val="solid"/>
          </a:ln>
        </p:spPr>
      </p:sp>
      <p:pic>
        <p:nvPicPr>
          <p:cNvPr id="17" name="Image 0" descr="C:\Users\Tabish.DESKTOP-AMHU6DL\AppData\Local\Temp\claude\C--Data-Apps-GitFlowPlus\670cb83e-903e-4a7a-8a42-3e26eddb1211\scratchpad\gfp-deck\icons\manifest.png">    </p:cNvPr>
          <p:cNvPicPr>
            <a:picLocks noChangeAspect="1"/>
          </p:cNvPicPr>
          <p:nvPr/>
        </p:nvPicPr>
        <p:blipFill>
          <a:blip r:embed="rId1"/>
          <a:stretch>
            <a:fillRect/>
          </a:stretch>
        </p:blipFill>
        <p:spPr>
          <a:xfrm>
            <a:off x="4544568" y="1627632"/>
            <a:ext cx="438912" cy="438912"/>
          </a:xfrm>
          <a:prstGeom prst="rect">
            <a:avLst/>
          </a:prstGeom>
        </p:spPr>
      </p:pic>
      <p:sp>
        <p:nvSpPr>
          <p:cNvPr id="18" name="Text 15"/>
          <p:cNvSpPr/>
          <p:nvPr/>
        </p:nvSpPr>
        <p:spPr>
          <a:xfrm>
            <a:off x="3995928" y="2395728"/>
            <a:ext cx="1536192" cy="502920"/>
          </a:xfrm>
          <a:prstGeom prst="rect">
            <a:avLst/>
          </a:prstGeom>
          <a:noFill/>
          <a:ln/>
        </p:spPr>
        <p:txBody>
          <a:bodyPr wrap="square" lIns="0" tIns="0" rIns="0" bIns="0" rtlCol="0" anchor="t"/>
          <a:lstStyle/>
          <a:p>
            <a:pPr algn="ctr" indent="0" marL="0">
              <a:buNone/>
            </a:pPr>
            <a:r>
              <a:rPr lang="en-US" sz="1250" b="1" dirty="0">
                <a:solidFill>
                  <a:srgbClr val="1E2761"/>
                </a:solidFill>
                <a:latin typeface="Calibri" pitchFamily="34" charset="0"/>
                <a:ea typeface="Calibri" pitchFamily="34" charset="-122"/>
                <a:cs typeface="Calibri" pitchFamily="34" charset="-120"/>
              </a:rPr>
              <a:t>Release Manifest</a:t>
            </a:r>
            <a:endParaRPr lang="en-US" sz="1250" dirty="0"/>
          </a:p>
        </p:txBody>
      </p:sp>
      <p:sp>
        <p:nvSpPr>
          <p:cNvPr id="19" name="Text 16"/>
          <p:cNvSpPr/>
          <p:nvPr/>
        </p:nvSpPr>
        <p:spPr>
          <a:xfrm>
            <a:off x="4014216" y="2889504"/>
            <a:ext cx="1499616" cy="1097280"/>
          </a:xfrm>
          <a:prstGeom prst="rect">
            <a:avLst/>
          </a:prstGeom>
          <a:noFill/>
          <a:ln/>
        </p:spPr>
        <p:txBody>
          <a:bodyPr wrap="square" lIns="0" tIns="0" rIns="0" bIns="0"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A living record — release.json — of every feature, fix, and DevOps change in the active release.</a:t>
            </a:r>
            <a:endParaRPr lang="en-US" sz="1000" dirty="0"/>
          </a:p>
        </p:txBody>
      </p:sp>
      <p:sp>
        <p:nvSpPr>
          <p:cNvPr id="20" name="Shape 17"/>
          <p:cNvSpPr/>
          <p:nvPr/>
        </p:nvSpPr>
        <p:spPr>
          <a:xfrm>
            <a:off x="5916168" y="1225296"/>
            <a:ext cx="1755648" cy="2834640"/>
          </a:xfrm>
          <a:prstGeom prst="roundRect">
            <a:avLst>
              <a:gd name="adj" fmla="val 3125"/>
            </a:avLst>
          </a:prstGeom>
          <a:solidFill>
            <a:srgbClr val="F3F4F6"/>
          </a:solidFill>
          <a:ln w="9525">
            <a:solidFill>
              <a:srgbClr val="E5E7EB"/>
            </a:solidFill>
            <a:prstDash val="solid"/>
          </a:ln>
          <a:effectLst>
            <a:outerShdw sx="100000" sy="100000" kx="0" ky="0" algn="bl" rotWithShape="0" blurRad="4.297377374304699e+37" dist="1.7189509497218795e+37" dir="9.069926400000001e+44">
              <a:srgbClr val="000000">
                <a:alpha val="1.4000000000000002e+44"/>
              </a:srgbClr>
            </a:outerShdw>
          </a:effectLst>
        </p:spPr>
      </p:sp>
      <p:sp>
        <p:nvSpPr>
          <p:cNvPr id="21" name="Shape 18"/>
          <p:cNvSpPr/>
          <p:nvPr/>
        </p:nvSpPr>
        <p:spPr>
          <a:xfrm>
            <a:off x="6428232" y="1481328"/>
            <a:ext cx="731520" cy="731520"/>
          </a:xfrm>
          <a:prstGeom prst="oval">
            <a:avLst/>
          </a:prstGeom>
          <a:solidFill>
            <a:srgbClr val="2563EB"/>
          </a:solidFill>
          <a:ln w="12700">
            <a:solidFill>
              <a:srgbClr val="2563EB"/>
            </a:solidFill>
            <a:prstDash val="solid"/>
          </a:ln>
        </p:spPr>
      </p:sp>
      <p:pic>
        <p:nvPicPr>
          <p:cNvPr id="22" name="Image 1" descr="C:\Users\Tabish.DESKTOP-AMHU6DL\AppData\Local\Temp\claude\C--Data-Apps-GitFlowPlus\670cb83e-903e-4a7a-8a42-3e26eddb1211\scratchpad\gfp-deck\icons\history.png">    </p:cNvPr>
          <p:cNvPicPr>
            <a:picLocks noChangeAspect="1"/>
          </p:cNvPicPr>
          <p:nvPr/>
        </p:nvPicPr>
        <p:blipFill>
          <a:blip r:embed="rId2"/>
          <a:stretch>
            <a:fillRect/>
          </a:stretch>
        </p:blipFill>
        <p:spPr>
          <a:xfrm>
            <a:off x="6574536" y="1627632"/>
            <a:ext cx="438912" cy="438912"/>
          </a:xfrm>
          <a:prstGeom prst="rect">
            <a:avLst/>
          </a:prstGeom>
        </p:spPr>
      </p:pic>
      <p:sp>
        <p:nvSpPr>
          <p:cNvPr id="23" name="Text 19"/>
          <p:cNvSpPr/>
          <p:nvPr/>
        </p:nvSpPr>
        <p:spPr>
          <a:xfrm>
            <a:off x="6025896" y="2395728"/>
            <a:ext cx="1536192" cy="502920"/>
          </a:xfrm>
          <a:prstGeom prst="rect">
            <a:avLst/>
          </a:prstGeom>
          <a:noFill/>
          <a:ln/>
        </p:spPr>
        <p:txBody>
          <a:bodyPr wrap="square" lIns="0" tIns="0" rIns="0" bIns="0" rtlCol="0" anchor="t"/>
          <a:lstStyle/>
          <a:p>
            <a:pPr algn="ctr" indent="0" marL="0">
              <a:buNone/>
            </a:pPr>
            <a:r>
              <a:rPr lang="en-US" sz="1250" b="1" dirty="0">
                <a:solidFill>
                  <a:srgbClr val="1E2761"/>
                </a:solidFill>
                <a:latin typeface="Calibri" pitchFamily="34" charset="0"/>
                <a:ea typeface="Calibri" pitchFamily="34" charset="-122"/>
                <a:cs typeface="Calibri" pitchFamily="34" charset="-120"/>
              </a:rPr>
              <a:t>Full Audit Trail</a:t>
            </a:r>
            <a:endParaRPr lang="en-US" sz="1250" dirty="0"/>
          </a:p>
        </p:txBody>
      </p:sp>
      <p:sp>
        <p:nvSpPr>
          <p:cNvPr id="24" name="Text 20"/>
          <p:cNvSpPr/>
          <p:nvPr/>
        </p:nvSpPr>
        <p:spPr>
          <a:xfrm>
            <a:off x="6044184" y="2889504"/>
            <a:ext cx="1499616" cy="1097280"/>
          </a:xfrm>
          <a:prstGeom prst="rect">
            <a:avLst/>
          </a:prstGeom>
          <a:noFill/>
          <a:ln/>
        </p:spPr>
        <p:txBody>
          <a:bodyPr wrap="square" lIns="0" tIns="0" rIns="0" bIns="0"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featureHistory logs every merge action, including QA follow-up resyncs, with who/when.</a:t>
            </a:r>
            <a:endParaRPr lang="en-US" sz="1000" dirty="0"/>
          </a:p>
        </p:txBody>
      </p:sp>
      <p:sp>
        <p:nvSpPr>
          <p:cNvPr id="25" name="Shape 21"/>
          <p:cNvSpPr/>
          <p:nvPr/>
        </p:nvSpPr>
        <p:spPr>
          <a:xfrm>
            <a:off x="7946136" y="1225296"/>
            <a:ext cx="1755648" cy="2834640"/>
          </a:xfrm>
          <a:prstGeom prst="roundRect">
            <a:avLst>
              <a:gd name="adj" fmla="val 3125"/>
            </a:avLst>
          </a:prstGeom>
          <a:solidFill>
            <a:srgbClr val="F3F4F6"/>
          </a:solidFill>
          <a:ln w="9525">
            <a:solidFill>
              <a:srgbClr val="E5E7EB"/>
            </a:solidFill>
            <a:prstDash val="solid"/>
          </a:ln>
          <a:effectLst>
            <a:outerShdw sx="100000" sy="100000" kx="0" ky="0" algn="bl" rotWithShape="0" blurRad="5.457669265366968e+41" dist="2.183067706146787e+41" dir="5.44195584e+49">
              <a:srgbClr val="000000">
                <a:alpha val="1.4000000000000002e+49"/>
              </a:srgbClr>
            </a:outerShdw>
          </a:effectLst>
        </p:spPr>
      </p:sp>
      <p:sp>
        <p:nvSpPr>
          <p:cNvPr id="26" name="Shape 22"/>
          <p:cNvSpPr/>
          <p:nvPr/>
        </p:nvSpPr>
        <p:spPr>
          <a:xfrm>
            <a:off x="8458200" y="1481328"/>
            <a:ext cx="731520" cy="731520"/>
          </a:xfrm>
          <a:prstGeom prst="oval">
            <a:avLst/>
          </a:prstGeom>
          <a:solidFill>
            <a:srgbClr val="16A34A"/>
          </a:solidFill>
          <a:ln w="12700">
            <a:solidFill>
              <a:srgbClr val="16A34A"/>
            </a:solidFill>
            <a:prstDash val="solid"/>
          </a:ln>
        </p:spPr>
      </p:sp>
      <p:pic>
        <p:nvPicPr>
          <p:cNvPr id="27" name="Image 2" descr="C:\Users\Tabish.DESKTOP-AMHU6DL\AppData\Local\Temp\claude\C--Data-Apps-GitFlowPlus\670cb83e-903e-4a7a-8a42-3e26eddb1211\scratchpad\gfp-deck\icons\git-tag.png">    </p:cNvPr>
          <p:cNvPicPr>
            <a:picLocks noChangeAspect="1"/>
          </p:cNvPicPr>
          <p:nvPr/>
        </p:nvPicPr>
        <p:blipFill>
          <a:blip r:embed="rId3"/>
          <a:stretch>
            <a:fillRect/>
          </a:stretch>
        </p:blipFill>
        <p:spPr>
          <a:xfrm>
            <a:off x="8604504" y="1627632"/>
            <a:ext cx="438912" cy="438912"/>
          </a:xfrm>
          <a:prstGeom prst="rect">
            <a:avLst/>
          </a:prstGeom>
        </p:spPr>
      </p:pic>
      <p:sp>
        <p:nvSpPr>
          <p:cNvPr id="28" name="Text 23"/>
          <p:cNvSpPr/>
          <p:nvPr/>
        </p:nvSpPr>
        <p:spPr>
          <a:xfrm>
            <a:off x="8055864" y="2395728"/>
            <a:ext cx="1536192" cy="502920"/>
          </a:xfrm>
          <a:prstGeom prst="rect">
            <a:avLst/>
          </a:prstGeom>
          <a:noFill/>
          <a:ln/>
        </p:spPr>
        <p:txBody>
          <a:bodyPr wrap="square" lIns="0" tIns="0" rIns="0" bIns="0" rtlCol="0" anchor="t"/>
          <a:lstStyle/>
          <a:p>
            <a:pPr algn="ctr" indent="0" marL="0">
              <a:buNone/>
            </a:pPr>
            <a:r>
              <a:rPr lang="en-US" sz="1250" b="1" dirty="0">
                <a:solidFill>
                  <a:srgbClr val="1E2761"/>
                </a:solidFill>
                <a:latin typeface="Calibri" pitchFamily="34" charset="0"/>
                <a:ea typeface="Calibri" pitchFamily="34" charset="-122"/>
                <a:cs typeface="Calibri" pitchFamily="34" charset="-120"/>
              </a:rPr>
              <a:t>Mandatory Tagging</a:t>
            </a:r>
            <a:endParaRPr lang="en-US" sz="1250" dirty="0"/>
          </a:p>
        </p:txBody>
      </p:sp>
      <p:sp>
        <p:nvSpPr>
          <p:cNvPr id="29" name="Text 24"/>
          <p:cNvSpPr/>
          <p:nvPr/>
        </p:nvSpPr>
        <p:spPr>
          <a:xfrm>
            <a:off x="8074152" y="2889504"/>
            <a:ext cx="1499616" cy="1097280"/>
          </a:xfrm>
          <a:prstGeom prst="rect">
            <a:avLst/>
          </a:prstGeom>
          <a:noFill/>
          <a:ln/>
        </p:spPr>
        <p:txBody>
          <a:bodyPr wrap="square" lIns="0" tIns="0" rIns="0" bIns="0"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Every QA build and every production release gets a structured, self-describing annotated tag.</a:t>
            </a:r>
            <a:endParaRPr lang="en-US" sz="1000" dirty="0"/>
          </a:p>
        </p:txBody>
      </p:sp>
      <p:sp>
        <p:nvSpPr>
          <p:cNvPr id="30" name="Shape 25"/>
          <p:cNvSpPr/>
          <p:nvPr/>
        </p:nvSpPr>
        <p:spPr>
          <a:xfrm>
            <a:off x="9976104" y="1225296"/>
            <a:ext cx="1755648" cy="2834640"/>
          </a:xfrm>
          <a:prstGeom prst="roundRect">
            <a:avLst>
              <a:gd name="adj" fmla="val 3125"/>
            </a:avLst>
          </a:prstGeom>
          <a:solidFill>
            <a:srgbClr val="F3F4F6"/>
          </a:solidFill>
          <a:ln w="9525">
            <a:solidFill>
              <a:srgbClr val="E5E7EB"/>
            </a:solidFill>
            <a:prstDash val="solid"/>
          </a:ln>
          <a:effectLst>
            <a:outerShdw sx="100000" sy="100000" kx="0" ky="0" algn="bl" rotWithShape="0" blurRad="6.93123996701605e+45" dist="2.7724959868064195e+45" dir="3.2651735040000005e+54">
              <a:srgbClr val="000000">
                <a:alpha val="1.4e+54"/>
              </a:srgbClr>
            </a:outerShdw>
          </a:effectLst>
        </p:spPr>
      </p:sp>
      <p:sp>
        <p:nvSpPr>
          <p:cNvPr id="31" name="Shape 26"/>
          <p:cNvSpPr/>
          <p:nvPr/>
        </p:nvSpPr>
        <p:spPr>
          <a:xfrm>
            <a:off x="10488168" y="1481328"/>
            <a:ext cx="731520" cy="731520"/>
          </a:xfrm>
          <a:prstGeom prst="oval">
            <a:avLst/>
          </a:prstGeom>
          <a:solidFill>
            <a:srgbClr val="EA580C"/>
          </a:solidFill>
          <a:ln w="12700">
            <a:solidFill>
              <a:srgbClr val="EA580C"/>
            </a:solidFill>
            <a:prstDash val="solid"/>
          </a:ln>
        </p:spPr>
      </p:sp>
      <p:pic>
        <p:nvPicPr>
          <p:cNvPr id="32" name="Image 3" descr="C:\Users\Tabish.DESKTOP-AMHU6DL\AppData\Local\Temp\claude\C--Data-Apps-GitFlowPlus\670cb83e-903e-4a7a-8a42-3e26eddb1211\scratchpad\gfp-deck\icons\checklist.png">    </p:cNvPr>
          <p:cNvPicPr>
            <a:picLocks noChangeAspect="1"/>
          </p:cNvPicPr>
          <p:nvPr/>
        </p:nvPicPr>
        <p:blipFill>
          <a:blip r:embed="rId4"/>
          <a:stretch>
            <a:fillRect/>
          </a:stretch>
        </p:blipFill>
        <p:spPr>
          <a:xfrm>
            <a:off x="10634472" y="1627632"/>
            <a:ext cx="438912" cy="438912"/>
          </a:xfrm>
          <a:prstGeom prst="rect">
            <a:avLst/>
          </a:prstGeom>
        </p:spPr>
      </p:pic>
      <p:sp>
        <p:nvSpPr>
          <p:cNvPr id="33" name="Text 27"/>
          <p:cNvSpPr/>
          <p:nvPr/>
        </p:nvSpPr>
        <p:spPr>
          <a:xfrm>
            <a:off x="10085832" y="2395728"/>
            <a:ext cx="1536192" cy="502920"/>
          </a:xfrm>
          <a:prstGeom prst="rect">
            <a:avLst/>
          </a:prstGeom>
          <a:noFill/>
          <a:ln/>
        </p:spPr>
        <p:txBody>
          <a:bodyPr wrap="square" lIns="0" tIns="0" rIns="0" bIns="0" rtlCol="0" anchor="t"/>
          <a:lstStyle/>
          <a:p>
            <a:pPr algn="ctr" indent="0" marL="0">
              <a:buNone/>
            </a:pPr>
            <a:r>
              <a:rPr lang="en-US" sz="1250" b="1" dirty="0">
                <a:solidFill>
                  <a:srgbClr val="1E2761"/>
                </a:solidFill>
                <a:latin typeface="Calibri" pitchFamily="34" charset="0"/>
                <a:ea typeface="Calibri" pitchFamily="34" charset="-122"/>
                <a:cs typeface="Calibri" pitchFamily="34" charset="-120"/>
              </a:rPr>
              <a:t>Explicit State Machine</a:t>
            </a:r>
            <a:endParaRPr lang="en-US" sz="1250" dirty="0"/>
          </a:p>
        </p:txBody>
      </p:sp>
      <p:sp>
        <p:nvSpPr>
          <p:cNvPr id="34" name="Text 28"/>
          <p:cNvSpPr/>
          <p:nvPr/>
        </p:nvSpPr>
        <p:spPr>
          <a:xfrm>
            <a:off x="10104120" y="2889504"/>
            <a:ext cx="1499616" cy="1097280"/>
          </a:xfrm>
          <a:prstGeom prst="rect">
            <a:avLst/>
          </a:prstGeom>
          <a:noFill/>
          <a:ln/>
        </p:spPr>
        <p:txBody>
          <a:bodyPr wrap="square" lIns="0" tIns="0" rIns="0" bIns="0" rtlCol="0" anchor="t"/>
          <a:lstStyle/>
          <a:p>
            <a:pPr algn="ctr" indent="0" marL="0">
              <a:buNone/>
            </a:pPr>
            <a:r>
              <a:rPr lang="en-US" sz="1000" dirty="0">
                <a:solidFill>
                  <a:srgbClr val="1F2937"/>
                </a:solidFill>
                <a:latin typeface="Calibri" pitchFamily="34" charset="0"/>
                <a:ea typeface="Calibri" pitchFamily="34" charset="-122"/>
                <a:cs typeface="Calibri" pitchFamily="34" charset="-120"/>
              </a:rPr>
              <a:t>Features move through Created → Approved → IncludedInRelease → Released — never ambiguous.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7C3AED"/>
                </a:solidFill>
                <a:latin typeface="Calibri" pitchFamily="34" charset="0"/>
                <a:ea typeface="Calibri" pitchFamily="34" charset="-122"/>
                <a:cs typeface="Calibri" pitchFamily="34" charset="-120"/>
              </a:rPr>
              <a:t>PROCESS OVERVIEW</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Our Software Development Lifecycle</a:t>
            </a:r>
            <a:endParaRPr lang="en-US" sz="3000" dirty="0"/>
          </a:p>
        </p:txBody>
      </p:sp>
      <p:sp>
        <p:nvSpPr>
          <p:cNvPr id="4" name="Shape 2"/>
          <p:cNvSpPr/>
          <p:nvPr/>
        </p:nvSpPr>
        <p:spPr>
          <a:xfrm>
            <a:off x="457200" y="1225296"/>
            <a:ext cx="3246120" cy="1417320"/>
          </a:xfrm>
          <a:prstGeom prst="roundRect">
            <a:avLst>
              <a:gd name="adj" fmla="val 3871"/>
            </a:avLst>
          </a:prstGeom>
          <a:solidFill>
            <a:srgbClr val="F3F4F6"/>
          </a:solidFill>
          <a:ln w="9525">
            <a:solidFill>
              <a:srgbClr val="E5E7EB"/>
            </a:solidFill>
            <a:prstDash val="solid"/>
          </a:ln>
          <a:effectLst>
            <a:outerShdw sx="100000" sy="100000" kx="0" ky="0" algn="bl" rotWithShape="0" blurRad="8.802674758110384e+49" dist="3.5210699032441527e+49" dir="1.9591041024000004e+59">
              <a:srgbClr val="000000">
                <a:alpha val="1.4000000000000001e+59"/>
              </a:srgbClr>
            </a:outerShdw>
          </a:effectLst>
        </p:spPr>
      </p:sp>
      <p:sp>
        <p:nvSpPr>
          <p:cNvPr id="5" name="Text 3"/>
          <p:cNvSpPr/>
          <p:nvPr/>
        </p:nvSpPr>
        <p:spPr>
          <a:xfrm>
            <a:off x="621792" y="1335024"/>
            <a:ext cx="2916936" cy="256032"/>
          </a:xfrm>
          <a:prstGeom prst="rect">
            <a:avLst/>
          </a:prstGeom>
          <a:noFill/>
          <a:ln/>
        </p:spPr>
        <p:txBody>
          <a:bodyPr wrap="square" lIns="0" tIns="0" rIns="0" bIns="0" rtlCol="0" anchor="ctr"/>
          <a:lstStyle/>
          <a:p>
            <a:pPr indent="0" marL="0">
              <a:buNone/>
            </a:pPr>
            <a:r>
              <a:rPr lang="en-US" sz="1100" b="1" spc="100" kern="0" dirty="0">
                <a:solidFill>
                  <a:srgbClr val="7C3AED"/>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621792" y="1645920"/>
            <a:ext cx="2916936" cy="8869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See how Git Flow Plus stages map onto the classic SDLC</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Identify who owns each stage</a:t>
            </a:r>
            <a:endParaRPr lang="en-US" sz="1200" dirty="0"/>
          </a:p>
        </p:txBody>
      </p:sp>
      <p:sp>
        <p:nvSpPr>
          <p:cNvPr id="7" name="Shape 5"/>
          <p:cNvSpPr/>
          <p:nvPr/>
        </p:nvSpPr>
        <p:spPr>
          <a:xfrm>
            <a:off x="457200" y="2788920"/>
            <a:ext cx="3246120" cy="2203704"/>
          </a:xfrm>
          <a:prstGeom prst="roundRect">
            <a:avLst>
              <a:gd name="adj" fmla="val 2490"/>
            </a:avLst>
          </a:prstGeom>
          <a:solidFill>
            <a:srgbClr val="F3F4F6"/>
          </a:solidFill>
          <a:ln w="9525">
            <a:solidFill>
              <a:srgbClr val="E5E7EB"/>
            </a:solidFill>
            <a:prstDash val="solid"/>
          </a:ln>
          <a:effectLst>
            <a:outerShdw sx="100000" sy="100000" kx="0" ky="0" algn="bl" rotWithShape="0" blurRad="1.1179396942800187e+54" dist="4.471758777120074e+53" dir="1.1754624614400003e+64">
              <a:srgbClr val="000000">
                <a:alpha val="1.4e+64"/>
              </a:srgbClr>
            </a:outerShdw>
          </a:effectLst>
        </p:spPr>
      </p:sp>
      <p:sp>
        <p:nvSpPr>
          <p:cNvPr id="8" name="Text 6"/>
          <p:cNvSpPr/>
          <p:nvPr/>
        </p:nvSpPr>
        <p:spPr>
          <a:xfrm>
            <a:off x="621792" y="2898648"/>
            <a:ext cx="2916936" cy="256032"/>
          </a:xfrm>
          <a:prstGeom prst="rect">
            <a:avLst/>
          </a:prstGeom>
          <a:noFill/>
          <a:ln/>
        </p:spPr>
        <p:txBody>
          <a:bodyPr wrap="square" lIns="0" tIns="0" rIns="0" bIns="0" rtlCol="0" anchor="ctr"/>
          <a:lstStyle/>
          <a:p>
            <a:pPr indent="0" marL="0">
              <a:buNone/>
            </a:pPr>
            <a:r>
              <a:rPr lang="en-US" sz="1100" b="1" spc="100" kern="0" dirty="0">
                <a:solidFill>
                  <a:srgbClr val="7C3AED"/>
                </a:solidFill>
                <a:latin typeface="Calibri" pitchFamily="34" charset="0"/>
                <a:ea typeface="Calibri" pitchFamily="34" charset="-122"/>
                <a:cs typeface="Calibri" pitchFamily="34" charset="-120"/>
              </a:rPr>
              <a:t>KEY NOTES</a:t>
            </a:r>
            <a:endParaRPr lang="en-US" sz="1100" dirty="0"/>
          </a:p>
        </p:txBody>
      </p:sp>
      <p:sp>
        <p:nvSpPr>
          <p:cNvPr id="9" name="Text 7"/>
          <p:cNvSpPr/>
          <p:nvPr/>
        </p:nvSpPr>
        <p:spPr>
          <a:xfrm>
            <a:off x="621792" y="3209544"/>
            <a:ext cx="2916936" cy="167335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Development and QA are separated by a hard boundary: staging</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Only a Release Manager promotes work across that boundary</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Production is reached only through release finish, never a direct merge</a:t>
            </a:r>
            <a:endParaRPr lang="en-US" sz="1150" dirty="0"/>
          </a:p>
        </p:txBody>
      </p:sp>
      <p:sp>
        <p:nvSpPr>
          <p:cNvPr id="10" name="Shape 8"/>
          <p:cNvSpPr/>
          <p:nvPr/>
        </p:nvSpPr>
        <p:spPr>
          <a:xfrm>
            <a:off x="457200" y="5120640"/>
            <a:ext cx="11274552" cy="1188720"/>
          </a:xfrm>
          <a:prstGeom prst="roundRect">
            <a:avLst>
              <a:gd name="adj" fmla="val 4615"/>
            </a:avLst>
          </a:prstGeom>
          <a:solidFill>
            <a:srgbClr val="0F172A"/>
          </a:solidFill>
          <a:ln w="12700">
            <a:solidFill>
              <a:srgbClr val="0F172A"/>
            </a:solidFill>
            <a:prstDash val="solid"/>
          </a:ln>
          <a:effectLst>
            <a:outerShdw sx="100000" sy="100000" kx="0" ky="0" algn="bl" rotWithShape="0" blurRad="1.419783411735624e+58" dist="5.679133646942494e+57" dir="7.052774768640002e+68">
              <a:srgbClr val="000000">
                <a:alpha val="1.4000000000000001e+69"/>
              </a:srgbClr>
            </a:outerShdw>
          </a:effectLst>
        </p:spPr>
      </p:sp>
      <p:sp>
        <p:nvSpPr>
          <p:cNvPr id="11" name="Text 9"/>
          <p:cNvSpPr/>
          <p:nvPr/>
        </p:nvSpPr>
        <p:spPr>
          <a:xfrm>
            <a:off x="685800" y="5212080"/>
            <a:ext cx="10817352" cy="237744"/>
          </a:xfrm>
          <a:prstGeom prst="rect">
            <a:avLst/>
          </a:prstGeom>
          <a:noFill/>
          <a:ln/>
        </p:spPr>
        <p:txBody>
          <a:bodyPr wrap="square" lIns="0" tIns="0" rIns="0" bIns="0" rtlCol="0" anchor="ctr"/>
          <a:lstStyle/>
          <a:p>
            <a:pPr indent="0" marL="0">
              <a:buNone/>
            </a:pPr>
            <a:r>
              <a:rPr lang="en-US" sz="1000" b="1" spc="100" kern="0" dirty="0">
                <a:solidFill>
                  <a:srgbClr val="93C5FD"/>
                </a:solidFill>
                <a:latin typeface="Calibri" pitchFamily="34" charset="0"/>
                <a:ea typeface="Calibri" pitchFamily="34" charset="-122"/>
                <a:cs typeface="Calibri" pitchFamily="34" charset="-120"/>
              </a:rPr>
              <a:t>STAGE-DEFINING COMMANDS</a:t>
            </a:r>
            <a:endParaRPr lang="en-US" sz="1000" dirty="0"/>
          </a:p>
        </p:txBody>
      </p:sp>
      <p:sp>
        <p:nvSpPr>
          <p:cNvPr id="12" name="Text 10"/>
          <p:cNvSpPr/>
          <p:nvPr/>
        </p:nvSpPr>
        <p:spPr>
          <a:xfrm>
            <a:off x="685800" y="5504688"/>
            <a:ext cx="10817352" cy="694944"/>
          </a:xfrm>
          <a:prstGeom prst="rect">
            <a:avLst/>
          </a:prstGeom>
          <a:noFill/>
          <a:ln/>
        </p:spPr>
        <p:txBody>
          <a:bodyPr wrap="square" lIns="0" tIns="0" rIns="0" bIns="0" rtlCol="0" anchor="t"/>
          <a:lstStyle/>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feature start LOGIN</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feature add LOGIN</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finish</a:t>
            </a:r>
            <a:endParaRPr lang="en-US" sz="1250" dirty="0"/>
          </a:p>
        </p:txBody>
      </p:sp>
      <p:sp>
        <p:nvSpPr>
          <p:cNvPr id="13" name="Text 11"/>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14" name="Text 12"/>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15" name="Shape 13"/>
          <p:cNvSpPr/>
          <p:nvPr/>
        </p:nvSpPr>
        <p:spPr>
          <a:xfrm>
            <a:off x="3886200" y="1682496"/>
            <a:ext cx="1364285" cy="1417320"/>
          </a:xfrm>
          <a:prstGeom prst="roundRect">
            <a:avLst>
              <a:gd name="adj" fmla="val 5362"/>
            </a:avLst>
          </a:prstGeom>
          <a:solidFill>
            <a:srgbClr val="1E2761"/>
          </a:solidFill>
          <a:ln w="12700">
            <a:solidFill>
              <a:srgbClr val="FFFFFF"/>
            </a:solidFill>
            <a:prstDash val="solid"/>
          </a:ln>
          <a:effectLst>
            <a:outerShdw sx="100000" sy="100000" kx="0" ky="0" algn="bl" rotWithShape="0" blurRad="1.8031249329042424e+62" dist="7.212499731616968e+61" dir="4.2316648611840007e+73">
              <a:srgbClr val="000000">
                <a:alpha val="1.4e+74"/>
              </a:srgbClr>
            </a:outerShdw>
          </a:effectLst>
        </p:spPr>
      </p:sp>
      <p:pic>
        <p:nvPicPr>
          <p:cNvPr id="16" name="Image 0" descr="C:\Users\Tabish.DESKTOP-AMHU6DL\AppData\Local\Temp\claude\C--Data-Apps-GitFlowPlus\670cb83e-903e-4a7a-8a42-3e26eddb1211\scratchpad\gfp-deck\icons\idea.png">    </p:cNvPr>
          <p:cNvPicPr>
            <a:picLocks noChangeAspect="1"/>
          </p:cNvPicPr>
          <p:nvPr/>
        </p:nvPicPr>
        <p:blipFill>
          <a:blip r:embed="rId1"/>
          <a:stretch>
            <a:fillRect/>
          </a:stretch>
        </p:blipFill>
        <p:spPr>
          <a:xfrm>
            <a:off x="4294022" y="1810512"/>
            <a:ext cx="548640" cy="548640"/>
          </a:xfrm>
          <a:prstGeom prst="rect">
            <a:avLst/>
          </a:prstGeom>
        </p:spPr>
      </p:pic>
      <p:sp>
        <p:nvSpPr>
          <p:cNvPr id="17" name="Text 14"/>
          <p:cNvSpPr/>
          <p:nvPr/>
        </p:nvSpPr>
        <p:spPr>
          <a:xfrm>
            <a:off x="3959352" y="2432304"/>
            <a:ext cx="1217981" cy="33832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Plan</a:t>
            </a:r>
            <a:endParaRPr lang="en-US" sz="1250" dirty="0"/>
          </a:p>
        </p:txBody>
      </p:sp>
      <p:sp>
        <p:nvSpPr>
          <p:cNvPr id="18" name="Text 15"/>
          <p:cNvSpPr/>
          <p:nvPr/>
        </p:nvSpPr>
        <p:spPr>
          <a:xfrm>
            <a:off x="3959352" y="2788920"/>
            <a:ext cx="121798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Backlog &amp; scope</a:t>
            </a:r>
            <a:endParaRPr lang="en-US" sz="950" dirty="0"/>
          </a:p>
        </p:txBody>
      </p:sp>
      <p:sp>
        <p:nvSpPr>
          <p:cNvPr id="19" name="Shape 16"/>
          <p:cNvSpPr/>
          <p:nvPr/>
        </p:nvSpPr>
        <p:spPr>
          <a:xfrm>
            <a:off x="5276088" y="2299716"/>
            <a:ext cx="204826" cy="182880"/>
          </a:xfrm>
          <a:prstGeom prst="rightArrow">
            <a:avLst/>
          </a:prstGeom>
          <a:solidFill>
            <a:srgbClr val="6B7280"/>
          </a:solidFill>
          <a:ln w="12700">
            <a:solidFill>
              <a:srgbClr val="6B7280"/>
            </a:solidFill>
            <a:prstDash val="solid"/>
          </a:ln>
        </p:spPr>
      </p:sp>
      <p:sp>
        <p:nvSpPr>
          <p:cNvPr id="20" name="Shape 17"/>
          <p:cNvSpPr/>
          <p:nvPr/>
        </p:nvSpPr>
        <p:spPr>
          <a:xfrm>
            <a:off x="5506517" y="1682496"/>
            <a:ext cx="1364285" cy="1417320"/>
          </a:xfrm>
          <a:prstGeom prst="roundRect">
            <a:avLst>
              <a:gd name="adj" fmla="val 5362"/>
            </a:avLst>
          </a:prstGeom>
          <a:solidFill>
            <a:srgbClr val="2563EB"/>
          </a:solidFill>
          <a:ln w="12700">
            <a:solidFill>
              <a:srgbClr val="FFFFFF"/>
            </a:solidFill>
            <a:prstDash val="solid"/>
          </a:ln>
          <a:effectLst>
            <a:outerShdw sx="100000" sy="100000" kx="0" ky="0" algn="bl" rotWithShape="0" blurRad="2.289968664788388e+66" dist="9.15987465915355e+65" dir="2.5389989167104004e+78">
              <a:srgbClr val="000000">
                <a:alpha val="1.4e+79"/>
              </a:srgbClr>
            </a:outerShdw>
          </a:effectLst>
        </p:spPr>
      </p:sp>
      <p:pic>
        <p:nvPicPr>
          <p:cNvPr id="21" name="Image 1" descr="C:\Users\Tabish.DESKTOP-AMHU6DL\AppData\Local\Temp\claude\C--Data-Apps-GitFlowPlus\670cb83e-903e-4a7a-8a42-3e26eddb1211\scratchpad\gfp-deck\icons\developer.png">    </p:cNvPr>
          <p:cNvPicPr>
            <a:picLocks noChangeAspect="1"/>
          </p:cNvPicPr>
          <p:nvPr/>
        </p:nvPicPr>
        <p:blipFill>
          <a:blip r:embed="rId2"/>
          <a:stretch>
            <a:fillRect/>
          </a:stretch>
        </p:blipFill>
        <p:spPr>
          <a:xfrm>
            <a:off x="5914339" y="1810512"/>
            <a:ext cx="548640" cy="548640"/>
          </a:xfrm>
          <a:prstGeom prst="rect">
            <a:avLst/>
          </a:prstGeom>
        </p:spPr>
      </p:pic>
      <p:sp>
        <p:nvSpPr>
          <p:cNvPr id="22" name="Text 18"/>
          <p:cNvSpPr/>
          <p:nvPr/>
        </p:nvSpPr>
        <p:spPr>
          <a:xfrm>
            <a:off x="5579669" y="2432304"/>
            <a:ext cx="1217981" cy="33832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Develop</a:t>
            </a:r>
            <a:endParaRPr lang="en-US" sz="1250" dirty="0"/>
          </a:p>
        </p:txBody>
      </p:sp>
      <p:sp>
        <p:nvSpPr>
          <p:cNvPr id="23" name="Text 19"/>
          <p:cNvSpPr/>
          <p:nvPr/>
        </p:nvSpPr>
        <p:spPr>
          <a:xfrm>
            <a:off x="5579669" y="2788920"/>
            <a:ext cx="121798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feature branches</a:t>
            </a:r>
            <a:endParaRPr lang="en-US" sz="950" dirty="0"/>
          </a:p>
        </p:txBody>
      </p:sp>
      <p:sp>
        <p:nvSpPr>
          <p:cNvPr id="24" name="Shape 20"/>
          <p:cNvSpPr/>
          <p:nvPr/>
        </p:nvSpPr>
        <p:spPr>
          <a:xfrm>
            <a:off x="6896405" y="2299716"/>
            <a:ext cx="204826" cy="182880"/>
          </a:xfrm>
          <a:prstGeom prst="rightArrow">
            <a:avLst/>
          </a:prstGeom>
          <a:solidFill>
            <a:srgbClr val="6B7280"/>
          </a:solidFill>
          <a:ln w="12700">
            <a:solidFill>
              <a:srgbClr val="6B7280"/>
            </a:solidFill>
            <a:prstDash val="solid"/>
          </a:ln>
        </p:spPr>
      </p:sp>
      <p:sp>
        <p:nvSpPr>
          <p:cNvPr id="25" name="Shape 21"/>
          <p:cNvSpPr/>
          <p:nvPr/>
        </p:nvSpPr>
        <p:spPr>
          <a:xfrm>
            <a:off x="7126834" y="1682496"/>
            <a:ext cx="1364285" cy="1417320"/>
          </a:xfrm>
          <a:prstGeom prst="roundRect">
            <a:avLst>
              <a:gd name="adj" fmla="val 5362"/>
            </a:avLst>
          </a:prstGeom>
          <a:solidFill>
            <a:srgbClr val="7C3AED"/>
          </a:solidFill>
          <a:ln w="12700">
            <a:solidFill>
              <a:srgbClr val="FFFFFF"/>
            </a:solidFill>
            <a:prstDash val="solid"/>
          </a:ln>
          <a:effectLst>
            <a:outerShdw sx="100000" sy="100000" kx="0" ky="0" algn="bl" rotWithShape="0" blurRad="2.908260204281253e+70" dist="1.1633040817125008e+70" dir="1.5233993500262402e+83">
              <a:srgbClr val="000000">
                <a:alpha val="1.4000000000000001e+84"/>
              </a:srgbClr>
            </a:outerShdw>
          </a:effectLst>
        </p:spPr>
      </p:sp>
      <p:pic>
        <p:nvPicPr>
          <p:cNvPr id="26" name="Image 2" descr="C:\Users\Tabish.DESKTOP-AMHU6DL\AppData\Local\Temp\claude\C--Data-Apps-GitFlowPlus\670cb83e-903e-4a7a-8a42-3e26eddb1211\scratchpad\gfp-deck\icons\release-manager.png">    </p:cNvPr>
          <p:cNvPicPr>
            <a:picLocks noChangeAspect="1"/>
          </p:cNvPicPr>
          <p:nvPr/>
        </p:nvPicPr>
        <p:blipFill>
          <a:blip r:embed="rId3"/>
          <a:stretch>
            <a:fillRect/>
          </a:stretch>
        </p:blipFill>
        <p:spPr>
          <a:xfrm>
            <a:off x="7534656" y="1810512"/>
            <a:ext cx="548640" cy="548640"/>
          </a:xfrm>
          <a:prstGeom prst="rect">
            <a:avLst/>
          </a:prstGeom>
        </p:spPr>
      </p:pic>
      <p:sp>
        <p:nvSpPr>
          <p:cNvPr id="27" name="Text 22"/>
          <p:cNvSpPr/>
          <p:nvPr/>
        </p:nvSpPr>
        <p:spPr>
          <a:xfrm>
            <a:off x="7199986" y="2432304"/>
            <a:ext cx="1217981" cy="33832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Integrate</a:t>
            </a:r>
            <a:endParaRPr lang="en-US" sz="1250" dirty="0"/>
          </a:p>
        </p:txBody>
      </p:sp>
      <p:sp>
        <p:nvSpPr>
          <p:cNvPr id="28" name="Text 23"/>
          <p:cNvSpPr/>
          <p:nvPr/>
        </p:nvSpPr>
        <p:spPr>
          <a:xfrm>
            <a:off x="7199986" y="2788920"/>
            <a:ext cx="121798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Release Manager merges</a:t>
            </a:r>
            <a:endParaRPr lang="en-US" sz="950" dirty="0"/>
          </a:p>
        </p:txBody>
      </p:sp>
      <p:sp>
        <p:nvSpPr>
          <p:cNvPr id="29" name="Shape 24"/>
          <p:cNvSpPr/>
          <p:nvPr/>
        </p:nvSpPr>
        <p:spPr>
          <a:xfrm>
            <a:off x="8516722" y="2299716"/>
            <a:ext cx="204826" cy="182880"/>
          </a:xfrm>
          <a:prstGeom prst="rightArrow">
            <a:avLst/>
          </a:prstGeom>
          <a:solidFill>
            <a:srgbClr val="6B7280"/>
          </a:solidFill>
          <a:ln w="12700">
            <a:solidFill>
              <a:srgbClr val="6B7280"/>
            </a:solidFill>
            <a:prstDash val="solid"/>
          </a:ln>
        </p:spPr>
      </p:sp>
      <p:sp>
        <p:nvSpPr>
          <p:cNvPr id="30" name="Shape 25"/>
          <p:cNvSpPr/>
          <p:nvPr/>
        </p:nvSpPr>
        <p:spPr>
          <a:xfrm>
            <a:off x="8747150" y="1682496"/>
            <a:ext cx="1364285" cy="1417320"/>
          </a:xfrm>
          <a:prstGeom prst="roundRect">
            <a:avLst>
              <a:gd name="adj" fmla="val 5362"/>
            </a:avLst>
          </a:prstGeom>
          <a:solidFill>
            <a:srgbClr val="EA580C"/>
          </a:solidFill>
          <a:ln w="12700">
            <a:solidFill>
              <a:srgbClr val="FFFFFF"/>
            </a:solidFill>
            <a:prstDash val="solid"/>
          </a:ln>
          <a:effectLst>
            <a:outerShdw sx="100000" sy="100000" kx="0" ky="0" algn="bl" rotWithShape="0" blurRad="3.693490459437191e+74" dist="1.477396183774876e+74" dir="9.14039610015744e+87">
              <a:srgbClr val="000000">
                <a:alpha val="1.4000000000000002e+89"/>
              </a:srgbClr>
            </a:outerShdw>
          </a:effectLst>
        </p:spPr>
      </p:sp>
      <p:pic>
        <p:nvPicPr>
          <p:cNvPr id="31" name="Image 3" descr="C:\Users\Tabish.DESKTOP-AMHU6DL\AppData\Local\Temp\claude\C--Data-Apps-GitFlowPlus\670cb83e-903e-4a7a-8a42-3e26eddb1211\scratchpad\gfp-deck\icons\qa-engineer.png">    </p:cNvPr>
          <p:cNvPicPr>
            <a:picLocks noChangeAspect="1"/>
          </p:cNvPicPr>
          <p:nvPr/>
        </p:nvPicPr>
        <p:blipFill>
          <a:blip r:embed="rId4"/>
          <a:stretch>
            <a:fillRect/>
          </a:stretch>
        </p:blipFill>
        <p:spPr>
          <a:xfrm>
            <a:off x="9154973" y="1810512"/>
            <a:ext cx="548640" cy="548640"/>
          </a:xfrm>
          <a:prstGeom prst="rect">
            <a:avLst/>
          </a:prstGeom>
        </p:spPr>
      </p:pic>
      <p:sp>
        <p:nvSpPr>
          <p:cNvPr id="32" name="Text 26"/>
          <p:cNvSpPr/>
          <p:nvPr/>
        </p:nvSpPr>
        <p:spPr>
          <a:xfrm>
            <a:off x="8820302" y="2432304"/>
            <a:ext cx="1217981" cy="33832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QA Verify</a:t>
            </a:r>
            <a:endParaRPr lang="en-US" sz="1250" dirty="0"/>
          </a:p>
        </p:txBody>
      </p:sp>
      <p:sp>
        <p:nvSpPr>
          <p:cNvPr id="33" name="Text 27"/>
          <p:cNvSpPr/>
          <p:nvPr/>
        </p:nvSpPr>
        <p:spPr>
          <a:xfrm>
            <a:off x="8820302" y="2788920"/>
            <a:ext cx="121798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release build + tag</a:t>
            </a:r>
            <a:endParaRPr lang="en-US" sz="950" dirty="0"/>
          </a:p>
        </p:txBody>
      </p:sp>
      <p:sp>
        <p:nvSpPr>
          <p:cNvPr id="34" name="Shape 28"/>
          <p:cNvSpPr/>
          <p:nvPr/>
        </p:nvSpPr>
        <p:spPr>
          <a:xfrm>
            <a:off x="10137038" y="2299716"/>
            <a:ext cx="204826" cy="182880"/>
          </a:xfrm>
          <a:prstGeom prst="rightArrow">
            <a:avLst/>
          </a:prstGeom>
          <a:solidFill>
            <a:srgbClr val="6B7280"/>
          </a:solidFill>
          <a:ln w="12700">
            <a:solidFill>
              <a:srgbClr val="6B7280"/>
            </a:solidFill>
            <a:prstDash val="solid"/>
          </a:ln>
        </p:spPr>
      </p:sp>
      <p:sp>
        <p:nvSpPr>
          <p:cNvPr id="35" name="Shape 29"/>
          <p:cNvSpPr/>
          <p:nvPr/>
        </p:nvSpPr>
        <p:spPr>
          <a:xfrm>
            <a:off x="10367467" y="1682496"/>
            <a:ext cx="1364285" cy="1417320"/>
          </a:xfrm>
          <a:prstGeom prst="roundRect">
            <a:avLst>
              <a:gd name="adj" fmla="val 5362"/>
            </a:avLst>
          </a:prstGeom>
          <a:solidFill>
            <a:srgbClr val="16A34A"/>
          </a:solidFill>
          <a:ln w="12700">
            <a:solidFill>
              <a:srgbClr val="FFFFFF"/>
            </a:solidFill>
            <a:prstDash val="solid"/>
          </a:ln>
          <a:effectLst>
            <a:outerShdw sx="100000" sy="100000" kx="0" ky="0" algn="bl" rotWithShape="0" blurRad="4.690732883485232e+78" dist="1.8762931533940924e+78" dir="5.484237660094465e+92">
              <a:srgbClr val="000000">
                <a:alpha val="1.4000000000000002e+94"/>
              </a:srgbClr>
            </a:outerShdw>
          </a:effectLst>
        </p:spPr>
      </p:sp>
      <p:pic>
        <p:nvPicPr>
          <p:cNvPr id="36" name="Image 4" descr="C:\Users\Tabish.DESKTOP-AMHU6DL\AppData\Local\Temp\claude\C--Data-Apps-GitFlowPlus\670cb83e-903e-4a7a-8a42-3e26eddb1211\scratchpad\gfp-deck\icons\finish-flag.png">    </p:cNvPr>
          <p:cNvPicPr>
            <a:picLocks noChangeAspect="1"/>
          </p:cNvPicPr>
          <p:nvPr/>
        </p:nvPicPr>
        <p:blipFill>
          <a:blip r:embed="rId5"/>
          <a:stretch>
            <a:fillRect/>
          </a:stretch>
        </p:blipFill>
        <p:spPr>
          <a:xfrm>
            <a:off x="10775290" y="1810512"/>
            <a:ext cx="548640" cy="548640"/>
          </a:xfrm>
          <a:prstGeom prst="rect">
            <a:avLst/>
          </a:prstGeom>
        </p:spPr>
      </p:pic>
      <p:sp>
        <p:nvSpPr>
          <p:cNvPr id="37" name="Text 30"/>
          <p:cNvSpPr/>
          <p:nvPr/>
        </p:nvSpPr>
        <p:spPr>
          <a:xfrm>
            <a:off x="10440619" y="2432304"/>
            <a:ext cx="1217981" cy="33832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Release</a:t>
            </a:r>
            <a:endParaRPr lang="en-US" sz="1250" dirty="0"/>
          </a:p>
        </p:txBody>
      </p:sp>
      <p:sp>
        <p:nvSpPr>
          <p:cNvPr id="38" name="Text 31"/>
          <p:cNvSpPr/>
          <p:nvPr/>
        </p:nvSpPr>
        <p:spPr>
          <a:xfrm>
            <a:off x="10440619" y="2788920"/>
            <a:ext cx="121798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release finish</a:t>
            </a:r>
            <a:endParaRPr lang="en-US" sz="950" dirty="0"/>
          </a:p>
        </p:txBody>
      </p:sp>
      <p:sp>
        <p:nvSpPr>
          <p:cNvPr id="39" name="Text 32"/>
          <p:cNvSpPr/>
          <p:nvPr/>
        </p:nvSpPr>
        <p:spPr>
          <a:xfrm>
            <a:off x="3886200" y="3374136"/>
            <a:ext cx="7845552" cy="457200"/>
          </a:xfrm>
          <a:prstGeom prst="rect">
            <a:avLst/>
          </a:prstGeom>
          <a:noFill/>
          <a:ln/>
        </p:spPr>
        <p:txBody>
          <a:bodyPr wrap="square" lIns="0" tIns="0" rIns="0" bIns="0" rtlCol="0" anchor="ctr"/>
          <a:lstStyle/>
          <a:p>
            <a:pPr algn="ctr" indent="0" marL="0">
              <a:buNone/>
            </a:pPr>
            <a:r>
              <a:rPr lang="en-US" sz="1150" i="1" dirty="0">
                <a:solidFill>
                  <a:srgbClr val="6B7280"/>
                </a:solidFill>
                <a:latin typeface="Calibri" pitchFamily="34" charset="0"/>
                <a:ea typeface="Calibri" pitchFamily="34" charset="-122"/>
                <a:cs typeface="Calibri" pitchFamily="34" charset="-120"/>
              </a:rPr>
              <a:t>Development happens on feature branches (blue) · Integration &amp; QA happen on staging (purple/orange) · Release lands on main (green)</a:t>
            </a:r>
            <a:endParaRPr lang="en-US" sz="1150" dirty="0"/>
          </a:p>
        </p:txBody>
      </p:sp>
      <p:sp>
        <p:nvSpPr>
          <p:cNvPr id="40" name="Shape 33"/>
          <p:cNvSpPr/>
          <p:nvPr/>
        </p:nvSpPr>
        <p:spPr>
          <a:xfrm>
            <a:off x="3977640" y="4014216"/>
            <a:ext cx="164592" cy="164592"/>
          </a:xfrm>
          <a:prstGeom prst="roundRect">
            <a:avLst>
              <a:gd name="adj" fmla="val 22222"/>
            </a:avLst>
          </a:prstGeom>
          <a:solidFill>
            <a:srgbClr val="2563EB"/>
          </a:solidFill>
          <a:ln w="12700">
            <a:solidFill>
              <a:srgbClr val="2563EB"/>
            </a:solidFill>
            <a:prstDash val="solid"/>
          </a:ln>
        </p:spPr>
      </p:sp>
      <p:sp>
        <p:nvSpPr>
          <p:cNvPr id="41" name="Text 34"/>
          <p:cNvSpPr/>
          <p:nvPr/>
        </p:nvSpPr>
        <p:spPr>
          <a:xfrm>
            <a:off x="4215384" y="3977640"/>
            <a:ext cx="1417320" cy="23774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Development</a:t>
            </a:r>
            <a:endParaRPr lang="en-US" sz="1050" dirty="0"/>
          </a:p>
        </p:txBody>
      </p:sp>
      <p:sp>
        <p:nvSpPr>
          <p:cNvPr id="42" name="Shape 35"/>
          <p:cNvSpPr/>
          <p:nvPr/>
        </p:nvSpPr>
        <p:spPr>
          <a:xfrm>
            <a:off x="5806440" y="4014216"/>
            <a:ext cx="164592" cy="164592"/>
          </a:xfrm>
          <a:prstGeom prst="roundRect">
            <a:avLst>
              <a:gd name="adj" fmla="val 22222"/>
            </a:avLst>
          </a:prstGeom>
          <a:solidFill>
            <a:srgbClr val="7C3AED"/>
          </a:solidFill>
          <a:ln w="12700">
            <a:solidFill>
              <a:srgbClr val="7C3AED"/>
            </a:solidFill>
            <a:prstDash val="solid"/>
          </a:ln>
        </p:spPr>
      </p:sp>
      <p:sp>
        <p:nvSpPr>
          <p:cNvPr id="43" name="Text 36"/>
          <p:cNvSpPr/>
          <p:nvPr/>
        </p:nvSpPr>
        <p:spPr>
          <a:xfrm>
            <a:off x="6044184" y="3977640"/>
            <a:ext cx="1417320" cy="23774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Release Mgmt</a:t>
            </a:r>
            <a:endParaRPr lang="en-US" sz="1050" dirty="0"/>
          </a:p>
        </p:txBody>
      </p:sp>
      <p:sp>
        <p:nvSpPr>
          <p:cNvPr id="44" name="Shape 37"/>
          <p:cNvSpPr/>
          <p:nvPr/>
        </p:nvSpPr>
        <p:spPr>
          <a:xfrm>
            <a:off x="7635240" y="4014216"/>
            <a:ext cx="164592" cy="164592"/>
          </a:xfrm>
          <a:prstGeom prst="roundRect">
            <a:avLst>
              <a:gd name="adj" fmla="val 22222"/>
            </a:avLst>
          </a:prstGeom>
          <a:solidFill>
            <a:srgbClr val="EA580C"/>
          </a:solidFill>
          <a:ln w="12700">
            <a:solidFill>
              <a:srgbClr val="EA580C"/>
            </a:solidFill>
            <a:prstDash val="solid"/>
          </a:ln>
        </p:spPr>
      </p:sp>
      <p:sp>
        <p:nvSpPr>
          <p:cNvPr id="45" name="Text 38"/>
          <p:cNvSpPr/>
          <p:nvPr/>
        </p:nvSpPr>
        <p:spPr>
          <a:xfrm>
            <a:off x="7872984" y="3977640"/>
            <a:ext cx="1417320" cy="23774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QA</a:t>
            </a:r>
            <a:endParaRPr lang="en-US" sz="1050" dirty="0"/>
          </a:p>
        </p:txBody>
      </p:sp>
      <p:sp>
        <p:nvSpPr>
          <p:cNvPr id="46" name="Shape 39"/>
          <p:cNvSpPr/>
          <p:nvPr/>
        </p:nvSpPr>
        <p:spPr>
          <a:xfrm>
            <a:off x="9464040" y="4014216"/>
            <a:ext cx="164592" cy="164592"/>
          </a:xfrm>
          <a:prstGeom prst="roundRect">
            <a:avLst>
              <a:gd name="adj" fmla="val 22222"/>
            </a:avLst>
          </a:prstGeom>
          <a:solidFill>
            <a:srgbClr val="16A34A"/>
          </a:solidFill>
          <a:ln w="12700">
            <a:solidFill>
              <a:srgbClr val="16A34A"/>
            </a:solidFill>
            <a:prstDash val="solid"/>
          </a:ln>
        </p:spPr>
      </p:sp>
      <p:sp>
        <p:nvSpPr>
          <p:cNvPr id="47" name="Text 40"/>
          <p:cNvSpPr/>
          <p:nvPr/>
        </p:nvSpPr>
        <p:spPr>
          <a:xfrm>
            <a:off x="9701784" y="3977640"/>
            <a:ext cx="1417320" cy="23774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Production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2563EB"/>
                </a:solidFill>
                <a:latin typeface="Calibri" pitchFamily="34" charset="0"/>
                <a:ea typeface="Calibri" pitchFamily="34" charset="-122"/>
                <a:cs typeface="Calibri" pitchFamily="34" charset="-120"/>
              </a:rPr>
              <a:t>BRANCHING MODEL</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Branch Strategy — Three Permanent Branches</a:t>
            </a:r>
            <a:endParaRPr lang="en-US" sz="3000" dirty="0"/>
          </a:p>
        </p:txBody>
      </p:sp>
      <p:sp>
        <p:nvSpPr>
          <p:cNvPr id="4" name="Shape 2"/>
          <p:cNvSpPr/>
          <p:nvPr/>
        </p:nvSpPr>
        <p:spPr>
          <a:xfrm>
            <a:off x="457200" y="1225296"/>
            <a:ext cx="3246120" cy="1417320"/>
          </a:xfrm>
          <a:prstGeom prst="roundRect">
            <a:avLst>
              <a:gd name="adj" fmla="val 3871"/>
            </a:avLst>
          </a:prstGeom>
          <a:solidFill>
            <a:srgbClr val="F3F4F6"/>
          </a:solidFill>
          <a:ln w="9525">
            <a:solidFill>
              <a:srgbClr val="E5E7EB"/>
            </a:solidFill>
            <a:prstDash val="solid"/>
          </a:ln>
          <a:effectLst>
            <a:outerShdw sx="100000" sy="100000" kx="0" ky="0" algn="bl" rotWithShape="0" blurRad="5.957230762026245e+82" dist="2.3828923048104974e+82" dir="3.2905425960566786e+97">
              <a:srgbClr val="000000">
                <a:alpha val="1.4000000000000001e+99"/>
              </a:srgbClr>
            </a:outerShdw>
          </a:effectLst>
        </p:spPr>
      </p:sp>
      <p:sp>
        <p:nvSpPr>
          <p:cNvPr id="5" name="Text 3"/>
          <p:cNvSpPr/>
          <p:nvPr/>
        </p:nvSpPr>
        <p:spPr>
          <a:xfrm>
            <a:off x="621792" y="1335024"/>
            <a:ext cx="2916936" cy="256032"/>
          </a:xfrm>
          <a:prstGeom prst="rect">
            <a:avLst/>
          </a:prstGeom>
          <a:noFill/>
          <a:ln/>
        </p:spPr>
        <p:txBody>
          <a:bodyPr wrap="square" lIns="0" tIns="0" rIns="0" bIns="0" rtlCol="0" anchor="ctr"/>
          <a:lstStyle/>
          <a:p>
            <a:pPr indent="0" marL="0">
              <a:buNone/>
            </a:pPr>
            <a:r>
              <a:rPr lang="en-US" sz="1100" b="1" spc="100" kern="0" dirty="0">
                <a:solidFill>
                  <a:srgbClr val="2563EB"/>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621792" y="1645920"/>
            <a:ext cx="2916936" cy="8869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Understand the role of each permanent branch</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Understand which branches are temporary and when they disappear</a:t>
            </a:r>
            <a:endParaRPr lang="en-US" sz="1200" dirty="0"/>
          </a:p>
        </p:txBody>
      </p:sp>
      <p:sp>
        <p:nvSpPr>
          <p:cNvPr id="7" name="Shape 5"/>
          <p:cNvSpPr/>
          <p:nvPr/>
        </p:nvSpPr>
        <p:spPr>
          <a:xfrm>
            <a:off x="457200" y="2788920"/>
            <a:ext cx="3246120" cy="2203704"/>
          </a:xfrm>
          <a:prstGeom prst="roundRect">
            <a:avLst>
              <a:gd name="adj" fmla="val 2490"/>
            </a:avLst>
          </a:prstGeom>
          <a:solidFill>
            <a:srgbClr val="F3F4F6"/>
          </a:solidFill>
          <a:ln w="9525">
            <a:solidFill>
              <a:srgbClr val="E5E7EB"/>
            </a:solidFill>
            <a:prstDash val="solid"/>
          </a:ln>
          <a:effectLst>
            <a:outerShdw sx="100000" sy="100000" kx="0" ky="0" algn="bl" rotWithShape="0" blurRad="7.565683067773332e+86" dist="3.0262732271093317e+86" dir="1.9743255576340073e+102">
              <a:srgbClr val="000000">
                <a:alpha val="1.4000000000000002e+104"/>
              </a:srgbClr>
            </a:outerShdw>
          </a:effectLst>
        </p:spPr>
      </p:sp>
      <p:sp>
        <p:nvSpPr>
          <p:cNvPr id="8" name="Text 6"/>
          <p:cNvSpPr/>
          <p:nvPr/>
        </p:nvSpPr>
        <p:spPr>
          <a:xfrm>
            <a:off x="621792" y="2898648"/>
            <a:ext cx="2916936" cy="256032"/>
          </a:xfrm>
          <a:prstGeom prst="rect">
            <a:avLst/>
          </a:prstGeom>
          <a:noFill/>
          <a:ln/>
        </p:spPr>
        <p:txBody>
          <a:bodyPr wrap="square" lIns="0" tIns="0" rIns="0" bIns="0" rtlCol="0" anchor="ctr"/>
          <a:lstStyle/>
          <a:p>
            <a:pPr indent="0" marL="0">
              <a:buNone/>
            </a:pPr>
            <a:r>
              <a:rPr lang="en-US" sz="1100" b="1" spc="100" kern="0" dirty="0">
                <a:solidFill>
                  <a:srgbClr val="2563EB"/>
                </a:solidFill>
                <a:latin typeface="Calibri" pitchFamily="34" charset="0"/>
                <a:ea typeface="Calibri" pitchFamily="34" charset="-122"/>
                <a:cs typeface="Calibri" pitchFamily="34" charset="-120"/>
              </a:rPr>
              <a:t>KEY NOTES</a:t>
            </a:r>
            <a:endParaRPr lang="en-US" sz="1100" dirty="0"/>
          </a:p>
        </p:txBody>
      </p:sp>
      <p:sp>
        <p:nvSpPr>
          <p:cNvPr id="9" name="Text 7"/>
          <p:cNvSpPr/>
          <p:nvPr/>
        </p:nvSpPr>
        <p:spPr>
          <a:xfrm>
            <a:off x="621792" y="3209544"/>
            <a:ext cx="2916936" cy="167335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develop is NOT part of the release lifecycle — it is a scratch space for unit testing only</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staging is where the release lifecycle actually begins and ends</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main only ever receives a merge from release finish — never a direct push</a:t>
            </a:r>
            <a:endParaRPr lang="en-US" sz="1150" dirty="0"/>
          </a:p>
        </p:txBody>
      </p:sp>
      <p:sp>
        <p:nvSpPr>
          <p:cNvPr id="10" name="Shape 8"/>
          <p:cNvSpPr/>
          <p:nvPr/>
        </p:nvSpPr>
        <p:spPr>
          <a:xfrm>
            <a:off x="457200" y="5120640"/>
            <a:ext cx="11274552" cy="1188720"/>
          </a:xfrm>
          <a:prstGeom prst="roundRect">
            <a:avLst>
              <a:gd name="adj" fmla="val 4615"/>
            </a:avLst>
          </a:prstGeom>
          <a:solidFill>
            <a:srgbClr val="0F172A"/>
          </a:solidFill>
          <a:ln w="12700">
            <a:solidFill>
              <a:srgbClr val="0F172A"/>
            </a:solidFill>
            <a:prstDash val="solid"/>
          </a:ln>
          <a:effectLst>
            <a:outerShdw sx="100000" sy="100000" kx="0" ky="0" algn="bl" rotWithShape="0" blurRad="9.608417496072131e+90" dist="3.8433669984288512e+90" dir="1.1845953345804043e+107">
              <a:srgbClr val="000000">
                <a:alpha val="1.4e+109"/>
              </a:srgbClr>
            </a:outerShdw>
          </a:effectLst>
        </p:spPr>
      </p:sp>
      <p:sp>
        <p:nvSpPr>
          <p:cNvPr id="11" name="Text 9"/>
          <p:cNvSpPr/>
          <p:nvPr/>
        </p:nvSpPr>
        <p:spPr>
          <a:xfrm>
            <a:off x="685800" y="5212080"/>
            <a:ext cx="10817352" cy="237744"/>
          </a:xfrm>
          <a:prstGeom prst="rect">
            <a:avLst/>
          </a:prstGeom>
          <a:noFill/>
          <a:ln/>
        </p:spPr>
        <p:txBody>
          <a:bodyPr wrap="square" lIns="0" tIns="0" rIns="0" bIns="0" rtlCol="0" anchor="ctr"/>
          <a:lstStyle/>
          <a:p>
            <a:pPr indent="0" marL="0">
              <a:buNone/>
            </a:pPr>
            <a:r>
              <a:rPr lang="en-US" sz="1000" b="1" spc="100" kern="0" dirty="0">
                <a:solidFill>
                  <a:srgbClr val="93C5FD"/>
                </a:solidFill>
                <a:latin typeface="Calibri" pitchFamily="34" charset="0"/>
                <a:ea typeface="Calibri" pitchFamily="34" charset="-122"/>
                <a:cs typeface="Calibri" pitchFamily="34" charset="-120"/>
              </a:rPr>
              <a:t>BRANCH INSPECTION</a:t>
            </a:r>
            <a:endParaRPr lang="en-US" sz="1000" dirty="0"/>
          </a:p>
        </p:txBody>
      </p:sp>
      <p:sp>
        <p:nvSpPr>
          <p:cNvPr id="12" name="Text 10"/>
          <p:cNvSpPr/>
          <p:nvPr/>
        </p:nvSpPr>
        <p:spPr>
          <a:xfrm>
            <a:off x="685800" y="5504688"/>
            <a:ext cx="10817352" cy="694944"/>
          </a:xfrm>
          <a:prstGeom prst="rect">
            <a:avLst/>
          </a:prstGeom>
          <a:noFill/>
          <a:ln/>
        </p:spPr>
        <p:txBody>
          <a:bodyPr wrap="square" lIns="0" tIns="0" rIns="0" bIns="0" rtlCol="0" anchor="t"/>
          <a:lstStyle/>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doctor</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branch --list</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status</a:t>
            </a:r>
            <a:endParaRPr lang="en-US" sz="1250" dirty="0"/>
          </a:p>
        </p:txBody>
      </p:sp>
      <p:sp>
        <p:nvSpPr>
          <p:cNvPr id="13" name="Text 11"/>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14" name="Text 12"/>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15" name="Shape 13"/>
          <p:cNvSpPr/>
          <p:nvPr/>
        </p:nvSpPr>
        <p:spPr>
          <a:xfrm>
            <a:off x="5623560" y="1417320"/>
            <a:ext cx="5925312" cy="0"/>
          </a:xfrm>
          <a:prstGeom prst="line">
            <a:avLst/>
          </a:prstGeom>
          <a:noFill/>
          <a:ln w="38100">
            <a:solidFill>
              <a:srgbClr val="16A34A"/>
            </a:solidFill>
            <a:prstDash val="solid"/>
          </a:ln>
        </p:spPr>
      </p:sp>
      <p:sp>
        <p:nvSpPr>
          <p:cNvPr id="16" name="Text 14"/>
          <p:cNvSpPr/>
          <p:nvPr/>
        </p:nvSpPr>
        <p:spPr>
          <a:xfrm>
            <a:off x="3886200" y="1243584"/>
            <a:ext cx="1691640" cy="292608"/>
          </a:xfrm>
          <a:prstGeom prst="rect">
            <a:avLst/>
          </a:prstGeom>
          <a:noFill/>
          <a:ln/>
        </p:spPr>
        <p:txBody>
          <a:bodyPr wrap="square" lIns="0" tIns="0" rIns="0" bIns="0" rtlCol="0" anchor="ctr"/>
          <a:lstStyle/>
          <a:p>
            <a:pPr algn="r" indent="0" marL="0">
              <a:buNone/>
            </a:pPr>
            <a:r>
              <a:rPr lang="en-US" sz="1100" b="1" dirty="0">
                <a:solidFill>
                  <a:srgbClr val="16A34A"/>
                </a:solidFill>
                <a:latin typeface="Calibri" pitchFamily="34" charset="0"/>
                <a:ea typeface="Calibri" pitchFamily="34" charset="-122"/>
                <a:cs typeface="Calibri" pitchFamily="34" charset="-120"/>
              </a:rPr>
              <a:t>main (production)</a:t>
            </a:r>
            <a:endParaRPr lang="en-US" sz="1100" dirty="0"/>
          </a:p>
        </p:txBody>
      </p:sp>
      <p:sp>
        <p:nvSpPr>
          <p:cNvPr id="17" name="Shape 15"/>
          <p:cNvSpPr/>
          <p:nvPr/>
        </p:nvSpPr>
        <p:spPr>
          <a:xfrm>
            <a:off x="5623560" y="2331720"/>
            <a:ext cx="5925312" cy="0"/>
          </a:xfrm>
          <a:prstGeom prst="line">
            <a:avLst/>
          </a:prstGeom>
          <a:noFill/>
          <a:ln w="38100">
            <a:solidFill>
              <a:srgbClr val="7C3AED"/>
            </a:solidFill>
            <a:prstDash val="solid"/>
          </a:ln>
        </p:spPr>
      </p:sp>
      <p:sp>
        <p:nvSpPr>
          <p:cNvPr id="18" name="Text 16"/>
          <p:cNvSpPr/>
          <p:nvPr/>
        </p:nvSpPr>
        <p:spPr>
          <a:xfrm>
            <a:off x="3886200" y="2157984"/>
            <a:ext cx="1691640" cy="292608"/>
          </a:xfrm>
          <a:prstGeom prst="rect">
            <a:avLst/>
          </a:prstGeom>
          <a:noFill/>
          <a:ln/>
        </p:spPr>
        <p:txBody>
          <a:bodyPr wrap="square" lIns="0" tIns="0" rIns="0" bIns="0" rtlCol="0" anchor="ctr"/>
          <a:lstStyle/>
          <a:p>
            <a:pPr algn="r" indent="0" marL="0">
              <a:buNone/>
            </a:pPr>
            <a:r>
              <a:rPr lang="en-US" sz="1100" b="1" dirty="0">
                <a:solidFill>
                  <a:srgbClr val="7C3AED"/>
                </a:solidFill>
                <a:latin typeface="Calibri" pitchFamily="34" charset="0"/>
                <a:ea typeface="Calibri" pitchFamily="34" charset="-122"/>
                <a:cs typeface="Calibri" pitchFamily="34" charset="-120"/>
              </a:rPr>
              <a:t>staging (release line)</a:t>
            </a:r>
            <a:endParaRPr lang="en-US" sz="1100" dirty="0"/>
          </a:p>
        </p:txBody>
      </p:sp>
      <p:sp>
        <p:nvSpPr>
          <p:cNvPr id="19" name="Shape 17"/>
          <p:cNvSpPr/>
          <p:nvPr/>
        </p:nvSpPr>
        <p:spPr>
          <a:xfrm>
            <a:off x="5623560" y="3246120"/>
            <a:ext cx="5925312" cy="0"/>
          </a:xfrm>
          <a:prstGeom prst="line">
            <a:avLst/>
          </a:prstGeom>
          <a:noFill/>
          <a:ln w="38100">
            <a:solidFill>
              <a:srgbClr val="2563EB"/>
            </a:solidFill>
            <a:prstDash val="solid"/>
          </a:ln>
        </p:spPr>
      </p:sp>
      <p:sp>
        <p:nvSpPr>
          <p:cNvPr id="20" name="Text 18"/>
          <p:cNvSpPr/>
          <p:nvPr/>
        </p:nvSpPr>
        <p:spPr>
          <a:xfrm>
            <a:off x="3886200" y="3072384"/>
            <a:ext cx="1691640" cy="292608"/>
          </a:xfrm>
          <a:prstGeom prst="rect">
            <a:avLst/>
          </a:prstGeom>
          <a:noFill/>
          <a:ln/>
        </p:spPr>
        <p:txBody>
          <a:bodyPr wrap="square" lIns="0" tIns="0" rIns="0" bIns="0" rtlCol="0" anchor="ctr"/>
          <a:lstStyle/>
          <a:p>
            <a:pPr algn="r" indent="0" marL="0">
              <a:buNone/>
            </a:pPr>
            <a:r>
              <a:rPr lang="en-US" sz="1100" b="1" dirty="0">
                <a:solidFill>
                  <a:srgbClr val="2563EB"/>
                </a:solidFill>
                <a:latin typeface="Calibri" pitchFamily="34" charset="0"/>
                <a:ea typeface="Calibri" pitchFamily="34" charset="-122"/>
                <a:cs typeface="Calibri" pitchFamily="34" charset="-120"/>
              </a:rPr>
              <a:t>develop (unit test only)</a:t>
            </a:r>
            <a:endParaRPr lang="en-US" sz="1100" dirty="0"/>
          </a:p>
        </p:txBody>
      </p:sp>
      <p:sp>
        <p:nvSpPr>
          <p:cNvPr id="21" name="Shape 19"/>
          <p:cNvSpPr/>
          <p:nvPr/>
        </p:nvSpPr>
        <p:spPr>
          <a:xfrm>
            <a:off x="5623560" y="4160520"/>
            <a:ext cx="5925312" cy="0"/>
          </a:xfrm>
          <a:prstGeom prst="line">
            <a:avLst/>
          </a:prstGeom>
          <a:noFill/>
          <a:ln w="25400">
            <a:solidFill>
              <a:srgbClr val="2563EB"/>
            </a:solidFill>
            <a:prstDash val="dash"/>
          </a:ln>
        </p:spPr>
      </p:sp>
      <p:sp>
        <p:nvSpPr>
          <p:cNvPr id="22" name="Text 20"/>
          <p:cNvSpPr/>
          <p:nvPr/>
        </p:nvSpPr>
        <p:spPr>
          <a:xfrm>
            <a:off x="3886200" y="3986784"/>
            <a:ext cx="1691640" cy="292608"/>
          </a:xfrm>
          <a:prstGeom prst="rect">
            <a:avLst/>
          </a:prstGeom>
          <a:noFill/>
          <a:ln/>
        </p:spPr>
        <p:txBody>
          <a:bodyPr wrap="square" lIns="0" tIns="0" rIns="0" bIns="0" rtlCol="0" anchor="ctr"/>
          <a:lstStyle/>
          <a:p>
            <a:pPr algn="r" indent="0" marL="0">
              <a:buNone/>
            </a:pPr>
            <a:r>
              <a:rPr lang="en-US" sz="1100" b="1" dirty="0">
                <a:solidFill>
                  <a:srgbClr val="2563EB"/>
                </a:solidFill>
                <a:latin typeface="Calibri" pitchFamily="34" charset="0"/>
                <a:ea typeface="Calibri" pitchFamily="34" charset="-122"/>
                <a:cs typeface="Calibri" pitchFamily="34" charset="-120"/>
              </a:rPr>
              <a:t>feature/LOGIN</a:t>
            </a:r>
            <a:endParaRPr lang="en-US" sz="1100" dirty="0"/>
          </a:p>
        </p:txBody>
      </p:sp>
      <p:sp>
        <p:nvSpPr>
          <p:cNvPr id="23" name="Shape 21"/>
          <p:cNvSpPr/>
          <p:nvPr/>
        </p:nvSpPr>
        <p:spPr>
          <a:xfrm>
            <a:off x="2048256" y="1362456"/>
            <a:ext cx="109728" cy="109728"/>
          </a:xfrm>
          <a:prstGeom prst="ellipse">
            <a:avLst/>
          </a:prstGeom>
          <a:solidFill>
            <a:srgbClr val="16A34A"/>
          </a:solidFill>
          <a:ln w="12700">
            <a:solidFill>
              <a:srgbClr val="FFFFFF"/>
            </a:solidFill>
            <a:prstDash val="solid"/>
          </a:ln>
        </p:spPr>
      </p:sp>
      <p:sp>
        <p:nvSpPr>
          <p:cNvPr id="24" name="Shape 22"/>
          <p:cNvSpPr/>
          <p:nvPr/>
        </p:nvSpPr>
        <p:spPr>
          <a:xfrm>
            <a:off x="4151376" y="1362456"/>
            <a:ext cx="109728" cy="109728"/>
          </a:xfrm>
          <a:prstGeom prst="ellipse">
            <a:avLst/>
          </a:prstGeom>
          <a:solidFill>
            <a:srgbClr val="16A34A"/>
          </a:solidFill>
          <a:ln w="12700">
            <a:solidFill>
              <a:srgbClr val="FFFFFF"/>
            </a:solidFill>
            <a:prstDash val="solid"/>
          </a:ln>
        </p:spPr>
      </p:sp>
      <p:sp>
        <p:nvSpPr>
          <p:cNvPr id="25" name="Shape 23"/>
          <p:cNvSpPr/>
          <p:nvPr/>
        </p:nvSpPr>
        <p:spPr>
          <a:xfrm>
            <a:off x="6254496" y="1362456"/>
            <a:ext cx="109728" cy="109728"/>
          </a:xfrm>
          <a:prstGeom prst="ellipse">
            <a:avLst/>
          </a:prstGeom>
          <a:solidFill>
            <a:srgbClr val="16A34A"/>
          </a:solidFill>
          <a:ln w="12700">
            <a:solidFill>
              <a:srgbClr val="FFFFFF"/>
            </a:solidFill>
            <a:prstDash val="solid"/>
          </a:ln>
        </p:spPr>
      </p:sp>
      <p:sp>
        <p:nvSpPr>
          <p:cNvPr id="26" name="Shape 24"/>
          <p:cNvSpPr/>
          <p:nvPr/>
        </p:nvSpPr>
        <p:spPr>
          <a:xfrm>
            <a:off x="8357616" y="1362456"/>
            <a:ext cx="109728" cy="109728"/>
          </a:xfrm>
          <a:prstGeom prst="ellipse">
            <a:avLst/>
          </a:prstGeom>
          <a:solidFill>
            <a:srgbClr val="16A34A"/>
          </a:solidFill>
          <a:ln w="12700">
            <a:solidFill>
              <a:srgbClr val="FFFFFF"/>
            </a:solidFill>
            <a:prstDash val="solid"/>
          </a:ln>
        </p:spPr>
      </p:sp>
      <p:sp>
        <p:nvSpPr>
          <p:cNvPr id="27" name="Shape 25"/>
          <p:cNvSpPr/>
          <p:nvPr/>
        </p:nvSpPr>
        <p:spPr>
          <a:xfrm>
            <a:off x="10277856" y="1362456"/>
            <a:ext cx="109728" cy="109728"/>
          </a:xfrm>
          <a:prstGeom prst="ellipse">
            <a:avLst/>
          </a:prstGeom>
          <a:solidFill>
            <a:srgbClr val="16A34A"/>
          </a:solidFill>
          <a:ln w="12700">
            <a:solidFill>
              <a:srgbClr val="FFFFFF"/>
            </a:solidFill>
            <a:prstDash val="solid"/>
          </a:ln>
        </p:spPr>
      </p:sp>
      <p:sp>
        <p:nvSpPr>
          <p:cNvPr id="28" name="Shape 26"/>
          <p:cNvSpPr/>
          <p:nvPr/>
        </p:nvSpPr>
        <p:spPr>
          <a:xfrm>
            <a:off x="1682496" y="2276856"/>
            <a:ext cx="109728" cy="109728"/>
          </a:xfrm>
          <a:prstGeom prst="ellipse">
            <a:avLst/>
          </a:prstGeom>
          <a:solidFill>
            <a:srgbClr val="7C3AED"/>
          </a:solidFill>
          <a:ln w="12700">
            <a:solidFill>
              <a:srgbClr val="FFFFFF"/>
            </a:solidFill>
            <a:prstDash val="solid"/>
          </a:ln>
        </p:spPr>
      </p:sp>
      <p:sp>
        <p:nvSpPr>
          <p:cNvPr id="29" name="Shape 27"/>
          <p:cNvSpPr/>
          <p:nvPr/>
        </p:nvSpPr>
        <p:spPr>
          <a:xfrm>
            <a:off x="3054096" y="2276856"/>
            <a:ext cx="109728" cy="109728"/>
          </a:xfrm>
          <a:prstGeom prst="ellipse">
            <a:avLst/>
          </a:prstGeom>
          <a:solidFill>
            <a:srgbClr val="7C3AED"/>
          </a:solidFill>
          <a:ln w="12700">
            <a:solidFill>
              <a:srgbClr val="FFFFFF"/>
            </a:solidFill>
            <a:prstDash val="solid"/>
          </a:ln>
        </p:spPr>
      </p:sp>
      <p:sp>
        <p:nvSpPr>
          <p:cNvPr id="30" name="Shape 28"/>
          <p:cNvSpPr/>
          <p:nvPr/>
        </p:nvSpPr>
        <p:spPr>
          <a:xfrm>
            <a:off x="4517136" y="2276856"/>
            <a:ext cx="109728" cy="109728"/>
          </a:xfrm>
          <a:prstGeom prst="ellipse">
            <a:avLst/>
          </a:prstGeom>
          <a:solidFill>
            <a:srgbClr val="7C3AED"/>
          </a:solidFill>
          <a:ln w="12700">
            <a:solidFill>
              <a:srgbClr val="FFFFFF"/>
            </a:solidFill>
            <a:prstDash val="solid"/>
          </a:ln>
        </p:spPr>
      </p:sp>
      <p:sp>
        <p:nvSpPr>
          <p:cNvPr id="31" name="Shape 29"/>
          <p:cNvSpPr/>
          <p:nvPr/>
        </p:nvSpPr>
        <p:spPr>
          <a:xfrm>
            <a:off x="6254496" y="2276856"/>
            <a:ext cx="109728" cy="109728"/>
          </a:xfrm>
          <a:prstGeom prst="ellipse">
            <a:avLst/>
          </a:prstGeom>
          <a:solidFill>
            <a:srgbClr val="7C3AED"/>
          </a:solidFill>
          <a:ln w="12700">
            <a:solidFill>
              <a:srgbClr val="FFFFFF"/>
            </a:solidFill>
            <a:prstDash val="solid"/>
          </a:ln>
        </p:spPr>
      </p:sp>
      <p:sp>
        <p:nvSpPr>
          <p:cNvPr id="32" name="Shape 30"/>
          <p:cNvSpPr/>
          <p:nvPr/>
        </p:nvSpPr>
        <p:spPr>
          <a:xfrm>
            <a:off x="7808976" y="2276856"/>
            <a:ext cx="109728" cy="109728"/>
          </a:xfrm>
          <a:prstGeom prst="ellipse">
            <a:avLst/>
          </a:prstGeom>
          <a:solidFill>
            <a:srgbClr val="7C3AED"/>
          </a:solidFill>
          <a:ln w="12700">
            <a:solidFill>
              <a:srgbClr val="FFFFFF"/>
            </a:solidFill>
            <a:prstDash val="solid"/>
          </a:ln>
        </p:spPr>
      </p:sp>
      <p:sp>
        <p:nvSpPr>
          <p:cNvPr id="33" name="Shape 31"/>
          <p:cNvSpPr/>
          <p:nvPr/>
        </p:nvSpPr>
        <p:spPr>
          <a:xfrm>
            <a:off x="9546336" y="2276856"/>
            <a:ext cx="109728" cy="109728"/>
          </a:xfrm>
          <a:prstGeom prst="ellipse">
            <a:avLst/>
          </a:prstGeom>
          <a:solidFill>
            <a:srgbClr val="7C3AED"/>
          </a:solidFill>
          <a:ln w="12700">
            <a:solidFill>
              <a:srgbClr val="FFFFFF"/>
            </a:solidFill>
            <a:prstDash val="solid"/>
          </a:ln>
        </p:spPr>
      </p:sp>
      <p:sp>
        <p:nvSpPr>
          <p:cNvPr id="34" name="Shape 32"/>
          <p:cNvSpPr/>
          <p:nvPr/>
        </p:nvSpPr>
        <p:spPr>
          <a:xfrm>
            <a:off x="1682496" y="3191256"/>
            <a:ext cx="109728" cy="109728"/>
          </a:xfrm>
          <a:prstGeom prst="ellipse">
            <a:avLst/>
          </a:prstGeom>
          <a:solidFill>
            <a:srgbClr val="2563EB"/>
          </a:solidFill>
          <a:ln w="12700">
            <a:solidFill>
              <a:srgbClr val="FFFFFF"/>
            </a:solidFill>
            <a:prstDash val="solid"/>
          </a:ln>
        </p:spPr>
      </p:sp>
      <p:sp>
        <p:nvSpPr>
          <p:cNvPr id="35" name="Shape 33"/>
          <p:cNvSpPr/>
          <p:nvPr/>
        </p:nvSpPr>
        <p:spPr>
          <a:xfrm>
            <a:off x="2505456" y="3191256"/>
            <a:ext cx="109728" cy="109728"/>
          </a:xfrm>
          <a:prstGeom prst="ellipse">
            <a:avLst/>
          </a:prstGeom>
          <a:solidFill>
            <a:srgbClr val="2563EB"/>
          </a:solidFill>
          <a:ln w="12700">
            <a:solidFill>
              <a:srgbClr val="FFFFFF"/>
            </a:solidFill>
            <a:prstDash val="solid"/>
          </a:ln>
        </p:spPr>
      </p:sp>
      <p:sp>
        <p:nvSpPr>
          <p:cNvPr id="36" name="Shape 34"/>
          <p:cNvSpPr/>
          <p:nvPr/>
        </p:nvSpPr>
        <p:spPr>
          <a:xfrm>
            <a:off x="3328416" y="3191256"/>
            <a:ext cx="109728" cy="109728"/>
          </a:xfrm>
          <a:prstGeom prst="ellipse">
            <a:avLst/>
          </a:prstGeom>
          <a:solidFill>
            <a:srgbClr val="2563EB"/>
          </a:solidFill>
          <a:ln w="12700">
            <a:solidFill>
              <a:srgbClr val="FFFFFF"/>
            </a:solidFill>
            <a:prstDash val="solid"/>
          </a:ln>
        </p:spPr>
      </p:sp>
      <p:sp>
        <p:nvSpPr>
          <p:cNvPr id="37" name="Shape 35"/>
          <p:cNvSpPr/>
          <p:nvPr/>
        </p:nvSpPr>
        <p:spPr>
          <a:xfrm>
            <a:off x="4151376" y="3191256"/>
            <a:ext cx="109728" cy="109728"/>
          </a:xfrm>
          <a:prstGeom prst="ellipse">
            <a:avLst/>
          </a:prstGeom>
          <a:solidFill>
            <a:srgbClr val="2563EB"/>
          </a:solidFill>
          <a:ln w="12700">
            <a:solidFill>
              <a:srgbClr val="FFFFFF"/>
            </a:solidFill>
            <a:prstDash val="solid"/>
          </a:ln>
        </p:spPr>
      </p:sp>
      <p:sp>
        <p:nvSpPr>
          <p:cNvPr id="38" name="Shape 36"/>
          <p:cNvSpPr/>
          <p:nvPr/>
        </p:nvSpPr>
        <p:spPr>
          <a:xfrm>
            <a:off x="3054096" y="4105656"/>
            <a:ext cx="109728" cy="109728"/>
          </a:xfrm>
          <a:prstGeom prst="ellipse">
            <a:avLst/>
          </a:prstGeom>
          <a:solidFill>
            <a:srgbClr val="2563EB"/>
          </a:solidFill>
          <a:ln w="12700">
            <a:solidFill>
              <a:srgbClr val="FFFFFF"/>
            </a:solidFill>
            <a:prstDash val="solid"/>
          </a:ln>
        </p:spPr>
      </p:sp>
      <p:sp>
        <p:nvSpPr>
          <p:cNvPr id="39" name="Shape 37"/>
          <p:cNvSpPr/>
          <p:nvPr/>
        </p:nvSpPr>
        <p:spPr>
          <a:xfrm>
            <a:off x="3785616" y="4105656"/>
            <a:ext cx="109728" cy="109728"/>
          </a:xfrm>
          <a:prstGeom prst="ellipse">
            <a:avLst/>
          </a:prstGeom>
          <a:solidFill>
            <a:srgbClr val="2563EB"/>
          </a:solidFill>
          <a:ln w="12700">
            <a:solidFill>
              <a:srgbClr val="FFFFFF"/>
            </a:solidFill>
            <a:prstDash val="solid"/>
          </a:ln>
        </p:spPr>
      </p:sp>
      <p:sp>
        <p:nvSpPr>
          <p:cNvPr id="40" name="Shape 38"/>
          <p:cNvSpPr/>
          <p:nvPr/>
        </p:nvSpPr>
        <p:spPr>
          <a:xfrm>
            <a:off x="1737360" y="2331720"/>
            <a:ext cx="0" cy="-914400"/>
          </a:xfrm>
          <a:prstGeom prst="line">
            <a:avLst/>
          </a:prstGeom>
          <a:noFill/>
          <a:ln w="12700">
            <a:solidFill>
              <a:srgbClr val="6B7280"/>
            </a:solidFill>
            <a:prstDash val="dash"/>
          </a:ln>
        </p:spPr>
      </p:sp>
      <p:sp>
        <p:nvSpPr>
          <p:cNvPr id="41" name="Shape 39"/>
          <p:cNvSpPr/>
          <p:nvPr/>
        </p:nvSpPr>
        <p:spPr>
          <a:xfrm>
            <a:off x="1737360" y="3246120"/>
            <a:ext cx="0" cy="-914400"/>
          </a:xfrm>
          <a:prstGeom prst="line">
            <a:avLst/>
          </a:prstGeom>
          <a:noFill/>
          <a:ln w="12700">
            <a:solidFill>
              <a:srgbClr val="6B7280"/>
            </a:solidFill>
            <a:prstDash val="dash"/>
          </a:ln>
        </p:spPr>
      </p:sp>
      <p:sp>
        <p:nvSpPr>
          <p:cNvPr id="42" name="Shape 40"/>
          <p:cNvSpPr/>
          <p:nvPr/>
        </p:nvSpPr>
        <p:spPr>
          <a:xfrm>
            <a:off x="3108960" y="2331720"/>
            <a:ext cx="0" cy="1828800"/>
          </a:xfrm>
          <a:prstGeom prst="line">
            <a:avLst/>
          </a:prstGeom>
          <a:noFill/>
          <a:ln w="12700">
            <a:solidFill>
              <a:srgbClr val="6B7280"/>
            </a:solidFill>
            <a:prstDash val="dash"/>
          </a:ln>
        </p:spPr>
      </p:sp>
      <p:sp>
        <p:nvSpPr>
          <p:cNvPr id="43" name="Shape 41"/>
          <p:cNvSpPr/>
          <p:nvPr/>
        </p:nvSpPr>
        <p:spPr>
          <a:xfrm>
            <a:off x="3840480" y="4160520"/>
            <a:ext cx="0" cy="-1828800"/>
          </a:xfrm>
          <a:prstGeom prst="line">
            <a:avLst/>
          </a:prstGeom>
          <a:noFill/>
          <a:ln w="19050">
            <a:solidFill>
              <a:srgbClr val="6B7280"/>
            </a:solidFill>
            <a:prstDash val="solid"/>
          </a:ln>
        </p:spPr>
      </p:sp>
      <p:sp>
        <p:nvSpPr>
          <p:cNvPr id="44" name="Shape 42"/>
          <p:cNvSpPr/>
          <p:nvPr/>
        </p:nvSpPr>
        <p:spPr>
          <a:xfrm>
            <a:off x="9601200" y="2331720"/>
            <a:ext cx="0" cy="-914400"/>
          </a:xfrm>
          <a:prstGeom prst="line">
            <a:avLst/>
          </a:prstGeom>
          <a:noFill/>
          <a:ln w="19050">
            <a:solidFill>
              <a:srgbClr val="6B7280"/>
            </a:solidFill>
            <a:prstDash val="solid"/>
          </a:ln>
        </p:spPr>
      </p:sp>
      <p:sp>
        <p:nvSpPr>
          <p:cNvPr id="45" name="Text 43"/>
          <p:cNvSpPr/>
          <p:nvPr/>
        </p:nvSpPr>
        <p:spPr>
          <a:xfrm>
            <a:off x="3886200" y="4709160"/>
            <a:ext cx="7845552" cy="36576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main and staging both branch from a common root; develop is a sibling for unit testing and never receives release merges.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2563EB"/>
                </a:solidFill>
                <a:latin typeface="Calibri" pitchFamily="34" charset="0"/>
                <a:ea typeface="Calibri" pitchFamily="34" charset="-122"/>
                <a:cs typeface="Calibri" pitchFamily="34" charset="-120"/>
              </a:rPr>
              <a:t>DEVELOPER WORKFLOW</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Developer Workflow — From Idea to Pull Request</a:t>
            </a:r>
            <a:endParaRPr lang="en-US" sz="3000" dirty="0"/>
          </a:p>
        </p:txBody>
      </p:sp>
      <p:sp>
        <p:nvSpPr>
          <p:cNvPr id="4" name="Shape 2"/>
          <p:cNvSpPr/>
          <p:nvPr/>
        </p:nvSpPr>
        <p:spPr>
          <a:xfrm>
            <a:off x="457200" y="1225296"/>
            <a:ext cx="3246120" cy="1417320"/>
          </a:xfrm>
          <a:prstGeom prst="roundRect">
            <a:avLst>
              <a:gd name="adj" fmla="val 3871"/>
            </a:avLst>
          </a:prstGeom>
          <a:solidFill>
            <a:srgbClr val="F3F4F6"/>
          </a:solidFill>
          <a:ln w="9525">
            <a:solidFill>
              <a:srgbClr val="E5E7EB"/>
            </a:solidFill>
            <a:prstDash val="solid"/>
          </a:ln>
          <a:effectLst>
            <a:outerShdw sx="100000" sy="100000" kx="0" ky="0" algn="bl" rotWithShape="0" blurRad="1.2202690220011606e+95" dist="4.8810760880046414e+94" dir="7.107572007482426e+111">
              <a:srgbClr val="000000">
                <a:alpha val="1.4e+114"/>
              </a:srgbClr>
            </a:outerShdw>
          </a:effectLst>
        </p:spPr>
      </p:sp>
      <p:sp>
        <p:nvSpPr>
          <p:cNvPr id="5" name="Text 3"/>
          <p:cNvSpPr/>
          <p:nvPr/>
        </p:nvSpPr>
        <p:spPr>
          <a:xfrm>
            <a:off x="621792" y="1335024"/>
            <a:ext cx="2916936" cy="256032"/>
          </a:xfrm>
          <a:prstGeom prst="rect">
            <a:avLst/>
          </a:prstGeom>
          <a:noFill/>
          <a:ln/>
        </p:spPr>
        <p:txBody>
          <a:bodyPr wrap="square" lIns="0" tIns="0" rIns="0" bIns="0" rtlCol="0" anchor="ctr"/>
          <a:lstStyle/>
          <a:p>
            <a:pPr indent="0" marL="0">
              <a:buNone/>
            </a:pPr>
            <a:r>
              <a:rPr lang="en-US" sz="1100" b="1" spc="100" kern="0" dirty="0">
                <a:solidFill>
                  <a:srgbClr val="2563EB"/>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621792" y="1645920"/>
            <a:ext cx="2916936" cy="8869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Learn the exact commands a developer runs for a new feature</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Understand that a developer never merges their own feature</a:t>
            </a:r>
            <a:endParaRPr lang="en-US" sz="1200" dirty="0"/>
          </a:p>
        </p:txBody>
      </p:sp>
      <p:sp>
        <p:nvSpPr>
          <p:cNvPr id="7" name="Shape 5"/>
          <p:cNvSpPr/>
          <p:nvPr/>
        </p:nvSpPr>
        <p:spPr>
          <a:xfrm>
            <a:off x="457200" y="2788920"/>
            <a:ext cx="3246120" cy="2203704"/>
          </a:xfrm>
          <a:prstGeom prst="roundRect">
            <a:avLst>
              <a:gd name="adj" fmla="val 2490"/>
            </a:avLst>
          </a:prstGeom>
          <a:solidFill>
            <a:srgbClr val="F3F4F6"/>
          </a:solidFill>
          <a:ln w="9525">
            <a:solidFill>
              <a:srgbClr val="E5E7EB"/>
            </a:solidFill>
            <a:prstDash val="solid"/>
          </a:ln>
          <a:effectLst>
            <a:outerShdw sx="100000" sy="100000" kx="0" ky="0" algn="bl" rotWithShape="0" blurRad="1.549741657941474e+99" dist="6.198966631765894e+98" dir="4.2645432044894554e+116">
              <a:srgbClr val="000000">
                <a:alpha val="1.4e+119"/>
              </a:srgbClr>
            </a:outerShdw>
          </a:effectLst>
        </p:spPr>
      </p:sp>
      <p:sp>
        <p:nvSpPr>
          <p:cNvPr id="8" name="Text 6"/>
          <p:cNvSpPr/>
          <p:nvPr/>
        </p:nvSpPr>
        <p:spPr>
          <a:xfrm>
            <a:off x="621792" y="2898648"/>
            <a:ext cx="2916936" cy="256032"/>
          </a:xfrm>
          <a:prstGeom prst="rect">
            <a:avLst/>
          </a:prstGeom>
          <a:noFill/>
          <a:ln/>
        </p:spPr>
        <p:txBody>
          <a:bodyPr wrap="square" lIns="0" tIns="0" rIns="0" bIns="0" rtlCol="0" anchor="ctr"/>
          <a:lstStyle/>
          <a:p>
            <a:pPr indent="0" marL="0">
              <a:buNone/>
            </a:pPr>
            <a:r>
              <a:rPr lang="en-US" sz="1100" b="1" spc="100" kern="0" dirty="0">
                <a:solidFill>
                  <a:srgbClr val="2563EB"/>
                </a:solidFill>
                <a:latin typeface="Calibri" pitchFamily="34" charset="0"/>
                <a:ea typeface="Calibri" pitchFamily="34" charset="-122"/>
                <a:cs typeface="Calibri" pitchFamily="34" charset="-120"/>
              </a:rPr>
              <a:t>KEY NOTES</a:t>
            </a:r>
            <a:endParaRPr lang="en-US" sz="1100" dirty="0"/>
          </a:p>
        </p:txBody>
      </p:sp>
      <p:sp>
        <p:nvSpPr>
          <p:cNvPr id="9" name="Text 7"/>
          <p:cNvSpPr/>
          <p:nvPr/>
        </p:nvSpPr>
        <p:spPr>
          <a:xfrm>
            <a:off x="621792" y="3209544"/>
            <a:ext cx="2916936" cy="167335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feature start auto-registers the feature in the Feature Registry as Created</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There is no feature finish — you commit, push, and open a pull request</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Only a Release Manager decides if/when a feature ships, via release feature add</a:t>
            </a:r>
            <a:endParaRPr lang="en-US" sz="1150" dirty="0"/>
          </a:p>
        </p:txBody>
      </p:sp>
      <p:sp>
        <p:nvSpPr>
          <p:cNvPr id="10" name="Shape 8"/>
          <p:cNvSpPr/>
          <p:nvPr/>
        </p:nvSpPr>
        <p:spPr>
          <a:xfrm>
            <a:off x="457200" y="5120640"/>
            <a:ext cx="11274552" cy="1188720"/>
          </a:xfrm>
          <a:prstGeom prst="roundRect">
            <a:avLst>
              <a:gd name="adj" fmla="val 4615"/>
            </a:avLst>
          </a:prstGeom>
          <a:solidFill>
            <a:srgbClr val="0F172A"/>
          </a:solidFill>
          <a:ln w="12700">
            <a:solidFill>
              <a:srgbClr val="0F172A"/>
            </a:solidFill>
            <a:prstDash val="solid"/>
          </a:ln>
          <a:effectLst>
            <a:outerShdw sx="100000" sy="100000" kx="0" ky="0" algn="bl" rotWithShape="0" blurRad="1.9681719055856718e+103" dist="7.872687622342685e+102" dir="2.5587259226936733e+121">
              <a:srgbClr val="000000">
                <a:alpha val="1.4e+124"/>
              </a:srgbClr>
            </a:outerShdw>
          </a:effectLst>
        </p:spPr>
      </p:sp>
      <p:sp>
        <p:nvSpPr>
          <p:cNvPr id="11" name="Text 9"/>
          <p:cNvSpPr/>
          <p:nvPr/>
        </p:nvSpPr>
        <p:spPr>
          <a:xfrm>
            <a:off x="685800" y="5212080"/>
            <a:ext cx="10817352" cy="237744"/>
          </a:xfrm>
          <a:prstGeom prst="rect">
            <a:avLst/>
          </a:prstGeom>
          <a:noFill/>
          <a:ln/>
        </p:spPr>
        <p:txBody>
          <a:bodyPr wrap="square" lIns="0" tIns="0" rIns="0" bIns="0" rtlCol="0" anchor="ctr"/>
          <a:lstStyle/>
          <a:p>
            <a:pPr indent="0" marL="0">
              <a:buNone/>
            </a:pPr>
            <a:r>
              <a:rPr lang="en-US" sz="1000" b="1" spc="100" kern="0" dirty="0">
                <a:solidFill>
                  <a:srgbClr val="93C5FD"/>
                </a:solidFill>
                <a:latin typeface="Calibri" pitchFamily="34" charset="0"/>
                <a:ea typeface="Calibri" pitchFamily="34" charset="-122"/>
                <a:cs typeface="Calibri" pitchFamily="34" charset="-120"/>
              </a:rPr>
              <a:t>TYPICAL DEVELOPER SESSION</a:t>
            </a:r>
            <a:endParaRPr lang="en-US" sz="1000" dirty="0"/>
          </a:p>
        </p:txBody>
      </p:sp>
      <p:sp>
        <p:nvSpPr>
          <p:cNvPr id="12" name="Text 10"/>
          <p:cNvSpPr/>
          <p:nvPr/>
        </p:nvSpPr>
        <p:spPr>
          <a:xfrm>
            <a:off x="685800" y="5504688"/>
            <a:ext cx="10817352" cy="694944"/>
          </a:xfrm>
          <a:prstGeom prst="rect">
            <a:avLst/>
          </a:prstGeom>
          <a:noFill/>
          <a:ln/>
        </p:spPr>
        <p:txBody>
          <a:bodyPr wrap="square" lIns="0" tIns="0" rIns="0" bIns="0" rtlCol="0" anchor="t"/>
          <a:lstStyle/>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feature start LOGIN</a:t>
            </a:r>
            <a:endParaRPr lang="en-US" sz="1250" dirty="0"/>
          </a:p>
          <a:p>
            <a:pPr indent="0" marL="0">
              <a:spcAft>
                <a:spcPts val="300"/>
              </a:spcAft>
              <a:buNone/>
            </a:pPr>
            <a:r>
              <a:rPr lang="en-US" sz="1250" dirty="0">
                <a:solidFill>
                  <a:srgbClr val="64748B"/>
                </a:solidFill>
                <a:latin typeface="Courier New" pitchFamily="34" charset="0"/>
                <a:ea typeface="Courier New" pitchFamily="34" charset="-122"/>
                <a:cs typeface="Courier New" pitchFamily="34" charset="-120"/>
              </a:rPr>
              <a:t># ... edit files, commit as usual ...</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add . &amp;&amp; git commit -m "Add login form"</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push -u origin feature/LOGIN</a:t>
            </a:r>
            <a:endParaRPr lang="en-US" sz="1250" dirty="0"/>
          </a:p>
          <a:p>
            <a:pPr indent="0" marL="0">
              <a:spcAft>
                <a:spcPts val="300"/>
              </a:spcAft>
              <a:buNone/>
            </a:pPr>
            <a:r>
              <a:rPr lang="en-US" sz="1250" dirty="0">
                <a:solidFill>
                  <a:srgbClr val="64748B"/>
                </a:solidFill>
                <a:latin typeface="Courier New" pitchFamily="34" charset="0"/>
                <a:ea typeface="Courier New" pitchFamily="34" charset="-122"/>
                <a:cs typeface="Courier New" pitchFamily="34" charset="-120"/>
              </a:rPr>
              <a:t># open a pull request for review</a:t>
            </a:r>
            <a:endParaRPr lang="en-US" sz="1250" dirty="0"/>
          </a:p>
        </p:txBody>
      </p:sp>
      <p:sp>
        <p:nvSpPr>
          <p:cNvPr id="13" name="Text 11"/>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14" name="Text 12"/>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15" name="Shape 13"/>
          <p:cNvSpPr/>
          <p:nvPr/>
        </p:nvSpPr>
        <p:spPr>
          <a:xfrm>
            <a:off x="3886200" y="1545336"/>
            <a:ext cx="1378915" cy="1554480"/>
          </a:xfrm>
          <a:prstGeom prst="roundRect">
            <a:avLst>
              <a:gd name="adj" fmla="val 5305"/>
            </a:avLst>
          </a:prstGeom>
          <a:solidFill>
            <a:srgbClr val="2563EB"/>
          </a:solidFill>
          <a:ln w="12700">
            <a:solidFill>
              <a:srgbClr val="FFFFFF"/>
            </a:solidFill>
            <a:prstDash val="solid"/>
          </a:ln>
          <a:effectLst>
            <a:outerShdw sx="100000" sy="100000" kx="0" ky="0" algn="bl" rotWithShape="0" blurRad="2.4995783200938032e+107" dist="9.998313280375211e+106" dir="1.535235553616204e+126">
              <a:srgbClr val="000000">
                <a:alpha val="1.4e+129"/>
              </a:srgbClr>
            </a:outerShdw>
          </a:effectLst>
        </p:spPr>
      </p:sp>
      <p:pic>
        <p:nvPicPr>
          <p:cNvPr id="16" name="Image 0" descr="C:\Users\Tabish.DESKTOP-AMHU6DL\AppData\Local\Temp\claude\C--Data-Apps-GitFlowPlus\670cb83e-903e-4a7a-8a42-3e26eddb1211\scratchpad\gfp-deck\icons\git-branch.png">    </p:cNvPr>
          <p:cNvPicPr>
            <a:picLocks noChangeAspect="1"/>
          </p:cNvPicPr>
          <p:nvPr/>
        </p:nvPicPr>
        <p:blipFill>
          <a:blip r:embed="rId1"/>
          <a:stretch>
            <a:fillRect/>
          </a:stretch>
        </p:blipFill>
        <p:spPr>
          <a:xfrm>
            <a:off x="4301338" y="1673352"/>
            <a:ext cx="548640" cy="548640"/>
          </a:xfrm>
          <a:prstGeom prst="rect">
            <a:avLst/>
          </a:prstGeom>
        </p:spPr>
      </p:pic>
      <p:sp>
        <p:nvSpPr>
          <p:cNvPr id="17" name="Text 14"/>
          <p:cNvSpPr/>
          <p:nvPr/>
        </p:nvSpPr>
        <p:spPr>
          <a:xfrm>
            <a:off x="3959352" y="2295144"/>
            <a:ext cx="1232611"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Start Feature</a:t>
            </a:r>
            <a:endParaRPr lang="en-US" sz="1250" dirty="0"/>
          </a:p>
        </p:txBody>
      </p:sp>
      <p:sp>
        <p:nvSpPr>
          <p:cNvPr id="18" name="Text 15"/>
          <p:cNvSpPr/>
          <p:nvPr/>
        </p:nvSpPr>
        <p:spPr>
          <a:xfrm>
            <a:off x="3959352" y="278892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from staging</a:t>
            </a:r>
            <a:endParaRPr lang="en-US" sz="950" dirty="0"/>
          </a:p>
        </p:txBody>
      </p:sp>
      <p:sp>
        <p:nvSpPr>
          <p:cNvPr id="19" name="Shape 16"/>
          <p:cNvSpPr/>
          <p:nvPr/>
        </p:nvSpPr>
        <p:spPr>
          <a:xfrm>
            <a:off x="5288890" y="2231136"/>
            <a:ext cx="190195" cy="182880"/>
          </a:xfrm>
          <a:prstGeom prst="rightArrow">
            <a:avLst/>
          </a:prstGeom>
          <a:solidFill>
            <a:srgbClr val="6B7280"/>
          </a:solidFill>
          <a:ln w="12700">
            <a:solidFill>
              <a:srgbClr val="6B7280"/>
            </a:solidFill>
            <a:prstDash val="solid"/>
          </a:ln>
        </p:spPr>
      </p:sp>
      <p:sp>
        <p:nvSpPr>
          <p:cNvPr id="20" name="Shape 17"/>
          <p:cNvSpPr/>
          <p:nvPr/>
        </p:nvSpPr>
        <p:spPr>
          <a:xfrm>
            <a:off x="5502859" y="1545336"/>
            <a:ext cx="1378915" cy="1554480"/>
          </a:xfrm>
          <a:prstGeom prst="roundRect">
            <a:avLst>
              <a:gd name="adj" fmla="val 5305"/>
            </a:avLst>
          </a:prstGeom>
          <a:solidFill>
            <a:srgbClr val="2563EB"/>
          </a:solidFill>
          <a:ln w="12700">
            <a:solidFill>
              <a:srgbClr val="FFFFFF"/>
            </a:solidFill>
            <a:prstDash val="solid"/>
          </a:ln>
          <a:effectLst>
            <a:outerShdw sx="100000" sy="100000" kx="0" ky="0" algn="bl" rotWithShape="0" blurRad="3.17446446651913e+111" dist="1.2697857866076517e+111" dir="9.211413321697224e+130">
              <a:srgbClr val="000000">
                <a:alpha val="1.4e+134"/>
              </a:srgbClr>
            </a:outerShdw>
          </a:effectLst>
        </p:spPr>
      </p:sp>
      <p:pic>
        <p:nvPicPr>
          <p:cNvPr id="21" name="Image 1" descr="C:\Users\Tabish.DESKTOP-AMHU6DL\AppData\Local\Temp\claude\C--Data-Apps-GitFlowPlus\670cb83e-903e-4a7a-8a42-3e26eddb1211\scratchpad\gfp-deck\icons\developer.png">    </p:cNvPr>
          <p:cNvPicPr>
            <a:picLocks noChangeAspect="1"/>
          </p:cNvPicPr>
          <p:nvPr/>
        </p:nvPicPr>
        <p:blipFill>
          <a:blip r:embed="rId2"/>
          <a:stretch>
            <a:fillRect/>
          </a:stretch>
        </p:blipFill>
        <p:spPr>
          <a:xfrm>
            <a:off x="5917997" y="1673352"/>
            <a:ext cx="548640" cy="548640"/>
          </a:xfrm>
          <a:prstGeom prst="rect">
            <a:avLst/>
          </a:prstGeom>
        </p:spPr>
      </p:pic>
      <p:sp>
        <p:nvSpPr>
          <p:cNvPr id="22" name="Text 18"/>
          <p:cNvSpPr/>
          <p:nvPr/>
        </p:nvSpPr>
        <p:spPr>
          <a:xfrm>
            <a:off x="5576011" y="2295144"/>
            <a:ext cx="1232611"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Develop &amp; Commit</a:t>
            </a:r>
            <a:endParaRPr lang="en-US" sz="1250" dirty="0"/>
          </a:p>
        </p:txBody>
      </p:sp>
      <p:sp>
        <p:nvSpPr>
          <p:cNvPr id="23" name="Text 19"/>
          <p:cNvSpPr/>
          <p:nvPr/>
        </p:nvSpPr>
        <p:spPr>
          <a:xfrm>
            <a:off x="5576011" y="278892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unit test on develop</a:t>
            </a:r>
            <a:endParaRPr lang="en-US" sz="950" dirty="0"/>
          </a:p>
        </p:txBody>
      </p:sp>
      <p:sp>
        <p:nvSpPr>
          <p:cNvPr id="24" name="Shape 20"/>
          <p:cNvSpPr/>
          <p:nvPr/>
        </p:nvSpPr>
        <p:spPr>
          <a:xfrm>
            <a:off x="6905549" y="2231136"/>
            <a:ext cx="190195" cy="182880"/>
          </a:xfrm>
          <a:prstGeom prst="rightArrow">
            <a:avLst/>
          </a:prstGeom>
          <a:solidFill>
            <a:srgbClr val="6B7280"/>
          </a:solidFill>
          <a:ln w="12700">
            <a:solidFill>
              <a:srgbClr val="6B7280"/>
            </a:solidFill>
            <a:prstDash val="solid"/>
          </a:ln>
        </p:spPr>
      </p:sp>
      <p:sp>
        <p:nvSpPr>
          <p:cNvPr id="25" name="Shape 21"/>
          <p:cNvSpPr/>
          <p:nvPr/>
        </p:nvSpPr>
        <p:spPr>
          <a:xfrm>
            <a:off x="7119518" y="1545336"/>
            <a:ext cx="1378915" cy="1554480"/>
          </a:xfrm>
          <a:prstGeom prst="roundRect">
            <a:avLst>
              <a:gd name="adj" fmla="val 5305"/>
            </a:avLst>
          </a:prstGeom>
          <a:solidFill>
            <a:srgbClr val="2563EB"/>
          </a:solidFill>
          <a:ln w="12700">
            <a:solidFill>
              <a:srgbClr val="FFFFFF"/>
            </a:solidFill>
            <a:prstDash val="solid"/>
          </a:ln>
          <a:effectLst>
            <a:outerShdw sx="100000" sy="100000" kx="0" ky="0" algn="bl" rotWithShape="0" blurRad="4.0315698724792955e+115" dist="1.6126279489917177e+115" dir="5.526847993018334e+135">
              <a:srgbClr val="000000">
                <a:alpha val="1.4e+139"/>
              </a:srgbClr>
            </a:outerShdw>
          </a:effectLst>
        </p:spPr>
      </p:sp>
      <p:pic>
        <p:nvPicPr>
          <p:cNvPr id="26" name="Image 2" descr="C:\Users\Tabish.DESKTOP-AMHU6DL\AppData\Local\Temp\claude\C--Data-Apps-GitFlowPlus\670cb83e-903e-4a7a-8a42-3e26eddb1211\scratchpad\gfp-deck\icons\git-merge.png">    </p:cNvPr>
          <p:cNvPicPr>
            <a:picLocks noChangeAspect="1"/>
          </p:cNvPicPr>
          <p:nvPr/>
        </p:nvPicPr>
        <p:blipFill>
          <a:blip r:embed="rId3"/>
          <a:stretch>
            <a:fillRect/>
          </a:stretch>
        </p:blipFill>
        <p:spPr>
          <a:xfrm>
            <a:off x="7534656" y="1673352"/>
            <a:ext cx="548640" cy="548640"/>
          </a:xfrm>
          <a:prstGeom prst="rect">
            <a:avLst/>
          </a:prstGeom>
        </p:spPr>
      </p:pic>
      <p:sp>
        <p:nvSpPr>
          <p:cNvPr id="27" name="Text 22"/>
          <p:cNvSpPr/>
          <p:nvPr/>
        </p:nvSpPr>
        <p:spPr>
          <a:xfrm>
            <a:off x="7192670" y="2295144"/>
            <a:ext cx="1232611"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Push Branch</a:t>
            </a:r>
            <a:endParaRPr lang="en-US" sz="1250" dirty="0"/>
          </a:p>
        </p:txBody>
      </p:sp>
      <p:sp>
        <p:nvSpPr>
          <p:cNvPr id="28" name="Text 23"/>
          <p:cNvSpPr/>
          <p:nvPr/>
        </p:nvSpPr>
        <p:spPr>
          <a:xfrm>
            <a:off x="7192670" y="278892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origin/feature/LOGIN</a:t>
            </a:r>
            <a:endParaRPr lang="en-US" sz="950" dirty="0"/>
          </a:p>
        </p:txBody>
      </p:sp>
      <p:sp>
        <p:nvSpPr>
          <p:cNvPr id="29" name="Shape 24"/>
          <p:cNvSpPr/>
          <p:nvPr/>
        </p:nvSpPr>
        <p:spPr>
          <a:xfrm>
            <a:off x="8522208" y="2231136"/>
            <a:ext cx="190195" cy="182880"/>
          </a:xfrm>
          <a:prstGeom prst="rightArrow">
            <a:avLst/>
          </a:prstGeom>
          <a:solidFill>
            <a:srgbClr val="6B7280"/>
          </a:solidFill>
          <a:ln w="12700">
            <a:solidFill>
              <a:srgbClr val="6B7280"/>
            </a:solidFill>
            <a:prstDash val="solid"/>
          </a:ln>
        </p:spPr>
      </p:sp>
      <p:sp>
        <p:nvSpPr>
          <p:cNvPr id="30" name="Shape 25"/>
          <p:cNvSpPr/>
          <p:nvPr/>
        </p:nvSpPr>
        <p:spPr>
          <a:xfrm>
            <a:off x="8736178" y="1545336"/>
            <a:ext cx="1378915" cy="1554480"/>
          </a:xfrm>
          <a:prstGeom prst="roundRect">
            <a:avLst>
              <a:gd name="adj" fmla="val 5305"/>
            </a:avLst>
          </a:prstGeom>
          <a:solidFill>
            <a:srgbClr val="2563EB"/>
          </a:solidFill>
          <a:ln w="12700">
            <a:solidFill>
              <a:srgbClr val="FFFFFF"/>
            </a:solidFill>
            <a:prstDash val="solid"/>
          </a:ln>
          <a:effectLst>
            <a:outerShdw sx="100000" sy="100000" kx="0" ky="0" algn="bl" rotWithShape="0" blurRad="5.120093738048705e+119" dist="2.0480374952194813e+119" dir="3.3161087958110005e+140">
              <a:srgbClr val="000000">
                <a:alpha val="1.3999999999999999e+144"/>
              </a:srgbClr>
            </a:outerShdw>
          </a:effectLst>
        </p:spPr>
      </p:sp>
      <p:pic>
        <p:nvPicPr>
          <p:cNvPr id="31" name="Image 3" descr="C:\Users\Tabish.DESKTOP-AMHU6DL\AppData\Local\Temp\claude\C--Data-Apps-GitFlowPlus\670cb83e-903e-4a7a-8a42-3e26eddb1211\scratchpad\gfp-deck\icons\pull-request.png">    </p:cNvPr>
          <p:cNvPicPr>
            <a:picLocks noChangeAspect="1"/>
          </p:cNvPicPr>
          <p:nvPr/>
        </p:nvPicPr>
        <p:blipFill>
          <a:blip r:embed="rId4"/>
          <a:stretch>
            <a:fillRect/>
          </a:stretch>
        </p:blipFill>
        <p:spPr>
          <a:xfrm>
            <a:off x="9151315" y="1673352"/>
            <a:ext cx="548640" cy="548640"/>
          </a:xfrm>
          <a:prstGeom prst="rect">
            <a:avLst/>
          </a:prstGeom>
        </p:spPr>
      </p:pic>
      <p:sp>
        <p:nvSpPr>
          <p:cNvPr id="32" name="Text 26"/>
          <p:cNvSpPr/>
          <p:nvPr/>
        </p:nvSpPr>
        <p:spPr>
          <a:xfrm>
            <a:off x="8809330" y="2295144"/>
            <a:ext cx="1232611"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Open Pull Request</a:t>
            </a:r>
            <a:endParaRPr lang="en-US" sz="1250" dirty="0"/>
          </a:p>
        </p:txBody>
      </p:sp>
      <p:sp>
        <p:nvSpPr>
          <p:cNvPr id="33" name="Text 27"/>
          <p:cNvSpPr/>
          <p:nvPr/>
        </p:nvSpPr>
        <p:spPr>
          <a:xfrm>
            <a:off x="8809330" y="278892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peer review</a:t>
            </a:r>
            <a:endParaRPr lang="en-US" sz="950" dirty="0"/>
          </a:p>
        </p:txBody>
      </p:sp>
      <p:sp>
        <p:nvSpPr>
          <p:cNvPr id="34" name="Shape 28"/>
          <p:cNvSpPr/>
          <p:nvPr/>
        </p:nvSpPr>
        <p:spPr>
          <a:xfrm>
            <a:off x="10138867" y="2231136"/>
            <a:ext cx="190195" cy="182880"/>
          </a:xfrm>
          <a:prstGeom prst="rightArrow">
            <a:avLst/>
          </a:prstGeom>
          <a:solidFill>
            <a:srgbClr val="6B7280"/>
          </a:solidFill>
          <a:ln w="12700">
            <a:solidFill>
              <a:srgbClr val="6B7280"/>
            </a:solidFill>
            <a:prstDash val="solid"/>
          </a:ln>
        </p:spPr>
      </p:sp>
      <p:sp>
        <p:nvSpPr>
          <p:cNvPr id="35" name="Shape 29"/>
          <p:cNvSpPr/>
          <p:nvPr/>
        </p:nvSpPr>
        <p:spPr>
          <a:xfrm>
            <a:off x="10352837" y="1545336"/>
            <a:ext cx="1378915" cy="1554480"/>
          </a:xfrm>
          <a:prstGeom prst="roundRect">
            <a:avLst>
              <a:gd name="adj" fmla="val 5305"/>
            </a:avLst>
          </a:prstGeom>
          <a:solidFill>
            <a:srgbClr val="7C3AED"/>
          </a:solidFill>
          <a:ln w="12700">
            <a:solidFill>
              <a:srgbClr val="FFFFFF"/>
            </a:solidFill>
            <a:prstDash val="solid"/>
          </a:ln>
          <a:effectLst>
            <a:outerShdw sx="100000" sy="100000" kx="0" ky="0" algn="bl" rotWithShape="0" blurRad="6.502519047321855e+123" dist="2.6010076189287412e+123" dir="1.9896652774866004e+145">
              <a:srgbClr val="000000">
                <a:alpha val="1.4e+149"/>
              </a:srgbClr>
            </a:outerShdw>
          </a:effectLst>
        </p:spPr>
      </p:sp>
      <p:pic>
        <p:nvPicPr>
          <p:cNvPr id="36" name="Image 4" descr="C:\Users\Tabish.DESKTOP-AMHU6DL\AppData\Local\Temp\claude\C--Data-Apps-GitFlowPlus\670cb83e-903e-4a7a-8a42-3e26eddb1211\scratchpad\gfp-deck\icons\approval.png">    </p:cNvPr>
          <p:cNvPicPr>
            <a:picLocks noChangeAspect="1"/>
          </p:cNvPicPr>
          <p:nvPr/>
        </p:nvPicPr>
        <p:blipFill>
          <a:blip r:embed="rId5"/>
          <a:stretch>
            <a:fillRect/>
          </a:stretch>
        </p:blipFill>
        <p:spPr>
          <a:xfrm>
            <a:off x="10767974" y="1673352"/>
            <a:ext cx="548640" cy="548640"/>
          </a:xfrm>
          <a:prstGeom prst="rect">
            <a:avLst/>
          </a:prstGeom>
        </p:spPr>
      </p:pic>
      <p:sp>
        <p:nvSpPr>
          <p:cNvPr id="37" name="Text 30"/>
          <p:cNvSpPr/>
          <p:nvPr/>
        </p:nvSpPr>
        <p:spPr>
          <a:xfrm>
            <a:off x="10425989" y="2295144"/>
            <a:ext cx="1232611"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Await Release Manager</a:t>
            </a:r>
            <a:endParaRPr lang="en-US" sz="1250" dirty="0"/>
          </a:p>
        </p:txBody>
      </p:sp>
      <p:sp>
        <p:nvSpPr>
          <p:cNvPr id="38" name="Text 31"/>
          <p:cNvSpPr/>
          <p:nvPr/>
        </p:nvSpPr>
        <p:spPr>
          <a:xfrm>
            <a:off x="10425989" y="278892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release feature add</a:t>
            </a:r>
            <a:endParaRPr lang="en-US" sz="950" dirty="0"/>
          </a:p>
        </p:txBody>
      </p:sp>
      <p:sp>
        <p:nvSpPr>
          <p:cNvPr id="39" name="Shape 32"/>
          <p:cNvSpPr/>
          <p:nvPr/>
        </p:nvSpPr>
        <p:spPr>
          <a:xfrm>
            <a:off x="3886200" y="3374136"/>
            <a:ext cx="7845552" cy="868680"/>
          </a:xfrm>
          <a:prstGeom prst="roundRect">
            <a:avLst>
              <a:gd name="adj" fmla="val 6316"/>
            </a:avLst>
          </a:prstGeom>
          <a:solidFill>
            <a:srgbClr val="FFF7ED"/>
          </a:solidFill>
          <a:ln w="12700">
            <a:solidFill>
              <a:srgbClr val="EA580C"/>
            </a:solidFill>
            <a:prstDash val="solid"/>
          </a:ln>
        </p:spPr>
      </p:sp>
      <p:pic>
        <p:nvPicPr>
          <p:cNvPr id="40" name="Image 5" descr="C:\Users\Tabish.DESKTOP-AMHU6DL\AppData\Local\Temp\claude\C--Data-Apps-GitFlowPlus\670cb83e-903e-4a7a-8a42-3e26eddb1211\scratchpad\gfp-deck\icons\warning.png">    </p:cNvPr>
          <p:cNvPicPr>
            <a:picLocks noChangeAspect="1"/>
          </p:cNvPicPr>
          <p:nvPr/>
        </p:nvPicPr>
        <p:blipFill>
          <a:blip r:embed="rId6"/>
          <a:stretch>
            <a:fillRect/>
          </a:stretch>
        </p:blipFill>
        <p:spPr>
          <a:xfrm>
            <a:off x="4069080" y="3557016"/>
            <a:ext cx="457200" cy="457200"/>
          </a:xfrm>
          <a:prstGeom prst="rect">
            <a:avLst/>
          </a:prstGeom>
        </p:spPr>
      </p:pic>
      <p:sp>
        <p:nvSpPr>
          <p:cNvPr id="41" name="Text 33"/>
          <p:cNvSpPr/>
          <p:nvPr/>
        </p:nvSpPr>
        <p:spPr>
          <a:xfrm>
            <a:off x="4663440" y="3438144"/>
            <a:ext cx="6885432" cy="77724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The feature branch stays alive after merge. If QA finds a bug, commit the fix to the same branch and ask the Release Manager to re-run release feature add — it safely pulls in the new commits.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7C3AED"/>
                </a:solidFill>
                <a:latin typeface="Calibri" pitchFamily="34" charset="0"/>
                <a:ea typeface="Calibri" pitchFamily="34" charset="-122"/>
                <a:cs typeface="Calibri" pitchFamily="34" charset="-120"/>
              </a:rPr>
              <a:t>RELEASE MANAGER WORKFLOW</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Release Manager Workflow — Planning a Release</a:t>
            </a:r>
            <a:endParaRPr lang="en-US" sz="3000" dirty="0"/>
          </a:p>
        </p:txBody>
      </p:sp>
      <p:sp>
        <p:nvSpPr>
          <p:cNvPr id="4" name="Shape 2"/>
          <p:cNvSpPr/>
          <p:nvPr/>
        </p:nvSpPr>
        <p:spPr>
          <a:xfrm>
            <a:off x="457200" y="1225296"/>
            <a:ext cx="3246120" cy="1417320"/>
          </a:xfrm>
          <a:prstGeom prst="roundRect">
            <a:avLst>
              <a:gd name="adj" fmla="val 3871"/>
            </a:avLst>
          </a:prstGeom>
          <a:solidFill>
            <a:srgbClr val="F3F4F6"/>
          </a:solidFill>
          <a:ln w="9525">
            <a:solidFill>
              <a:srgbClr val="E5E7EB"/>
            </a:solidFill>
            <a:prstDash val="solid"/>
          </a:ln>
          <a:effectLst>
            <a:outerShdw sx="100000" sy="100000" kx="0" ky="0" algn="bl" rotWithShape="0" blurRad="8.258199190098756e+127" dist="3.303279676039501e+127" dir="1.1937991664919603e+150">
              <a:srgbClr val="000000">
                <a:alpha val="1.4e+154"/>
              </a:srgbClr>
            </a:outerShdw>
          </a:effectLst>
        </p:spPr>
      </p:sp>
      <p:sp>
        <p:nvSpPr>
          <p:cNvPr id="5" name="Text 3"/>
          <p:cNvSpPr/>
          <p:nvPr/>
        </p:nvSpPr>
        <p:spPr>
          <a:xfrm>
            <a:off x="621792" y="1335024"/>
            <a:ext cx="2916936" cy="256032"/>
          </a:xfrm>
          <a:prstGeom prst="rect">
            <a:avLst/>
          </a:prstGeom>
          <a:noFill/>
          <a:ln/>
        </p:spPr>
        <p:txBody>
          <a:bodyPr wrap="square" lIns="0" tIns="0" rIns="0" bIns="0" rtlCol="0" anchor="ctr"/>
          <a:lstStyle/>
          <a:p>
            <a:pPr indent="0" marL="0">
              <a:buNone/>
            </a:pPr>
            <a:r>
              <a:rPr lang="en-US" sz="1100" b="1" spc="100" kern="0" dirty="0">
                <a:solidFill>
                  <a:srgbClr val="7C3AED"/>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621792" y="1645920"/>
            <a:ext cx="2916936" cy="8869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Learn how a Release Manager opens a release and decides what goes into it</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Understand the difference between approving and merging a feature</a:t>
            </a:r>
            <a:endParaRPr lang="en-US" sz="1200" dirty="0"/>
          </a:p>
        </p:txBody>
      </p:sp>
      <p:sp>
        <p:nvSpPr>
          <p:cNvPr id="7" name="Shape 5"/>
          <p:cNvSpPr/>
          <p:nvPr/>
        </p:nvSpPr>
        <p:spPr>
          <a:xfrm>
            <a:off x="457200" y="2788920"/>
            <a:ext cx="3246120" cy="2203704"/>
          </a:xfrm>
          <a:prstGeom prst="roundRect">
            <a:avLst>
              <a:gd name="adj" fmla="val 2490"/>
            </a:avLst>
          </a:prstGeom>
          <a:solidFill>
            <a:srgbClr val="F3F4F6"/>
          </a:solidFill>
          <a:ln w="9525">
            <a:solidFill>
              <a:srgbClr val="E5E7EB"/>
            </a:solidFill>
            <a:prstDash val="solid"/>
          </a:ln>
          <a:effectLst>
            <a:outerShdw sx="100000" sy="100000" kx="0" ky="0" algn="bl" rotWithShape="0" blurRad="1.0487912971425421e+132" dist="4.195165188570166e+131" dir="7.162794998951762e+154">
              <a:srgbClr val="000000">
                <a:alpha val="1.4e+159"/>
              </a:srgbClr>
            </a:outerShdw>
          </a:effectLst>
        </p:spPr>
      </p:sp>
      <p:sp>
        <p:nvSpPr>
          <p:cNvPr id="8" name="Text 6"/>
          <p:cNvSpPr/>
          <p:nvPr/>
        </p:nvSpPr>
        <p:spPr>
          <a:xfrm>
            <a:off x="621792" y="2898648"/>
            <a:ext cx="2916936" cy="256032"/>
          </a:xfrm>
          <a:prstGeom prst="rect">
            <a:avLst/>
          </a:prstGeom>
          <a:noFill/>
          <a:ln/>
        </p:spPr>
        <p:txBody>
          <a:bodyPr wrap="square" lIns="0" tIns="0" rIns="0" bIns="0" rtlCol="0" anchor="ctr"/>
          <a:lstStyle/>
          <a:p>
            <a:pPr indent="0" marL="0">
              <a:buNone/>
            </a:pPr>
            <a:r>
              <a:rPr lang="en-US" sz="1100" b="1" spc="100" kern="0" dirty="0">
                <a:solidFill>
                  <a:srgbClr val="7C3AED"/>
                </a:solidFill>
                <a:latin typeface="Calibri" pitchFamily="34" charset="0"/>
                <a:ea typeface="Calibri" pitchFamily="34" charset="-122"/>
                <a:cs typeface="Calibri" pitchFamily="34" charset="-120"/>
              </a:rPr>
              <a:t>KEY NOTES</a:t>
            </a:r>
            <a:endParaRPr lang="en-US" sz="1100" dirty="0"/>
          </a:p>
        </p:txBody>
      </p:sp>
      <p:sp>
        <p:nvSpPr>
          <p:cNvPr id="9" name="Text 7"/>
          <p:cNvSpPr/>
          <p:nvPr/>
        </p:nvSpPr>
        <p:spPr>
          <a:xfrm>
            <a:off x="621792" y="3209544"/>
            <a:ext cx="2916936" cy="167335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release start opens release.json and locks out a second concurrent release</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release feature approve is a planning decision; release feature add is the real merge</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add is safe to re-run — it pulls in QA follow-up commits without double-counting the feature</a:t>
            </a:r>
            <a:endParaRPr lang="en-US" sz="1150" dirty="0"/>
          </a:p>
        </p:txBody>
      </p:sp>
      <p:sp>
        <p:nvSpPr>
          <p:cNvPr id="10" name="Shape 8"/>
          <p:cNvSpPr/>
          <p:nvPr/>
        </p:nvSpPr>
        <p:spPr>
          <a:xfrm>
            <a:off x="457200" y="5120640"/>
            <a:ext cx="11274552" cy="1188720"/>
          </a:xfrm>
          <a:prstGeom prst="roundRect">
            <a:avLst>
              <a:gd name="adj" fmla="val 4615"/>
            </a:avLst>
          </a:prstGeom>
          <a:solidFill>
            <a:srgbClr val="0F172A"/>
          </a:solidFill>
          <a:ln w="12700">
            <a:solidFill>
              <a:srgbClr val="0F172A"/>
            </a:solidFill>
            <a:prstDash val="solid"/>
          </a:ln>
          <a:effectLst>
            <a:outerShdw sx="100000" sy="100000" kx="0" ky="0" algn="bl" rotWithShape="0" blurRad="1.3319649473710286e+136" dist="5.327859789484111e+135" dir="4.297676999371057e+159">
              <a:srgbClr val="000000">
                <a:alpha val="1.4e+164"/>
              </a:srgbClr>
            </a:outerShdw>
          </a:effectLst>
        </p:spPr>
      </p:sp>
      <p:sp>
        <p:nvSpPr>
          <p:cNvPr id="11" name="Text 9"/>
          <p:cNvSpPr/>
          <p:nvPr/>
        </p:nvSpPr>
        <p:spPr>
          <a:xfrm>
            <a:off x="685800" y="5212080"/>
            <a:ext cx="10817352" cy="237744"/>
          </a:xfrm>
          <a:prstGeom prst="rect">
            <a:avLst/>
          </a:prstGeom>
          <a:noFill/>
          <a:ln/>
        </p:spPr>
        <p:txBody>
          <a:bodyPr wrap="square" lIns="0" tIns="0" rIns="0" bIns="0" rtlCol="0" anchor="ctr"/>
          <a:lstStyle/>
          <a:p>
            <a:pPr indent="0" marL="0">
              <a:buNone/>
            </a:pPr>
            <a:r>
              <a:rPr lang="en-US" sz="1000" b="1" spc="100" kern="0" dirty="0">
                <a:solidFill>
                  <a:srgbClr val="93C5FD"/>
                </a:solidFill>
                <a:latin typeface="Calibri" pitchFamily="34" charset="0"/>
                <a:ea typeface="Calibri" pitchFamily="34" charset="-122"/>
                <a:cs typeface="Calibri" pitchFamily="34" charset="-120"/>
              </a:rPr>
              <a:t>TYPICAL RELEASE MANAGER SESSION</a:t>
            </a:r>
            <a:endParaRPr lang="en-US" sz="1000" dirty="0"/>
          </a:p>
        </p:txBody>
      </p:sp>
      <p:sp>
        <p:nvSpPr>
          <p:cNvPr id="12" name="Text 10"/>
          <p:cNvSpPr/>
          <p:nvPr/>
        </p:nvSpPr>
        <p:spPr>
          <a:xfrm>
            <a:off x="685800" y="5504688"/>
            <a:ext cx="10817352" cy="694944"/>
          </a:xfrm>
          <a:prstGeom prst="rect">
            <a:avLst/>
          </a:prstGeom>
          <a:noFill/>
          <a:ln/>
        </p:spPr>
        <p:txBody>
          <a:bodyPr wrap="square" lIns="0" tIns="0" rIns="0" bIns="0" rtlCol="0" anchor="t"/>
          <a:lstStyle/>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start 5.3</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feature list</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feature approve LOGIN</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feature add LOGIN</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feature status</a:t>
            </a:r>
            <a:endParaRPr lang="en-US" sz="1250" dirty="0"/>
          </a:p>
        </p:txBody>
      </p:sp>
      <p:sp>
        <p:nvSpPr>
          <p:cNvPr id="13" name="Text 11"/>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14" name="Text 12"/>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15" name="Shape 13"/>
          <p:cNvSpPr/>
          <p:nvPr/>
        </p:nvSpPr>
        <p:spPr>
          <a:xfrm>
            <a:off x="3886200" y="1545336"/>
            <a:ext cx="1378915" cy="1554480"/>
          </a:xfrm>
          <a:prstGeom prst="roundRect">
            <a:avLst>
              <a:gd name="adj" fmla="val 5305"/>
            </a:avLst>
          </a:prstGeom>
          <a:solidFill>
            <a:srgbClr val="7C3AED"/>
          </a:solidFill>
          <a:ln w="12700">
            <a:solidFill>
              <a:srgbClr val="FFFFFF"/>
            </a:solidFill>
            <a:prstDash val="solid"/>
          </a:ln>
          <a:effectLst>
            <a:outerShdw sx="100000" sy="100000" kx="0" ky="0" algn="bl" rotWithShape="0" blurRad="1.6915954831612062e+140" dist="6.766381932644821e+139" dir="2.5786061996226343e+164">
              <a:srgbClr val="000000">
                <a:alpha val="1.4e+169"/>
              </a:srgbClr>
            </a:outerShdw>
          </a:effectLst>
        </p:spPr>
      </p:sp>
      <p:pic>
        <p:nvPicPr>
          <p:cNvPr id="16" name="Image 0" descr="C:\Users\Tabish.DESKTOP-AMHU6DL\AppData\Local\Temp\claude\C--Data-Apps-GitFlowPlus\670cb83e-903e-4a7a-8a42-3e26eddb1211\scratchpad\gfp-deck\icons\release-manager.png">    </p:cNvPr>
          <p:cNvPicPr>
            <a:picLocks noChangeAspect="1"/>
          </p:cNvPicPr>
          <p:nvPr/>
        </p:nvPicPr>
        <p:blipFill>
          <a:blip r:embed="rId1"/>
          <a:stretch>
            <a:fillRect/>
          </a:stretch>
        </p:blipFill>
        <p:spPr>
          <a:xfrm>
            <a:off x="4301338" y="1673352"/>
            <a:ext cx="548640" cy="548640"/>
          </a:xfrm>
          <a:prstGeom prst="rect">
            <a:avLst/>
          </a:prstGeom>
        </p:spPr>
      </p:pic>
      <p:sp>
        <p:nvSpPr>
          <p:cNvPr id="17" name="Text 14"/>
          <p:cNvSpPr/>
          <p:nvPr/>
        </p:nvSpPr>
        <p:spPr>
          <a:xfrm>
            <a:off x="3959352" y="2295144"/>
            <a:ext cx="1232611"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Start Release</a:t>
            </a:r>
            <a:endParaRPr lang="en-US" sz="1250" dirty="0"/>
          </a:p>
        </p:txBody>
      </p:sp>
      <p:sp>
        <p:nvSpPr>
          <p:cNvPr id="18" name="Text 15"/>
          <p:cNvSpPr/>
          <p:nvPr/>
        </p:nvSpPr>
        <p:spPr>
          <a:xfrm>
            <a:off x="3959352" y="278892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release start 5.3</a:t>
            </a:r>
            <a:endParaRPr lang="en-US" sz="950" dirty="0"/>
          </a:p>
        </p:txBody>
      </p:sp>
      <p:sp>
        <p:nvSpPr>
          <p:cNvPr id="19" name="Shape 16"/>
          <p:cNvSpPr/>
          <p:nvPr/>
        </p:nvSpPr>
        <p:spPr>
          <a:xfrm>
            <a:off x="5288890" y="2231136"/>
            <a:ext cx="190195" cy="182880"/>
          </a:xfrm>
          <a:prstGeom prst="rightArrow">
            <a:avLst/>
          </a:prstGeom>
          <a:solidFill>
            <a:srgbClr val="6B7280"/>
          </a:solidFill>
          <a:ln w="12700">
            <a:solidFill>
              <a:srgbClr val="6B7280"/>
            </a:solidFill>
            <a:prstDash val="solid"/>
          </a:ln>
        </p:spPr>
      </p:sp>
      <p:sp>
        <p:nvSpPr>
          <p:cNvPr id="20" name="Shape 17"/>
          <p:cNvSpPr/>
          <p:nvPr/>
        </p:nvSpPr>
        <p:spPr>
          <a:xfrm>
            <a:off x="5502859" y="1545336"/>
            <a:ext cx="1378915" cy="1554480"/>
          </a:xfrm>
          <a:prstGeom prst="roundRect">
            <a:avLst>
              <a:gd name="adj" fmla="val 5305"/>
            </a:avLst>
          </a:prstGeom>
          <a:solidFill>
            <a:srgbClr val="7C3AED"/>
          </a:solidFill>
          <a:ln w="12700">
            <a:solidFill>
              <a:srgbClr val="FFFFFF"/>
            </a:solidFill>
            <a:prstDash val="solid"/>
          </a:ln>
          <a:effectLst>
            <a:outerShdw sx="100000" sy="100000" kx="0" ky="0" algn="bl" rotWithShape="0" blurRad="2.148326263614732e+144" dist="8.593305054458923e+143" dir="1.5471637197735807e+169">
              <a:srgbClr val="000000">
                <a:alpha val="1.4000000000000002e+174"/>
              </a:srgbClr>
            </a:outerShdw>
          </a:effectLst>
        </p:spPr>
      </p:sp>
      <p:pic>
        <p:nvPicPr>
          <p:cNvPr id="21" name="Image 1" descr="C:\Users\Tabish.DESKTOP-AMHU6DL\AppData\Local\Temp\claude\C--Data-Apps-GitFlowPlus\670cb83e-903e-4a7a-8a42-3e26eddb1211\scratchpad\gfp-deck\icons\checklist.png">    </p:cNvPr>
          <p:cNvPicPr>
            <a:picLocks noChangeAspect="1"/>
          </p:cNvPicPr>
          <p:nvPr/>
        </p:nvPicPr>
        <p:blipFill>
          <a:blip r:embed="rId2"/>
          <a:stretch>
            <a:fillRect/>
          </a:stretch>
        </p:blipFill>
        <p:spPr>
          <a:xfrm>
            <a:off x="5917997" y="1673352"/>
            <a:ext cx="548640" cy="548640"/>
          </a:xfrm>
          <a:prstGeom prst="rect">
            <a:avLst/>
          </a:prstGeom>
        </p:spPr>
      </p:pic>
      <p:sp>
        <p:nvSpPr>
          <p:cNvPr id="22" name="Text 18"/>
          <p:cNvSpPr/>
          <p:nvPr/>
        </p:nvSpPr>
        <p:spPr>
          <a:xfrm>
            <a:off x="5576011" y="2295144"/>
            <a:ext cx="1232611"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Review Candidates</a:t>
            </a:r>
            <a:endParaRPr lang="en-US" sz="1250" dirty="0"/>
          </a:p>
        </p:txBody>
      </p:sp>
      <p:sp>
        <p:nvSpPr>
          <p:cNvPr id="23" name="Text 19"/>
          <p:cNvSpPr/>
          <p:nvPr/>
        </p:nvSpPr>
        <p:spPr>
          <a:xfrm>
            <a:off x="5576011" y="278892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feature list</a:t>
            </a:r>
            <a:endParaRPr lang="en-US" sz="950" dirty="0"/>
          </a:p>
        </p:txBody>
      </p:sp>
      <p:sp>
        <p:nvSpPr>
          <p:cNvPr id="24" name="Shape 20"/>
          <p:cNvSpPr/>
          <p:nvPr/>
        </p:nvSpPr>
        <p:spPr>
          <a:xfrm>
            <a:off x="6905549" y="2231136"/>
            <a:ext cx="190195" cy="182880"/>
          </a:xfrm>
          <a:prstGeom prst="rightArrow">
            <a:avLst/>
          </a:prstGeom>
          <a:solidFill>
            <a:srgbClr val="6B7280"/>
          </a:solidFill>
          <a:ln w="12700">
            <a:solidFill>
              <a:srgbClr val="6B7280"/>
            </a:solidFill>
            <a:prstDash val="solid"/>
          </a:ln>
        </p:spPr>
      </p:sp>
      <p:sp>
        <p:nvSpPr>
          <p:cNvPr id="25" name="Shape 21"/>
          <p:cNvSpPr/>
          <p:nvPr/>
        </p:nvSpPr>
        <p:spPr>
          <a:xfrm>
            <a:off x="7119518" y="1545336"/>
            <a:ext cx="1378915" cy="1554480"/>
          </a:xfrm>
          <a:prstGeom prst="roundRect">
            <a:avLst>
              <a:gd name="adj" fmla="val 5305"/>
            </a:avLst>
          </a:prstGeom>
          <a:solidFill>
            <a:srgbClr val="7C3AED"/>
          </a:solidFill>
          <a:ln w="12700">
            <a:solidFill>
              <a:srgbClr val="FFFFFF"/>
            </a:solidFill>
            <a:prstDash val="solid"/>
          </a:ln>
          <a:effectLst>
            <a:outerShdw sx="100000" sy="100000" kx="0" ky="0" algn="bl" rotWithShape="0" blurRad="2.7283743547907096e+148" dist="1.0913497419162833e+148" dir="9.282982318641485e+173">
              <a:srgbClr val="000000">
                <a:alpha val="1.4000000000000003e+179"/>
              </a:srgbClr>
            </a:outerShdw>
          </a:effectLst>
        </p:spPr>
      </p:sp>
      <p:pic>
        <p:nvPicPr>
          <p:cNvPr id="26" name="Image 2" descr="C:\Users\Tabish.DESKTOP-AMHU6DL\AppData\Local\Temp\claude\C--Data-Apps-GitFlowPlus\670cb83e-903e-4a7a-8a42-3e26eddb1211\scratchpad\gfp-deck\icons\approval.png">    </p:cNvPr>
          <p:cNvPicPr>
            <a:picLocks noChangeAspect="1"/>
          </p:cNvPicPr>
          <p:nvPr/>
        </p:nvPicPr>
        <p:blipFill>
          <a:blip r:embed="rId3"/>
          <a:stretch>
            <a:fillRect/>
          </a:stretch>
        </p:blipFill>
        <p:spPr>
          <a:xfrm>
            <a:off x="7534656" y="1673352"/>
            <a:ext cx="548640" cy="548640"/>
          </a:xfrm>
          <a:prstGeom prst="rect">
            <a:avLst/>
          </a:prstGeom>
        </p:spPr>
      </p:pic>
      <p:sp>
        <p:nvSpPr>
          <p:cNvPr id="27" name="Text 22"/>
          <p:cNvSpPr/>
          <p:nvPr/>
        </p:nvSpPr>
        <p:spPr>
          <a:xfrm>
            <a:off x="7192670" y="2295144"/>
            <a:ext cx="1232611"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Approve</a:t>
            </a:r>
            <a:endParaRPr lang="en-US" sz="1250" dirty="0"/>
          </a:p>
        </p:txBody>
      </p:sp>
      <p:sp>
        <p:nvSpPr>
          <p:cNvPr id="28" name="Text 23"/>
          <p:cNvSpPr/>
          <p:nvPr/>
        </p:nvSpPr>
        <p:spPr>
          <a:xfrm>
            <a:off x="7192670" y="278892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feature approve</a:t>
            </a:r>
            <a:endParaRPr lang="en-US" sz="950" dirty="0"/>
          </a:p>
        </p:txBody>
      </p:sp>
      <p:sp>
        <p:nvSpPr>
          <p:cNvPr id="29" name="Shape 24"/>
          <p:cNvSpPr/>
          <p:nvPr/>
        </p:nvSpPr>
        <p:spPr>
          <a:xfrm>
            <a:off x="8522208" y="2231136"/>
            <a:ext cx="190195" cy="182880"/>
          </a:xfrm>
          <a:prstGeom prst="rightArrow">
            <a:avLst/>
          </a:prstGeom>
          <a:solidFill>
            <a:srgbClr val="6B7280"/>
          </a:solidFill>
          <a:ln w="12700">
            <a:solidFill>
              <a:srgbClr val="6B7280"/>
            </a:solidFill>
            <a:prstDash val="solid"/>
          </a:ln>
        </p:spPr>
      </p:sp>
      <p:sp>
        <p:nvSpPr>
          <p:cNvPr id="30" name="Shape 25"/>
          <p:cNvSpPr/>
          <p:nvPr/>
        </p:nvSpPr>
        <p:spPr>
          <a:xfrm>
            <a:off x="8736178" y="1545336"/>
            <a:ext cx="1378915" cy="1554480"/>
          </a:xfrm>
          <a:prstGeom prst="roundRect">
            <a:avLst>
              <a:gd name="adj" fmla="val 5305"/>
            </a:avLst>
          </a:prstGeom>
          <a:solidFill>
            <a:srgbClr val="7C3AED"/>
          </a:solidFill>
          <a:ln w="12700">
            <a:solidFill>
              <a:srgbClr val="FFFFFF"/>
            </a:solidFill>
            <a:prstDash val="solid"/>
          </a:ln>
          <a:effectLst>
            <a:outerShdw sx="100000" sy="100000" kx="0" ky="0" algn="bl" rotWithShape="0" blurRad="3.465035430584201e+152" dist="1.38601417223368e+152" dir="5.569789391184891e+178">
              <a:srgbClr val="000000">
                <a:alpha val="1.4000000000000003e+184"/>
              </a:srgbClr>
            </a:outerShdw>
          </a:effectLst>
        </p:spPr>
      </p:sp>
      <p:pic>
        <p:nvPicPr>
          <p:cNvPr id="31" name="Image 3" descr="C:\Users\Tabish.DESKTOP-AMHU6DL\AppData\Local\Temp\claude\C--Data-Apps-GitFlowPlus\670cb83e-903e-4a7a-8a42-3e26eddb1211\scratchpad\gfp-deck\icons\git-merge.png">    </p:cNvPr>
          <p:cNvPicPr>
            <a:picLocks noChangeAspect="1"/>
          </p:cNvPicPr>
          <p:nvPr/>
        </p:nvPicPr>
        <p:blipFill>
          <a:blip r:embed="rId4"/>
          <a:stretch>
            <a:fillRect/>
          </a:stretch>
        </p:blipFill>
        <p:spPr>
          <a:xfrm>
            <a:off x="9151315" y="1673352"/>
            <a:ext cx="548640" cy="548640"/>
          </a:xfrm>
          <a:prstGeom prst="rect">
            <a:avLst/>
          </a:prstGeom>
        </p:spPr>
      </p:pic>
      <p:sp>
        <p:nvSpPr>
          <p:cNvPr id="32" name="Text 26"/>
          <p:cNvSpPr/>
          <p:nvPr/>
        </p:nvSpPr>
        <p:spPr>
          <a:xfrm>
            <a:off x="8809330" y="2295144"/>
            <a:ext cx="1232611"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Merge to Staging</a:t>
            </a:r>
            <a:endParaRPr lang="en-US" sz="1250" dirty="0"/>
          </a:p>
        </p:txBody>
      </p:sp>
      <p:sp>
        <p:nvSpPr>
          <p:cNvPr id="33" name="Text 27"/>
          <p:cNvSpPr/>
          <p:nvPr/>
        </p:nvSpPr>
        <p:spPr>
          <a:xfrm>
            <a:off x="8809330" y="278892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feature add (real merge)</a:t>
            </a:r>
            <a:endParaRPr lang="en-US" sz="950" dirty="0"/>
          </a:p>
        </p:txBody>
      </p:sp>
      <p:sp>
        <p:nvSpPr>
          <p:cNvPr id="34" name="Shape 28"/>
          <p:cNvSpPr/>
          <p:nvPr/>
        </p:nvSpPr>
        <p:spPr>
          <a:xfrm>
            <a:off x="10138867" y="2231136"/>
            <a:ext cx="190195" cy="182880"/>
          </a:xfrm>
          <a:prstGeom prst="rightArrow">
            <a:avLst/>
          </a:prstGeom>
          <a:solidFill>
            <a:srgbClr val="6B7280"/>
          </a:solidFill>
          <a:ln w="12700">
            <a:solidFill>
              <a:srgbClr val="6B7280"/>
            </a:solidFill>
            <a:prstDash val="solid"/>
          </a:ln>
        </p:spPr>
      </p:sp>
      <p:sp>
        <p:nvSpPr>
          <p:cNvPr id="35" name="Shape 29"/>
          <p:cNvSpPr/>
          <p:nvPr/>
        </p:nvSpPr>
        <p:spPr>
          <a:xfrm>
            <a:off x="10352837" y="1545336"/>
            <a:ext cx="1378915" cy="1554480"/>
          </a:xfrm>
          <a:prstGeom prst="roundRect">
            <a:avLst>
              <a:gd name="adj" fmla="val 5305"/>
            </a:avLst>
          </a:prstGeom>
          <a:solidFill>
            <a:srgbClr val="7C3AED"/>
          </a:solidFill>
          <a:ln w="12700">
            <a:solidFill>
              <a:srgbClr val="FFFFFF"/>
            </a:solidFill>
            <a:prstDash val="solid"/>
          </a:ln>
          <a:effectLst>
            <a:outerShdw sx="100000" sy="100000" kx="0" ky="0" algn="bl" rotWithShape="0" blurRad="4.400594996841935e+156" dist="1.7602379987367734e+156" dir="3.3418736347109347e+183">
              <a:srgbClr val="000000">
                <a:alpha val="1.4000000000000003e+189"/>
              </a:srgbClr>
            </a:outerShdw>
          </a:effectLst>
        </p:spPr>
      </p:sp>
      <p:pic>
        <p:nvPicPr>
          <p:cNvPr id="36" name="Image 4" descr="C:\Users\Tabish.DESKTOP-AMHU6DL\AppData\Local\Temp\claude\C--Data-Apps-GitFlowPlus\670cb83e-903e-4a7a-8a42-3e26eddb1211\scratchpad\gfp-deck\icons\manifest.png">    </p:cNvPr>
          <p:cNvPicPr>
            <a:picLocks noChangeAspect="1"/>
          </p:cNvPicPr>
          <p:nvPr/>
        </p:nvPicPr>
        <p:blipFill>
          <a:blip r:embed="rId5"/>
          <a:stretch>
            <a:fillRect/>
          </a:stretch>
        </p:blipFill>
        <p:spPr>
          <a:xfrm>
            <a:off x="10767974" y="1673352"/>
            <a:ext cx="548640" cy="548640"/>
          </a:xfrm>
          <a:prstGeom prst="rect">
            <a:avLst/>
          </a:prstGeom>
        </p:spPr>
      </p:pic>
      <p:sp>
        <p:nvSpPr>
          <p:cNvPr id="37" name="Text 30"/>
          <p:cNvSpPr/>
          <p:nvPr/>
        </p:nvSpPr>
        <p:spPr>
          <a:xfrm>
            <a:off x="10425989" y="2295144"/>
            <a:ext cx="1232611"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Track Manifest</a:t>
            </a:r>
            <a:endParaRPr lang="en-US" sz="1250" dirty="0"/>
          </a:p>
        </p:txBody>
      </p:sp>
      <p:sp>
        <p:nvSpPr>
          <p:cNvPr id="38" name="Text 31"/>
          <p:cNvSpPr/>
          <p:nvPr/>
        </p:nvSpPr>
        <p:spPr>
          <a:xfrm>
            <a:off x="10425989" y="278892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release.json updated</a:t>
            </a:r>
            <a:endParaRPr lang="en-US" sz="950" dirty="0"/>
          </a:p>
        </p:txBody>
      </p:sp>
      <p:sp>
        <p:nvSpPr>
          <p:cNvPr id="39" name="Shape 32"/>
          <p:cNvSpPr/>
          <p:nvPr/>
        </p:nvSpPr>
        <p:spPr>
          <a:xfrm>
            <a:off x="3886200" y="3374136"/>
            <a:ext cx="7845552" cy="960120"/>
          </a:xfrm>
          <a:prstGeom prst="roundRect">
            <a:avLst>
              <a:gd name="adj" fmla="val 5714"/>
            </a:avLst>
          </a:prstGeom>
          <a:solidFill>
            <a:srgbClr val="F3F4F6"/>
          </a:solidFill>
          <a:ln w="9525">
            <a:solidFill>
              <a:srgbClr val="E5E7EB"/>
            </a:solidFill>
            <a:prstDash val="solid"/>
          </a:ln>
          <a:effectLst>
            <a:outerShdw sx="100000" sy="100000" kx="0" ky="0" algn="bl" rotWithShape="0" blurRad="5.588755645989258e+160" dist="2.235502258395702e+160" dir="2.0051241808265608e+188">
              <a:srgbClr val="000000">
                <a:alpha val="1.4000000000000002e+194"/>
              </a:srgbClr>
            </a:outerShdw>
          </a:effectLst>
        </p:spPr>
      </p:sp>
      <p:sp>
        <p:nvSpPr>
          <p:cNvPr id="40" name="Text 33"/>
          <p:cNvSpPr/>
          <p:nvPr/>
        </p:nvSpPr>
        <p:spPr>
          <a:xfrm>
            <a:off x="4050792" y="3483864"/>
            <a:ext cx="7516368" cy="256032"/>
          </a:xfrm>
          <a:prstGeom prst="rect">
            <a:avLst/>
          </a:prstGeom>
          <a:noFill/>
          <a:ln/>
        </p:spPr>
        <p:txBody>
          <a:bodyPr wrap="square" lIns="0" tIns="0" rIns="0" bIns="0" rtlCol="0" anchor="ctr"/>
          <a:lstStyle/>
          <a:p>
            <a:pPr indent="0" marL="0">
              <a:buNone/>
            </a:pPr>
            <a:r>
              <a:rPr lang="en-US" sz="1100" b="1" spc="100" kern="0" dirty="0">
                <a:solidFill>
                  <a:srgbClr val="7C3AED"/>
                </a:solidFill>
                <a:latin typeface="Calibri" pitchFamily="34" charset="0"/>
                <a:ea typeface="Calibri" pitchFamily="34" charset="-122"/>
                <a:cs typeface="Calibri" pitchFamily="34" charset="-120"/>
              </a:rPr>
              <a:t>WHAT "ADD" ACTUALLY DOES</a:t>
            </a:r>
            <a:endParaRPr lang="en-US" sz="1100" dirty="0"/>
          </a:p>
        </p:txBody>
      </p:sp>
      <p:sp>
        <p:nvSpPr>
          <p:cNvPr id="41" name="Text 34"/>
          <p:cNvSpPr/>
          <p:nvPr/>
        </p:nvSpPr>
        <p:spPr>
          <a:xfrm>
            <a:off x="4050792" y="3794760"/>
            <a:ext cx="7516368" cy="429768"/>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Performs a real git merge of the feature branch into staging</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Increments the version's Feature counter (2nd field) by one — once per new feature</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Records the action in featureHistory and marks the feature IncludedInRelease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EA580C"/>
                </a:solidFill>
                <a:latin typeface="Calibri" pitchFamily="34" charset="0"/>
                <a:ea typeface="Calibri" pitchFamily="34" charset="-122"/>
                <a:cs typeface="Calibri" pitchFamily="34" charset="-120"/>
              </a:rPr>
              <a:t>QA WORKFLOW</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QA Workflow — Verifying a Release Build</a:t>
            </a:r>
            <a:endParaRPr lang="en-US" sz="3000" dirty="0"/>
          </a:p>
        </p:txBody>
      </p:sp>
      <p:sp>
        <p:nvSpPr>
          <p:cNvPr id="4" name="Shape 2"/>
          <p:cNvSpPr/>
          <p:nvPr/>
        </p:nvSpPr>
        <p:spPr>
          <a:xfrm>
            <a:off x="457200" y="1225296"/>
            <a:ext cx="3246120" cy="1417320"/>
          </a:xfrm>
          <a:prstGeom prst="roundRect">
            <a:avLst>
              <a:gd name="adj" fmla="val 3871"/>
            </a:avLst>
          </a:prstGeom>
          <a:solidFill>
            <a:srgbClr val="F3F4F6"/>
          </a:solidFill>
          <a:ln w="9525">
            <a:solidFill>
              <a:srgbClr val="E5E7EB"/>
            </a:solidFill>
            <a:prstDash val="solid"/>
          </a:ln>
          <a:effectLst>
            <a:outerShdw sx="100000" sy="100000" kx="0" ky="0" algn="bl" rotWithShape="0" blurRad="7.097719670406357e+164" dist="2.8390878681625417e+164" dir="1.2030745084959364e+193">
              <a:srgbClr val="000000">
                <a:alpha val="1.4000000000000003e+199"/>
              </a:srgbClr>
            </a:outerShdw>
          </a:effectLst>
        </p:spPr>
      </p:sp>
      <p:sp>
        <p:nvSpPr>
          <p:cNvPr id="5" name="Text 3"/>
          <p:cNvSpPr/>
          <p:nvPr/>
        </p:nvSpPr>
        <p:spPr>
          <a:xfrm>
            <a:off x="621792" y="1335024"/>
            <a:ext cx="2916936" cy="256032"/>
          </a:xfrm>
          <a:prstGeom prst="rect">
            <a:avLst/>
          </a:prstGeom>
          <a:noFill/>
          <a:ln/>
        </p:spPr>
        <p:txBody>
          <a:bodyPr wrap="square" lIns="0" tIns="0" rIns="0" bIns="0" rtlCol="0" anchor="ctr"/>
          <a:lstStyle/>
          <a:p>
            <a:pPr indent="0" marL="0">
              <a:buNone/>
            </a:pPr>
            <a:r>
              <a:rPr lang="en-US" sz="1100" b="1" spc="100" kern="0" dirty="0">
                <a:solidFill>
                  <a:srgbClr val="EA580C"/>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621792" y="1645920"/>
            <a:ext cx="2916936" cy="8869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Learn how QA obtains a reproducible, tagged build to test</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Understand what happens when QA finds a defect</a:t>
            </a:r>
            <a:endParaRPr lang="en-US" sz="1200" dirty="0"/>
          </a:p>
        </p:txBody>
      </p:sp>
      <p:sp>
        <p:nvSpPr>
          <p:cNvPr id="7" name="Shape 5"/>
          <p:cNvSpPr/>
          <p:nvPr/>
        </p:nvSpPr>
        <p:spPr>
          <a:xfrm>
            <a:off x="457200" y="2788920"/>
            <a:ext cx="3246120" cy="2203704"/>
          </a:xfrm>
          <a:prstGeom prst="roundRect">
            <a:avLst>
              <a:gd name="adj" fmla="val 2490"/>
            </a:avLst>
          </a:prstGeom>
          <a:solidFill>
            <a:srgbClr val="F3F4F6"/>
          </a:solidFill>
          <a:ln w="9525">
            <a:solidFill>
              <a:srgbClr val="E5E7EB"/>
            </a:solidFill>
            <a:prstDash val="solid"/>
          </a:ln>
          <a:effectLst>
            <a:outerShdw sx="100000" sy="100000" kx="0" ky="0" algn="bl" rotWithShape="0" blurRad="9.014103981416073e+168" dist="3.605641592566428e+168" dir="7.218447050975619e+197">
              <a:srgbClr val="000000">
                <a:alpha val="1.4000000000000004e+204"/>
              </a:srgbClr>
            </a:outerShdw>
          </a:effectLst>
        </p:spPr>
      </p:sp>
      <p:sp>
        <p:nvSpPr>
          <p:cNvPr id="8" name="Text 6"/>
          <p:cNvSpPr/>
          <p:nvPr/>
        </p:nvSpPr>
        <p:spPr>
          <a:xfrm>
            <a:off x="621792" y="2898648"/>
            <a:ext cx="2916936" cy="256032"/>
          </a:xfrm>
          <a:prstGeom prst="rect">
            <a:avLst/>
          </a:prstGeom>
          <a:noFill/>
          <a:ln/>
        </p:spPr>
        <p:txBody>
          <a:bodyPr wrap="square" lIns="0" tIns="0" rIns="0" bIns="0" rtlCol="0" anchor="ctr"/>
          <a:lstStyle/>
          <a:p>
            <a:pPr indent="0" marL="0">
              <a:buNone/>
            </a:pPr>
            <a:r>
              <a:rPr lang="en-US" sz="1100" b="1" spc="100" kern="0" dirty="0">
                <a:solidFill>
                  <a:srgbClr val="EA580C"/>
                </a:solidFill>
                <a:latin typeface="Calibri" pitchFamily="34" charset="0"/>
                <a:ea typeface="Calibri" pitchFamily="34" charset="-122"/>
                <a:cs typeface="Calibri" pitchFamily="34" charset="-120"/>
              </a:rPr>
              <a:t>KEY NOTES</a:t>
            </a:r>
            <a:endParaRPr lang="en-US" sz="1100" dirty="0"/>
          </a:p>
        </p:txBody>
      </p:sp>
      <p:sp>
        <p:nvSpPr>
          <p:cNvPr id="9" name="Text 7"/>
          <p:cNvSpPr/>
          <p:nvPr/>
        </p:nvSpPr>
        <p:spPr>
          <a:xfrm>
            <a:off x="621792" y="3209544"/>
            <a:ext cx="2916936" cy="167335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release build produces a QA tag — every QA build is annotated and traceable</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A failed QA cycle sends the fix back to the same feature/release-fix branch, not a new one</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post-qa-tag hooks can notify CI/CD automatically the moment a QA build is cut</a:t>
            </a:r>
            <a:endParaRPr lang="en-US" sz="1150" dirty="0"/>
          </a:p>
        </p:txBody>
      </p:sp>
      <p:sp>
        <p:nvSpPr>
          <p:cNvPr id="10" name="Shape 8"/>
          <p:cNvSpPr/>
          <p:nvPr/>
        </p:nvSpPr>
        <p:spPr>
          <a:xfrm>
            <a:off x="457200" y="5120640"/>
            <a:ext cx="11274552" cy="1188720"/>
          </a:xfrm>
          <a:prstGeom prst="roundRect">
            <a:avLst>
              <a:gd name="adj" fmla="val 4615"/>
            </a:avLst>
          </a:prstGeom>
          <a:solidFill>
            <a:srgbClr val="0F172A"/>
          </a:solidFill>
          <a:ln w="12700">
            <a:solidFill>
              <a:srgbClr val="0F172A"/>
            </a:solidFill>
            <a:prstDash val="solid"/>
          </a:ln>
          <a:effectLst>
            <a:outerShdw sx="100000" sy="100000" kx="0" ky="0" algn="bl" rotWithShape="0" blurRad="1.1447912056398413e+173" dist="4.579164822559364e+172" dir="4.3310682305853715e+202">
              <a:srgbClr val="000000">
                <a:alpha val="1.4000000000000004e+209"/>
              </a:srgbClr>
            </a:outerShdw>
          </a:effectLst>
        </p:spPr>
      </p:sp>
      <p:sp>
        <p:nvSpPr>
          <p:cNvPr id="11" name="Text 9"/>
          <p:cNvSpPr/>
          <p:nvPr/>
        </p:nvSpPr>
        <p:spPr>
          <a:xfrm>
            <a:off x="685800" y="5212080"/>
            <a:ext cx="10817352" cy="237744"/>
          </a:xfrm>
          <a:prstGeom prst="rect">
            <a:avLst/>
          </a:prstGeom>
          <a:noFill/>
          <a:ln/>
        </p:spPr>
        <p:txBody>
          <a:bodyPr wrap="square" lIns="0" tIns="0" rIns="0" bIns="0" rtlCol="0" anchor="ctr"/>
          <a:lstStyle/>
          <a:p>
            <a:pPr indent="0" marL="0">
              <a:buNone/>
            </a:pPr>
            <a:r>
              <a:rPr lang="en-US" sz="1000" b="1" spc="100" kern="0" dirty="0">
                <a:solidFill>
                  <a:srgbClr val="93C5FD"/>
                </a:solidFill>
                <a:latin typeface="Calibri" pitchFamily="34" charset="0"/>
                <a:ea typeface="Calibri" pitchFamily="34" charset="-122"/>
                <a:cs typeface="Calibri" pitchFamily="34" charset="-120"/>
              </a:rPr>
              <a:t>QA BUILD &amp; VERIFY</a:t>
            </a:r>
            <a:endParaRPr lang="en-US" sz="1000" dirty="0"/>
          </a:p>
        </p:txBody>
      </p:sp>
      <p:sp>
        <p:nvSpPr>
          <p:cNvPr id="12" name="Text 10"/>
          <p:cNvSpPr/>
          <p:nvPr/>
        </p:nvSpPr>
        <p:spPr>
          <a:xfrm>
            <a:off x="685800" y="5504688"/>
            <a:ext cx="10817352" cy="694944"/>
          </a:xfrm>
          <a:prstGeom prst="rect">
            <a:avLst/>
          </a:prstGeom>
          <a:noFill/>
          <a:ln/>
        </p:spPr>
        <p:txBody>
          <a:bodyPr wrap="square" lIns="0" tIns="0" rIns="0" bIns="0" rtlCol="0" anchor="t"/>
          <a:lstStyle/>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build</a:t>
            </a:r>
            <a:endParaRPr lang="en-US" sz="1250" dirty="0"/>
          </a:p>
          <a:p>
            <a:pPr indent="0" marL="0">
              <a:spcAft>
                <a:spcPts val="300"/>
              </a:spcAft>
              <a:buNone/>
            </a:pPr>
            <a:r>
              <a:rPr lang="en-US" sz="1250" dirty="0">
                <a:solidFill>
                  <a:srgbClr val="64748B"/>
                </a:solidFill>
                <a:latin typeface="Courier New" pitchFamily="34" charset="0"/>
                <a:ea typeface="Courier New" pitchFamily="34" charset="-122"/>
                <a:cs typeface="Courier New" pitchFamily="34" charset="-120"/>
              </a:rPr>
              <a:t># CI deploys the tagged commit to the QA environment</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status</a:t>
            </a:r>
            <a:endParaRPr lang="en-US" sz="1250" dirty="0"/>
          </a:p>
          <a:p>
            <a:pPr indent="0" marL="0">
              <a:spcAft>
                <a:spcPts val="300"/>
              </a:spcAft>
              <a:buNone/>
            </a:pPr>
            <a:r>
              <a:rPr lang="en-US" sz="1250" dirty="0">
                <a:solidFill>
                  <a:srgbClr val="64748B"/>
                </a:solidFill>
                <a:latin typeface="Courier New" pitchFamily="34" charset="0"/>
                <a:ea typeface="Courier New" pitchFamily="34" charset="-122"/>
                <a:cs typeface="Courier New" pitchFamily="34" charset="-120"/>
              </a:rPr>
              <a:t># defect found -&gt; developer commits fix -&gt; release feature add (resync)</a:t>
            </a:r>
            <a:endParaRPr lang="en-US" sz="1250" dirty="0"/>
          </a:p>
        </p:txBody>
      </p:sp>
      <p:sp>
        <p:nvSpPr>
          <p:cNvPr id="13" name="Text 11"/>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14" name="Text 12"/>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
        <p:nvSpPr>
          <p:cNvPr id="15" name="Shape 13"/>
          <p:cNvSpPr/>
          <p:nvPr/>
        </p:nvSpPr>
        <p:spPr>
          <a:xfrm>
            <a:off x="3886200" y="1499616"/>
            <a:ext cx="1769364" cy="1417320"/>
          </a:xfrm>
          <a:prstGeom prst="roundRect">
            <a:avLst>
              <a:gd name="adj" fmla="val 5161"/>
            </a:avLst>
          </a:prstGeom>
          <a:solidFill>
            <a:srgbClr val="EA580C"/>
          </a:solidFill>
          <a:ln w="12700">
            <a:solidFill>
              <a:srgbClr val="FFFFFF"/>
            </a:solidFill>
            <a:prstDash val="solid"/>
          </a:ln>
          <a:effectLst>
            <a:outerShdw sx="100000" sy="100000" kx="0" ky="0" algn="bl" rotWithShape="0" blurRad="1.4538848311625985e+177" dist="5.815539324650392e+176" dir="2.598640938351223e+207">
              <a:srgbClr val="000000">
                <a:alpha val="1.4000000000000004e+214"/>
              </a:srgbClr>
            </a:outerShdw>
          </a:effectLst>
        </p:spPr>
      </p:sp>
      <p:pic>
        <p:nvPicPr>
          <p:cNvPr id="16" name="Image 0" descr="C:\Users\Tabish.DESKTOP-AMHU6DL\AppData\Local\Temp\claude\C--Data-Apps-GitFlowPlus\670cb83e-903e-4a7a-8a42-3e26eddb1211\scratchpad\gfp-deck\icons\checklist.png">    </p:cNvPr>
          <p:cNvPicPr>
            <a:picLocks noChangeAspect="1"/>
          </p:cNvPicPr>
          <p:nvPr/>
        </p:nvPicPr>
        <p:blipFill>
          <a:blip r:embed="rId1"/>
          <a:stretch>
            <a:fillRect/>
          </a:stretch>
        </p:blipFill>
        <p:spPr>
          <a:xfrm>
            <a:off x="4496562" y="1627632"/>
            <a:ext cx="548640" cy="548640"/>
          </a:xfrm>
          <a:prstGeom prst="rect">
            <a:avLst/>
          </a:prstGeom>
        </p:spPr>
      </p:pic>
      <p:sp>
        <p:nvSpPr>
          <p:cNvPr id="17" name="Text 14"/>
          <p:cNvSpPr/>
          <p:nvPr/>
        </p:nvSpPr>
        <p:spPr>
          <a:xfrm>
            <a:off x="3959352" y="2249424"/>
            <a:ext cx="1623060" cy="338328"/>
          </a:xfrm>
          <a:prstGeom prst="rect">
            <a:avLst/>
          </a:prstGeom>
          <a:noFill/>
          <a:ln/>
        </p:spPr>
        <p:txBody>
          <a:bodyPr wrap="square" lIns="0" tIns="0" rIns="0" bIns="0"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Release Build</a:t>
            </a:r>
            <a:endParaRPr lang="en-US" sz="1150" dirty="0"/>
          </a:p>
        </p:txBody>
      </p:sp>
      <p:sp>
        <p:nvSpPr>
          <p:cNvPr id="18" name="Text 15"/>
          <p:cNvSpPr/>
          <p:nvPr/>
        </p:nvSpPr>
        <p:spPr>
          <a:xfrm>
            <a:off x="3959352" y="2606040"/>
            <a:ext cx="1623060"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tag cut</a:t>
            </a:r>
            <a:endParaRPr lang="en-US" sz="950" dirty="0"/>
          </a:p>
        </p:txBody>
      </p:sp>
      <p:sp>
        <p:nvSpPr>
          <p:cNvPr id="19" name="Shape 16"/>
          <p:cNvSpPr/>
          <p:nvPr/>
        </p:nvSpPr>
        <p:spPr>
          <a:xfrm>
            <a:off x="5681167" y="2116836"/>
            <a:ext cx="204826" cy="182880"/>
          </a:xfrm>
          <a:prstGeom prst="rightArrow">
            <a:avLst/>
          </a:prstGeom>
          <a:solidFill>
            <a:srgbClr val="6B7280"/>
          </a:solidFill>
          <a:ln w="12700">
            <a:solidFill>
              <a:srgbClr val="6B7280"/>
            </a:solidFill>
            <a:prstDash val="solid"/>
          </a:ln>
        </p:spPr>
      </p:sp>
      <p:sp>
        <p:nvSpPr>
          <p:cNvPr id="20" name="Shape 17"/>
          <p:cNvSpPr/>
          <p:nvPr/>
        </p:nvSpPr>
        <p:spPr>
          <a:xfrm>
            <a:off x="5911596" y="1499616"/>
            <a:ext cx="1769364" cy="1417320"/>
          </a:xfrm>
          <a:prstGeom prst="roundRect">
            <a:avLst>
              <a:gd name="adj" fmla="val 5161"/>
            </a:avLst>
          </a:prstGeom>
          <a:solidFill>
            <a:srgbClr val="EA580C"/>
          </a:solidFill>
          <a:ln w="12700">
            <a:solidFill>
              <a:srgbClr val="FFFFFF"/>
            </a:solidFill>
            <a:prstDash val="solid"/>
          </a:ln>
          <a:effectLst>
            <a:outerShdw sx="100000" sy="100000" kx="0" ky="0" algn="bl" rotWithShape="0" blurRad="1.8464337355765e+181" dist="7.385734942305998e+180" dir="1.5591845630107338e+212">
              <a:srgbClr val="000000">
                <a:alpha val="1.4000000000000004e+219"/>
              </a:srgbClr>
            </a:outerShdw>
          </a:effectLst>
        </p:spPr>
      </p:sp>
      <p:pic>
        <p:nvPicPr>
          <p:cNvPr id="21" name="Image 1" descr="C:\Users\Tabish.DESKTOP-AMHU6DL\AppData\Local\Temp\claude\C--Data-Apps-GitFlowPlus\670cb83e-903e-4a7a-8a42-3e26eddb1211\scratchpad\gfp-deck\icons\devops-tools.png">    </p:cNvPr>
          <p:cNvPicPr>
            <a:picLocks noChangeAspect="1"/>
          </p:cNvPicPr>
          <p:nvPr/>
        </p:nvPicPr>
        <p:blipFill>
          <a:blip r:embed="rId2"/>
          <a:stretch>
            <a:fillRect/>
          </a:stretch>
        </p:blipFill>
        <p:spPr>
          <a:xfrm>
            <a:off x="6521958" y="1627632"/>
            <a:ext cx="548640" cy="548640"/>
          </a:xfrm>
          <a:prstGeom prst="rect">
            <a:avLst/>
          </a:prstGeom>
        </p:spPr>
      </p:pic>
      <p:sp>
        <p:nvSpPr>
          <p:cNvPr id="22" name="Text 18"/>
          <p:cNvSpPr/>
          <p:nvPr/>
        </p:nvSpPr>
        <p:spPr>
          <a:xfrm>
            <a:off x="5984748" y="2249424"/>
            <a:ext cx="1623060" cy="338328"/>
          </a:xfrm>
          <a:prstGeom prst="rect">
            <a:avLst/>
          </a:prstGeom>
          <a:noFill/>
          <a:ln/>
        </p:spPr>
        <p:txBody>
          <a:bodyPr wrap="square" lIns="0" tIns="0" rIns="0" bIns="0"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Deploy to QA Env</a:t>
            </a:r>
            <a:endParaRPr lang="en-US" sz="1150" dirty="0"/>
          </a:p>
        </p:txBody>
      </p:sp>
      <p:sp>
        <p:nvSpPr>
          <p:cNvPr id="23" name="Text 19"/>
          <p:cNvSpPr/>
          <p:nvPr/>
        </p:nvSpPr>
        <p:spPr>
          <a:xfrm>
            <a:off x="5984748" y="2606040"/>
            <a:ext cx="1623060"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via post-qa-tag hook</a:t>
            </a:r>
            <a:endParaRPr lang="en-US" sz="950" dirty="0"/>
          </a:p>
        </p:txBody>
      </p:sp>
      <p:sp>
        <p:nvSpPr>
          <p:cNvPr id="24" name="Shape 20"/>
          <p:cNvSpPr/>
          <p:nvPr/>
        </p:nvSpPr>
        <p:spPr>
          <a:xfrm>
            <a:off x="7706563" y="2116836"/>
            <a:ext cx="204826" cy="182880"/>
          </a:xfrm>
          <a:prstGeom prst="rightArrow">
            <a:avLst/>
          </a:prstGeom>
          <a:solidFill>
            <a:srgbClr val="6B7280"/>
          </a:solidFill>
          <a:ln w="12700">
            <a:solidFill>
              <a:srgbClr val="6B7280"/>
            </a:solidFill>
            <a:prstDash val="solid"/>
          </a:ln>
        </p:spPr>
      </p:sp>
      <p:sp>
        <p:nvSpPr>
          <p:cNvPr id="25" name="Shape 21"/>
          <p:cNvSpPr/>
          <p:nvPr/>
        </p:nvSpPr>
        <p:spPr>
          <a:xfrm>
            <a:off x="7936992" y="1499616"/>
            <a:ext cx="1769364" cy="1417320"/>
          </a:xfrm>
          <a:prstGeom prst="roundRect">
            <a:avLst>
              <a:gd name="adj" fmla="val 5161"/>
            </a:avLst>
          </a:prstGeom>
          <a:solidFill>
            <a:srgbClr val="EA580C"/>
          </a:solidFill>
          <a:ln w="12700">
            <a:solidFill>
              <a:srgbClr val="FFFFFF"/>
            </a:solidFill>
            <a:prstDash val="solid"/>
          </a:ln>
          <a:effectLst>
            <a:outerShdw sx="100000" sy="100000" kx="0" ky="0" algn="bl" rotWithShape="0" blurRad="2.344970844182155e+185" dist="9.379883376728618e+184" dir="9.355107378064403e+216">
              <a:srgbClr val="000000">
                <a:alpha val="1.4000000000000005e+224"/>
              </a:srgbClr>
            </a:outerShdw>
          </a:effectLst>
        </p:spPr>
      </p:sp>
      <p:pic>
        <p:nvPicPr>
          <p:cNvPr id="26" name="Image 2" descr="C:\Users\Tabish.DESKTOP-AMHU6DL\AppData\Local\Temp\claude\C--Data-Apps-GitFlowPlus\670cb83e-903e-4a7a-8a42-3e26eddb1211\scratchpad\gfp-deck\icons\qa-engineer.png">    </p:cNvPr>
          <p:cNvPicPr>
            <a:picLocks noChangeAspect="1"/>
          </p:cNvPicPr>
          <p:nvPr/>
        </p:nvPicPr>
        <p:blipFill>
          <a:blip r:embed="rId3"/>
          <a:stretch>
            <a:fillRect/>
          </a:stretch>
        </p:blipFill>
        <p:spPr>
          <a:xfrm>
            <a:off x="8547354" y="1627632"/>
            <a:ext cx="548640" cy="548640"/>
          </a:xfrm>
          <a:prstGeom prst="rect">
            <a:avLst/>
          </a:prstGeom>
        </p:spPr>
      </p:pic>
      <p:sp>
        <p:nvSpPr>
          <p:cNvPr id="27" name="Text 22"/>
          <p:cNvSpPr/>
          <p:nvPr/>
        </p:nvSpPr>
        <p:spPr>
          <a:xfrm>
            <a:off x="8010144" y="2249424"/>
            <a:ext cx="1623060" cy="338328"/>
          </a:xfrm>
          <a:prstGeom prst="rect">
            <a:avLst/>
          </a:prstGeom>
          <a:noFill/>
          <a:ln/>
        </p:spPr>
        <p:txBody>
          <a:bodyPr wrap="square" lIns="0" tIns="0" rIns="0" bIns="0"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QA Executes Tests</a:t>
            </a:r>
            <a:endParaRPr lang="en-US" sz="1150" dirty="0"/>
          </a:p>
        </p:txBody>
      </p:sp>
      <p:sp>
        <p:nvSpPr>
          <p:cNvPr id="28" name="Text 23"/>
          <p:cNvSpPr/>
          <p:nvPr/>
        </p:nvSpPr>
        <p:spPr>
          <a:xfrm>
            <a:off x="8010144" y="2606040"/>
            <a:ext cx="1623060"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manual &amp; automated</a:t>
            </a:r>
            <a:endParaRPr lang="en-US" sz="950" dirty="0"/>
          </a:p>
        </p:txBody>
      </p:sp>
      <p:sp>
        <p:nvSpPr>
          <p:cNvPr id="29" name="Shape 24"/>
          <p:cNvSpPr/>
          <p:nvPr/>
        </p:nvSpPr>
        <p:spPr>
          <a:xfrm>
            <a:off x="9731959" y="2116836"/>
            <a:ext cx="204826" cy="182880"/>
          </a:xfrm>
          <a:prstGeom prst="rightArrow">
            <a:avLst/>
          </a:prstGeom>
          <a:solidFill>
            <a:srgbClr val="6B7280"/>
          </a:solidFill>
          <a:ln w="12700">
            <a:solidFill>
              <a:srgbClr val="6B7280"/>
            </a:solidFill>
            <a:prstDash val="solid"/>
          </a:ln>
        </p:spPr>
      </p:sp>
      <p:sp>
        <p:nvSpPr>
          <p:cNvPr id="30" name="Shape 25"/>
          <p:cNvSpPr/>
          <p:nvPr/>
        </p:nvSpPr>
        <p:spPr>
          <a:xfrm>
            <a:off x="9962388" y="1499616"/>
            <a:ext cx="1769364" cy="1417320"/>
          </a:xfrm>
          <a:prstGeom prst="roundRect">
            <a:avLst>
              <a:gd name="adj" fmla="val 5161"/>
            </a:avLst>
          </a:prstGeom>
          <a:solidFill>
            <a:srgbClr val="1E2761"/>
          </a:solidFill>
          <a:ln w="12700">
            <a:solidFill>
              <a:srgbClr val="FFFFFF"/>
            </a:solidFill>
            <a:prstDash val="solid"/>
          </a:ln>
          <a:effectLst>
            <a:outerShdw sx="100000" sy="100000" kx="0" ky="0" algn="bl" rotWithShape="0" blurRad="2.978112972111337e+189" dist="1.1912451888445345e+189" dir="5.613064426838642e+221">
              <a:srgbClr val="000000">
                <a:alpha val="1.4000000000000004e+229"/>
              </a:srgbClr>
            </a:outerShdw>
          </a:effectLst>
        </p:spPr>
      </p:sp>
      <p:pic>
        <p:nvPicPr>
          <p:cNvPr id="31" name="Image 3" descr="C:\Users\Tabish.DESKTOP-AMHU6DL\AppData\Local\Temp\claude\C--Data-Apps-GitFlowPlus\670cb83e-903e-4a7a-8a42-3e26eddb1211\scratchpad\gfp-deck\icons\question.png">    </p:cNvPr>
          <p:cNvPicPr>
            <a:picLocks noChangeAspect="1"/>
          </p:cNvPicPr>
          <p:nvPr/>
        </p:nvPicPr>
        <p:blipFill>
          <a:blip r:embed="rId4"/>
          <a:stretch>
            <a:fillRect/>
          </a:stretch>
        </p:blipFill>
        <p:spPr>
          <a:xfrm>
            <a:off x="10572750" y="1627632"/>
            <a:ext cx="548640" cy="548640"/>
          </a:xfrm>
          <a:prstGeom prst="rect">
            <a:avLst/>
          </a:prstGeom>
        </p:spPr>
      </p:pic>
      <p:sp>
        <p:nvSpPr>
          <p:cNvPr id="32" name="Text 26"/>
          <p:cNvSpPr/>
          <p:nvPr/>
        </p:nvSpPr>
        <p:spPr>
          <a:xfrm>
            <a:off x="10035540" y="2249424"/>
            <a:ext cx="1623060" cy="338328"/>
          </a:xfrm>
          <a:prstGeom prst="rect">
            <a:avLst/>
          </a:prstGeom>
          <a:noFill/>
          <a:ln/>
        </p:spPr>
        <p:txBody>
          <a:bodyPr wrap="square" lIns="0" tIns="0" rIns="0" bIns="0"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Pass?</a:t>
            </a:r>
            <a:endParaRPr lang="en-US" sz="1150" dirty="0"/>
          </a:p>
        </p:txBody>
      </p:sp>
      <p:sp>
        <p:nvSpPr>
          <p:cNvPr id="33" name="Text 27"/>
          <p:cNvSpPr/>
          <p:nvPr/>
        </p:nvSpPr>
        <p:spPr>
          <a:xfrm>
            <a:off x="10035540" y="2606040"/>
            <a:ext cx="1623060"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decision point</a:t>
            </a:r>
            <a:endParaRPr lang="en-US" sz="950" dirty="0"/>
          </a:p>
        </p:txBody>
      </p:sp>
      <p:sp>
        <p:nvSpPr>
          <p:cNvPr id="34" name="Shape 28"/>
          <p:cNvSpPr/>
          <p:nvPr/>
        </p:nvSpPr>
        <p:spPr>
          <a:xfrm flipH="1">
            <a:off x="5779008" y="2916936"/>
            <a:ext cx="5068062" cy="640080"/>
          </a:xfrm>
          <a:prstGeom prst="line">
            <a:avLst/>
          </a:prstGeom>
          <a:noFill/>
          <a:ln w="31750">
            <a:solidFill>
              <a:srgbClr val="16A34A"/>
            </a:solidFill>
            <a:prstDash val="solid"/>
            <a:tailEnd type="triangle"/>
          </a:ln>
        </p:spPr>
      </p:sp>
      <p:sp>
        <p:nvSpPr>
          <p:cNvPr id="35" name="Shape 29"/>
          <p:cNvSpPr/>
          <p:nvPr/>
        </p:nvSpPr>
        <p:spPr>
          <a:xfrm flipH="1">
            <a:off x="9838944" y="2916936"/>
            <a:ext cx="1008126" cy="640080"/>
          </a:xfrm>
          <a:prstGeom prst="line">
            <a:avLst/>
          </a:prstGeom>
          <a:noFill/>
          <a:ln w="31750">
            <a:solidFill>
              <a:srgbClr val="EA580C"/>
            </a:solidFill>
            <a:prstDash val="solid"/>
            <a:tailEnd type="triangle"/>
          </a:ln>
        </p:spPr>
      </p:sp>
      <p:sp>
        <p:nvSpPr>
          <p:cNvPr id="36" name="Shape 30"/>
          <p:cNvSpPr/>
          <p:nvPr/>
        </p:nvSpPr>
        <p:spPr>
          <a:xfrm>
            <a:off x="3886200" y="3557016"/>
            <a:ext cx="3785616" cy="777240"/>
          </a:xfrm>
          <a:prstGeom prst="roundRect">
            <a:avLst>
              <a:gd name="adj" fmla="val 7059"/>
            </a:avLst>
          </a:prstGeom>
          <a:solidFill>
            <a:srgbClr val="F3F4F6"/>
          </a:solidFill>
          <a:ln w="12700">
            <a:solidFill>
              <a:srgbClr val="16A34A"/>
            </a:solidFill>
            <a:prstDash val="solid"/>
          </a:ln>
        </p:spPr>
      </p:sp>
      <p:sp>
        <p:nvSpPr>
          <p:cNvPr id="37" name="Text 31"/>
          <p:cNvSpPr/>
          <p:nvPr/>
        </p:nvSpPr>
        <p:spPr>
          <a:xfrm>
            <a:off x="4023360" y="3648456"/>
            <a:ext cx="3511296" cy="274320"/>
          </a:xfrm>
          <a:prstGeom prst="rect">
            <a:avLst/>
          </a:prstGeom>
          <a:noFill/>
          <a:ln/>
        </p:spPr>
        <p:txBody>
          <a:bodyPr wrap="square" lIns="0" tIns="0" rIns="0" bIns="0" rtlCol="0" anchor="ctr"/>
          <a:lstStyle/>
          <a:p>
            <a:pPr indent="0" marL="0">
              <a:buNone/>
            </a:pPr>
            <a:r>
              <a:rPr lang="en-US" sz="1150" b="1" dirty="0">
                <a:solidFill>
                  <a:srgbClr val="16A34A"/>
                </a:solidFill>
                <a:latin typeface="Calibri" pitchFamily="34" charset="0"/>
                <a:ea typeface="Calibri" pitchFamily="34" charset="-122"/>
                <a:cs typeface="Calibri" pitchFamily="34" charset="-120"/>
              </a:rPr>
              <a:t>YES — release finish</a:t>
            </a:r>
            <a:endParaRPr lang="en-US" sz="1150" dirty="0"/>
          </a:p>
        </p:txBody>
      </p:sp>
      <p:sp>
        <p:nvSpPr>
          <p:cNvPr id="38" name="Text 32"/>
          <p:cNvSpPr/>
          <p:nvPr/>
        </p:nvSpPr>
        <p:spPr>
          <a:xfrm>
            <a:off x="4023360" y="3950208"/>
            <a:ext cx="3511296" cy="3200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Tag &amp; merge to production</a:t>
            </a:r>
            <a:endParaRPr lang="en-US" sz="1050" dirty="0"/>
          </a:p>
        </p:txBody>
      </p:sp>
      <p:sp>
        <p:nvSpPr>
          <p:cNvPr id="39" name="Shape 33"/>
          <p:cNvSpPr/>
          <p:nvPr/>
        </p:nvSpPr>
        <p:spPr>
          <a:xfrm>
            <a:off x="7946136" y="3557016"/>
            <a:ext cx="3785616" cy="777240"/>
          </a:xfrm>
          <a:prstGeom prst="roundRect">
            <a:avLst>
              <a:gd name="adj" fmla="val 7059"/>
            </a:avLst>
          </a:prstGeom>
          <a:solidFill>
            <a:srgbClr val="F3F4F6"/>
          </a:solidFill>
          <a:ln w="12700">
            <a:solidFill>
              <a:srgbClr val="EA580C"/>
            </a:solidFill>
            <a:prstDash val="solid"/>
          </a:ln>
        </p:spPr>
      </p:sp>
      <p:sp>
        <p:nvSpPr>
          <p:cNvPr id="40" name="Text 34"/>
          <p:cNvSpPr/>
          <p:nvPr/>
        </p:nvSpPr>
        <p:spPr>
          <a:xfrm>
            <a:off x="8083296" y="3648456"/>
            <a:ext cx="3511296" cy="274320"/>
          </a:xfrm>
          <a:prstGeom prst="rect">
            <a:avLst/>
          </a:prstGeom>
          <a:noFill/>
          <a:ln/>
        </p:spPr>
        <p:txBody>
          <a:bodyPr wrap="square" lIns="0" tIns="0" rIns="0" bIns="0" rtlCol="0" anchor="ctr"/>
          <a:lstStyle/>
          <a:p>
            <a:pPr indent="0" marL="0">
              <a:buNone/>
            </a:pPr>
            <a:r>
              <a:rPr lang="en-US" sz="1150" b="1" dirty="0">
                <a:solidFill>
                  <a:srgbClr val="EA580C"/>
                </a:solidFill>
                <a:latin typeface="Calibri" pitchFamily="34" charset="0"/>
                <a:ea typeface="Calibri" pitchFamily="34" charset="-122"/>
                <a:cs typeface="Calibri" pitchFamily="34" charset="-120"/>
              </a:rPr>
              <a:t>NO — fix &amp; resync</a:t>
            </a:r>
            <a:endParaRPr lang="en-US" sz="1150" dirty="0"/>
          </a:p>
        </p:txBody>
      </p:sp>
      <p:sp>
        <p:nvSpPr>
          <p:cNvPr id="41" name="Text 35"/>
          <p:cNvSpPr/>
          <p:nvPr/>
        </p:nvSpPr>
        <p:spPr>
          <a:xfrm>
            <a:off x="8083296" y="3950208"/>
            <a:ext cx="3511296" cy="3200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Commit to the same branch, re-run release feature add, rebuild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EA580C"/>
                </a:solidFill>
                <a:latin typeface="Calibri" pitchFamily="34" charset="0"/>
                <a:ea typeface="Calibri" pitchFamily="34" charset="-122"/>
                <a:cs typeface="Calibri" pitchFamily="34" charset="-120"/>
              </a:rPr>
              <a:t>RELEASE FIX WORKFLOW</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Release Fix Workflow — Fixing Defects Mid-Release</a:t>
            </a:r>
            <a:endParaRPr lang="en-US" sz="3000" dirty="0"/>
          </a:p>
        </p:txBody>
      </p:sp>
      <p:sp>
        <p:nvSpPr>
          <p:cNvPr id="4" name="Shape 2"/>
          <p:cNvSpPr/>
          <p:nvPr/>
        </p:nvSpPr>
        <p:spPr>
          <a:xfrm>
            <a:off x="457200" y="1225296"/>
            <a:ext cx="3246120" cy="1417320"/>
          </a:xfrm>
          <a:prstGeom prst="roundRect">
            <a:avLst>
              <a:gd name="adj" fmla="val 3871"/>
            </a:avLst>
          </a:prstGeom>
          <a:solidFill>
            <a:srgbClr val="F3F4F6"/>
          </a:solidFill>
          <a:ln w="9525">
            <a:solidFill>
              <a:srgbClr val="E5E7EB"/>
            </a:solidFill>
            <a:prstDash val="solid"/>
          </a:ln>
          <a:effectLst>
            <a:outerShdw sx="100000" sy="100000" kx="0" ky="0" algn="bl" rotWithShape="0" blurRad="3.782203474581398e+193" dist="1.5128813898325588e+193" dir="3.367838656103185e+226">
              <a:srgbClr val="000000">
                <a:alpha val="1.4000000000000004e+234"/>
              </a:srgbClr>
            </a:outerShdw>
          </a:effectLst>
        </p:spPr>
      </p:sp>
      <p:sp>
        <p:nvSpPr>
          <p:cNvPr id="5" name="Text 3"/>
          <p:cNvSpPr/>
          <p:nvPr/>
        </p:nvSpPr>
        <p:spPr>
          <a:xfrm>
            <a:off x="621792" y="1335024"/>
            <a:ext cx="2916936" cy="256032"/>
          </a:xfrm>
          <a:prstGeom prst="rect">
            <a:avLst/>
          </a:prstGeom>
          <a:noFill/>
          <a:ln/>
        </p:spPr>
        <p:txBody>
          <a:bodyPr wrap="square" lIns="0" tIns="0" rIns="0" bIns="0" rtlCol="0" anchor="ctr"/>
          <a:lstStyle/>
          <a:p>
            <a:pPr indent="0" marL="0">
              <a:buNone/>
            </a:pPr>
            <a:r>
              <a:rPr lang="en-US" sz="1100" b="1" spc="100" kern="0" dirty="0">
                <a:solidFill>
                  <a:srgbClr val="EA580C"/>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621792" y="1645920"/>
            <a:ext cx="2916936" cy="8869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Distinguish a release-fix from an ordinary feature</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Learn the commands for starting and merging a release fix</a:t>
            </a:r>
            <a:endParaRPr lang="en-US" sz="1200" dirty="0"/>
          </a:p>
        </p:txBody>
      </p:sp>
      <p:sp>
        <p:nvSpPr>
          <p:cNvPr id="7" name="Shape 5"/>
          <p:cNvSpPr/>
          <p:nvPr/>
        </p:nvSpPr>
        <p:spPr>
          <a:xfrm>
            <a:off x="457200" y="2788920"/>
            <a:ext cx="3246120" cy="2203704"/>
          </a:xfrm>
          <a:prstGeom prst="roundRect">
            <a:avLst>
              <a:gd name="adj" fmla="val 2490"/>
            </a:avLst>
          </a:prstGeom>
          <a:solidFill>
            <a:srgbClr val="F3F4F6"/>
          </a:solidFill>
          <a:ln w="9525">
            <a:solidFill>
              <a:srgbClr val="E5E7EB"/>
            </a:solidFill>
            <a:prstDash val="solid"/>
          </a:ln>
          <a:effectLst>
            <a:outerShdw sx="100000" sy="100000" kx="0" ky="0" algn="bl" rotWithShape="0" blurRad="4.803398412718375e+197" dist="1.9213593650873497e+197" dir="2.020703193661911e+231">
              <a:srgbClr val="000000">
                <a:alpha val="1.4000000000000005e+239"/>
              </a:srgbClr>
            </a:outerShdw>
          </a:effectLst>
        </p:spPr>
      </p:sp>
      <p:sp>
        <p:nvSpPr>
          <p:cNvPr id="8" name="Text 6"/>
          <p:cNvSpPr/>
          <p:nvPr/>
        </p:nvSpPr>
        <p:spPr>
          <a:xfrm>
            <a:off x="621792" y="2898648"/>
            <a:ext cx="2916936" cy="256032"/>
          </a:xfrm>
          <a:prstGeom prst="rect">
            <a:avLst/>
          </a:prstGeom>
          <a:noFill/>
          <a:ln/>
        </p:spPr>
        <p:txBody>
          <a:bodyPr wrap="square" lIns="0" tIns="0" rIns="0" bIns="0" rtlCol="0" anchor="ctr"/>
          <a:lstStyle/>
          <a:p>
            <a:pPr indent="0" marL="0">
              <a:buNone/>
            </a:pPr>
            <a:r>
              <a:rPr lang="en-US" sz="1100" b="1" spc="100" kern="0" dirty="0">
                <a:solidFill>
                  <a:srgbClr val="EA580C"/>
                </a:solidFill>
                <a:latin typeface="Calibri" pitchFamily="34" charset="0"/>
                <a:ea typeface="Calibri" pitchFamily="34" charset="-122"/>
                <a:cs typeface="Calibri" pitchFamily="34" charset="-120"/>
              </a:rPr>
              <a:t>KEY NOTES</a:t>
            </a:r>
            <a:endParaRPr lang="en-US" sz="1100" dirty="0"/>
          </a:p>
        </p:txBody>
      </p:sp>
      <p:sp>
        <p:nvSpPr>
          <p:cNvPr id="9" name="Text 7"/>
          <p:cNvSpPr/>
          <p:nvPr/>
        </p:nvSpPr>
        <p:spPr>
          <a:xfrm>
            <a:off x="621792" y="3209544"/>
            <a:ext cx="2916936" cy="167335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A release fix branches from staging, exactly like a feature, but is scoped to a single defect</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Merging a release fix never moves the version — only release build does</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branch stays alive until release finish, same as a feature branch</a:t>
            </a:r>
            <a:endParaRPr lang="en-US" sz="1150" dirty="0"/>
          </a:p>
        </p:txBody>
      </p:sp>
      <p:sp>
        <p:nvSpPr>
          <p:cNvPr id="10" name="Shape 8"/>
          <p:cNvSpPr/>
          <p:nvPr/>
        </p:nvSpPr>
        <p:spPr>
          <a:xfrm>
            <a:off x="457200" y="5120640"/>
            <a:ext cx="11274552" cy="1188720"/>
          </a:xfrm>
          <a:prstGeom prst="roundRect">
            <a:avLst>
              <a:gd name="adj" fmla="val 4615"/>
            </a:avLst>
          </a:prstGeom>
          <a:solidFill>
            <a:srgbClr val="0F172A"/>
          </a:solidFill>
          <a:ln w="12700">
            <a:solidFill>
              <a:srgbClr val="0F172A"/>
            </a:solidFill>
            <a:prstDash val="solid"/>
          </a:ln>
          <a:effectLst>
            <a:outerShdw sx="100000" sy="100000" kx="0" ky="0" algn="bl" rotWithShape="0" blurRad="6.100315984152336e+201" dist="2.440126393660934e+201" dir="1.2124219161971466e+236">
              <a:srgbClr val="000000">
                <a:alpha val="1.4000000000000006e+244"/>
              </a:srgbClr>
            </a:outerShdw>
          </a:effectLst>
        </p:spPr>
      </p:sp>
      <p:sp>
        <p:nvSpPr>
          <p:cNvPr id="11" name="Text 9"/>
          <p:cNvSpPr/>
          <p:nvPr/>
        </p:nvSpPr>
        <p:spPr>
          <a:xfrm>
            <a:off x="685800" y="5212080"/>
            <a:ext cx="10817352" cy="237744"/>
          </a:xfrm>
          <a:prstGeom prst="rect">
            <a:avLst/>
          </a:prstGeom>
          <a:noFill/>
          <a:ln/>
        </p:spPr>
        <p:txBody>
          <a:bodyPr wrap="square" lIns="0" tIns="0" rIns="0" bIns="0" rtlCol="0" anchor="ctr"/>
          <a:lstStyle/>
          <a:p>
            <a:pPr indent="0" marL="0">
              <a:buNone/>
            </a:pPr>
            <a:r>
              <a:rPr lang="en-US" sz="1000" b="1" spc="100" kern="0" dirty="0">
                <a:solidFill>
                  <a:srgbClr val="93C5FD"/>
                </a:solidFill>
                <a:latin typeface="Calibri" pitchFamily="34" charset="0"/>
                <a:ea typeface="Calibri" pitchFamily="34" charset="-122"/>
                <a:cs typeface="Calibri" pitchFamily="34" charset="-120"/>
              </a:rPr>
              <a:t>FIXING A QA-REPORTED DEFECT</a:t>
            </a:r>
            <a:endParaRPr lang="en-US" sz="1000" dirty="0"/>
          </a:p>
        </p:txBody>
      </p:sp>
      <p:sp>
        <p:nvSpPr>
          <p:cNvPr id="12" name="Text 10"/>
          <p:cNvSpPr/>
          <p:nvPr/>
        </p:nvSpPr>
        <p:spPr>
          <a:xfrm>
            <a:off x="685800" y="5504688"/>
            <a:ext cx="10817352" cy="694944"/>
          </a:xfrm>
          <a:prstGeom prst="rect">
            <a:avLst/>
          </a:prstGeom>
          <a:noFill/>
          <a:ln/>
        </p:spPr>
        <p:txBody>
          <a:bodyPr wrap="square" lIns="0" tIns="0" rIns="0" bIns="0" rtlCol="0" anchor="t"/>
          <a:lstStyle/>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releasefix start BUG-101</a:t>
            </a:r>
            <a:endParaRPr lang="en-US" sz="1250" dirty="0"/>
          </a:p>
          <a:p>
            <a:pPr indent="0" marL="0">
              <a:spcAft>
                <a:spcPts val="300"/>
              </a:spcAft>
              <a:buNone/>
            </a:pPr>
            <a:r>
              <a:rPr lang="en-US" sz="1250" dirty="0">
                <a:solidFill>
                  <a:srgbClr val="64748B"/>
                </a:solidFill>
                <a:latin typeface="Courier New" pitchFamily="34" charset="0"/>
                <a:ea typeface="Courier New" pitchFamily="34" charset="-122"/>
                <a:cs typeface="Courier New" pitchFamily="34" charset="-120"/>
              </a:rPr>
              <a:t># ... commit the fix ...</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releasefix finish BUG-101</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build</a:t>
            </a:r>
            <a:endParaRPr lang="en-US" sz="1250" dirty="0"/>
          </a:p>
        </p:txBody>
      </p:sp>
      <p:sp>
        <p:nvSpPr>
          <p:cNvPr id="13" name="Text 11"/>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14" name="Text 12"/>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
        <p:nvSpPr>
          <p:cNvPr id="15" name="Shape 13"/>
          <p:cNvSpPr/>
          <p:nvPr/>
        </p:nvSpPr>
        <p:spPr>
          <a:xfrm>
            <a:off x="3886200" y="1682496"/>
            <a:ext cx="1378915" cy="1554480"/>
          </a:xfrm>
          <a:prstGeom prst="roundRect">
            <a:avLst>
              <a:gd name="adj" fmla="val 5305"/>
            </a:avLst>
          </a:prstGeom>
          <a:solidFill>
            <a:srgbClr val="EA580C"/>
          </a:solidFill>
          <a:ln w="12700">
            <a:solidFill>
              <a:srgbClr val="FFFFFF"/>
            </a:solidFill>
            <a:prstDash val="solid"/>
          </a:ln>
          <a:effectLst>
            <a:outerShdw sx="100000" sy="100000" kx="0" ky="0" algn="bl" rotWithShape="0" blurRad="7.747401299873467e+205" dist="3.0989605199493864e+205" dir="7.27453149718288e+240">
              <a:srgbClr val="000000">
                <a:alpha val="1.4000000000000005e+249"/>
              </a:srgbClr>
            </a:outerShdw>
          </a:effectLst>
        </p:spPr>
      </p:sp>
      <p:pic>
        <p:nvPicPr>
          <p:cNvPr id="16" name="Image 0" descr="C:\Users\Tabish.DESKTOP-AMHU6DL\AppData\Local\Temp\claude\C--Data-Apps-GitFlowPlus\670cb83e-903e-4a7a-8a42-3e26eddb1211\scratchpad\gfp-deck\icons\bug.png">    </p:cNvPr>
          <p:cNvPicPr>
            <a:picLocks noChangeAspect="1"/>
          </p:cNvPicPr>
          <p:nvPr/>
        </p:nvPicPr>
        <p:blipFill>
          <a:blip r:embed="rId1"/>
          <a:stretch>
            <a:fillRect/>
          </a:stretch>
        </p:blipFill>
        <p:spPr>
          <a:xfrm>
            <a:off x="4301338" y="1810512"/>
            <a:ext cx="548640" cy="548640"/>
          </a:xfrm>
          <a:prstGeom prst="rect">
            <a:avLst/>
          </a:prstGeom>
        </p:spPr>
      </p:pic>
      <p:sp>
        <p:nvSpPr>
          <p:cNvPr id="17" name="Text 14"/>
          <p:cNvSpPr/>
          <p:nvPr/>
        </p:nvSpPr>
        <p:spPr>
          <a:xfrm>
            <a:off x="3959352" y="2432304"/>
            <a:ext cx="1232611"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QA Reports Defect</a:t>
            </a:r>
            <a:endParaRPr lang="en-US" sz="1250" dirty="0"/>
          </a:p>
        </p:txBody>
      </p:sp>
      <p:sp>
        <p:nvSpPr>
          <p:cNvPr id="18" name="Text 15"/>
          <p:cNvSpPr/>
          <p:nvPr/>
        </p:nvSpPr>
        <p:spPr>
          <a:xfrm>
            <a:off x="3959352" y="292608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BUG-101</a:t>
            </a:r>
            <a:endParaRPr lang="en-US" sz="950" dirty="0"/>
          </a:p>
        </p:txBody>
      </p:sp>
      <p:sp>
        <p:nvSpPr>
          <p:cNvPr id="19" name="Shape 16"/>
          <p:cNvSpPr/>
          <p:nvPr/>
        </p:nvSpPr>
        <p:spPr>
          <a:xfrm>
            <a:off x="5288890" y="2368296"/>
            <a:ext cx="190195" cy="182880"/>
          </a:xfrm>
          <a:prstGeom prst="rightArrow">
            <a:avLst/>
          </a:prstGeom>
          <a:solidFill>
            <a:srgbClr val="6B7280"/>
          </a:solidFill>
          <a:ln w="12700">
            <a:solidFill>
              <a:srgbClr val="6B7280"/>
            </a:solidFill>
            <a:prstDash val="solid"/>
          </a:ln>
        </p:spPr>
      </p:sp>
      <p:sp>
        <p:nvSpPr>
          <p:cNvPr id="20" name="Shape 17"/>
          <p:cNvSpPr/>
          <p:nvPr/>
        </p:nvSpPr>
        <p:spPr>
          <a:xfrm>
            <a:off x="5502859" y="1682496"/>
            <a:ext cx="1378915" cy="1554480"/>
          </a:xfrm>
          <a:prstGeom prst="roundRect">
            <a:avLst>
              <a:gd name="adj" fmla="val 5305"/>
            </a:avLst>
          </a:prstGeom>
          <a:solidFill>
            <a:srgbClr val="EA580C"/>
          </a:solidFill>
          <a:ln w="12700">
            <a:solidFill>
              <a:srgbClr val="FFFFFF"/>
            </a:solidFill>
            <a:prstDash val="solid"/>
          </a:ln>
          <a:effectLst>
            <a:outerShdw sx="100000" sy="100000" kx="0" ky="0" algn="bl" rotWithShape="0" blurRad="9.839199650839303e+209" dist="3.9356798603357206e+209" dir="4.364718898309728e+245">
              <a:srgbClr val="000000">
                <a:alpha val="1.4000000000000004e+254"/>
              </a:srgbClr>
            </a:outerShdw>
          </a:effectLst>
        </p:spPr>
      </p:sp>
      <p:pic>
        <p:nvPicPr>
          <p:cNvPr id="21" name="Image 1" descr="C:\Users\Tabish.DESKTOP-AMHU6DL\AppData\Local\Temp\claude\C--Data-Apps-GitFlowPlus\670cb83e-903e-4a7a-8a42-3e26eddb1211\scratchpad\gfp-deck\icons\git-branch.png">    </p:cNvPr>
          <p:cNvPicPr>
            <a:picLocks noChangeAspect="1"/>
          </p:cNvPicPr>
          <p:nvPr/>
        </p:nvPicPr>
        <p:blipFill>
          <a:blip r:embed="rId2"/>
          <a:stretch>
            <a:fillRect/>
          </a:stretch>
        </p:blipFill>
        <p:spPr>
          <a:xfrm>
            <a:off x="5917997" y="1810512"/>
            <a:ext cx="548640" cy="548640"/>
          </a:xfrm>
          <a:prstGeom prst="rect">
            <a:avLst/>
          </a:prstGeom>
        </p:spPr>
      </p:pic>
      <p:sp>
        <p:nvSpPr>
          <p:cNvPr id="22" name="Text 18"/>
          <p:cNvSpPr/>
          <p:nvPr/>
        </p:nvSpPr>
        <p:spPr>
          <a:xfrm>
            <a:off x="5576011" y="2432304"/>
            <a:ext cx="1232611"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releasefix start</a:t>
            </a:r>
            <a:endParaRPr lang="en-US" sz="1250" dirty="0"/>
          </a:p>
        </p:txBody>
      </p:sp>
      <p:sp>
        <p:nvSpPr>
          <p:cNvPr id="23" name="Text 19"/>
          <p:cNvSpPr/>
          <p:nvPr/>
        </p:nvSpPr>
        <p:spPr>
          <a:xfrm>
            <a:off x="5576011" y="292608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branch from staging</a:t>
            </a:r>
            <a:endParaRPr lang="en-US" sz="950" dirty="0"/>
          </a:p>
        </p:txBody>
      </p:sp>
      <p:sp>
        <p:nvSpPr>
          <p:cNvPr id="24" name="Shape 20"/>
          <p:cNvSpPr/>
          <p:nvPr/>
        </p:nvSpPr>
        <p:spPr>
          <a:xfrm>
            <a:off x="6905549" y="2368296"/>
            <a:ext cx="190195" cy="182880"/>
          </a:xfrm>
          <a:prstGeom prst="rightArrow">
            <a:avLst/>
          </a:prstGeom>
          <a:solidFill>
            <a:srgbClr val="6B7280"/>
          </a:solidFill>
          <a:ln w="12700">
            <a:solidFill>
              <a:srgbClr val="6B7280"/>
            </a:solidFill>
            <a:prstDash val="solid"/>
          </a:ln>
        </p:spPr>
      </p:sp>
      <p:sp>
        <p:nvSpPr>
          <p:cNvPr id="25" name="Shape 21"/>
          <p:cNvSpPr/>
          <p:nvPr/>
        </p:nvSpPr>
        <p:spPr>
          <a:xfrm>
            <a:off x="7119518" y="1682496"/>
            <a:ext cx="1378915" cy="1554480"/>
          </a:xfrm>
          <a:prstGeom prst="roundRect">
            <a:avLst>
              <a:gd name="adj" fmla="val 5305"/>
            </a:avLst>
          </a:prstGeom>
          <a:solidFill>
            <a:srgbClr val="EA580C"/>
          </a:solidFill>
          <a:ln w="12700">
            <a:solidFill>
              <a:srgbClr val="FFFFFF"/>
            </a:solidFill>
            <a:prstDash val="solid"/>
          </a:ln>
          <a:effectLst>
            <a:outerShdw sx="100000" sy="100000" kx="0" ky="0" algn="bl" rotWithShape="0" blurRad="1.2495783556565913e+214" dist="4.9983134226263654e+213" dir="2.6188313389858368e+250">
              <a:srgbClr val="000000">
                <a:alpha val="1.4000000000000004e+259"/>
              </a:srgbClr>
            </a:outerShdw>
          </a:effectLst>
        </p:spPr>
      </p:sp>
      <p:pic>
        <p:nvPicPr>
          <p:cNvPr id="26" name="Image 2" descr="C:\Users\Tabish.DESKTOP-AMHU6DL\AppData\Local\Temp\claude\C--Data-Apps-GitFlowPlus\670cb83e-903e-4a7a-8a42-3e26eddb1211\scratchpad\gfp-deck\icons\developer.png">    </p:cNvPr>
          <p:cNvPicPr>
            <a:picLocks noChangeAspect="1"/>
          </p:cNvPicPr>
          <p:nvPr/>
        </p:nvPicPr>
        <p:blipFill>
          <a:blip r:embed="rId3"/>
          <a:stretch>
            <a:fillRect/>
          </a:stretch>
        </p:blipFill>
        <p:spPr>
          <a:xfrm>
            <a:off x="7534656" y="1810512"/>
            <a:ext cx="548640" cy="548640"/>
          </a:xfrm>
          <a:prstGeom prst="rect">
            <a:avLst/>
          </a:prstGeom>
        </p:spPr>
      </p:pic>
      <p:sp>
        <p:nvSpPr>
          <p:cNvPr id="27" name="Text 22"/>
          <p:cNvSpPr/>
          <p:nvPr/>
        </p:nvSpPr>
        <p:spPr>
          <a:xfrm>
            <a:off x="7192670" y="2432304"/>
            <a:ext cx="1232611"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Commit the Fix</a:t>
            </a:r>
            <a:endParaRPr lang="en-US" sz="1250" dirty="0"/>
          </a:p>
        </p:txBody>
      </p:sp>
      <p:sp>
        <p:nvSpPr>
          <p:cNvPr id="28" name="Text 23"/>
          <p:cNvSpPr/>
          <p:nvPr/>
        </p:nvSpPr>
        <p:spPr>
          <a:xfrm>
            <a:off x="7192670" y="292608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developer</a:t>
            </a:r>
            <a:endParaRPr lang="en-US" sz="950" dirty="0"/>
          </a:p>
        </p:txBody>
      </p:sp>
      <p:sp>
        <p:nvSpPr>
          <p:cNvPr id="29" name="Shape 24"/>
          <p:cNvSpPr/>
          <p:nvPr/>
        </p:nvSpPr>
        <p:spPr>
          <a:xfrm>
            <a:off x="8522208" y="2368296"/>
            <a:ext cx="190195" cy="182880"/>
          </a:xfrm>
          <a:prstGeom prst="rightArrow">
            <a:avLst/>
          </a:prstGeom>
          <a:solidFill>
            <a:srgbClr val="6B7280"/>
          </a:solidFill>
          <a:ln w="12700">
            <a:solidFill>
              <a:srgbClr val="6B7280"/>
            </a:solidFill>
            <a:prstDash val="solid"/>
          </a:ln>
        </p:spPr>
      </p:sp>
      <p:sp>
        <p:nvSpPr>
          <p:cNvPr id="30" name="Shape 25"/>
          <p:cNvSpPr/>
          <p:nvPr/>
        </p:nvSpPr>
        <p:spPr>
          <a:xfrm>
            <a:off x="8736178" y="1682496"/>
            <a:ext cx="1378915" cy="1554480"/>
          </a:xfrm>
          <a:prstGeom prst="roundRect">
            <a:avLst>
              <a:gd name="adj" fmla="val 5305"/>
            </a:avLst>
          </a:prstGeom>
          <a:solidFill>
            <a:srgbClr val="EA580C"/>
          </a:solidFill>
          <a:ln w="12700">
            <a:solidFill>
              <a:srgbClr val="FFFFFF"/>
            </a:solidFill>
            <a:prstDash val="solid"/>
          </a:ln>
          <a:effectLst>
            <a:outerShdw sx="100000" sy="100000" kx="0" ky="0" algn="bl" rotWithShape="0" blurRad="1.586964511683871e+218" dist="6.347858046735484e+217" dir="1.571298803391502e+255">
              <a:srgbClr val="000000">
                <a:alpha val="1.4000000000000004e+264"/>
              </a:srgbClr>
            </a:outerShdw>
          </a:effectLst>
        </p:spPr>
      </p:sp>
      <p:pic>
        <p:nvPicPr>
          <p:cNvPr id="31" name="Image 3" descr="C:\Users\Tabish.DESKTOP-AMHU6DL\AppData\Local\Temp\claude\C--Data-Apps-GitFlowPlus\670cb83e-903e-4a7a-8a42-3e26eddb1211\scratchpad\gfp-deck\icons\git-merge.png">    </p:cNvPr>
          <p:cNvPicPr>
            <a:picLocks noChangeAspect="1"/>
          </p:cNvPicPr>
          <p:nvPr/>
        </p:nvPicPr>
        <p:blipFill>
          <a:blip r:embed="rId4"/>
          <a:stretch>
            <a:fillRect/>
          </a:stretch>
        </p:blipFill>
        <p:spPr>
          <a:xfrm>
            <a:off x="9151315" y="1810512"/>
            <a:ext cx="548640" cy="548640"/>
          </a:xfrm>
          <a:prstGeom prst="rect">
            <a:avLst/>
          </a:prstGeom>
        </p:spPr>
      </p:pic>
      <p:sp>
        <p:nvSpPr>
          <p:cNvPr id="32" name="Text 26"/>
          <p:cNvSpPr/>
          <p:nvPr/>
        </p:nvSpPr>
        <p:spPr>
          <a:xfrm>
            <a:off x="8809330" y="2432304"/>
            <a:ext cx="1232611"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releasefix finish</a:t>
            </a:r>
            <a:endParaRPr lang="en-US" sz="1250" dirty="0"/>
          </a:p>
        </p:txBody>
      </p:sp>
      <p:sp>
        <p:nvSpPr>
          <p:cNvPr id="33" name="Text 27"/>
          <p:cNvSpPr/>
          <p:nvPr/>
        </p:nvSpPr>
        <p:spPr>
          <a:xfrm>
            <a:off x="8809330" y="292608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merge to staging</a:t>
            </a:r>
            <a:endParaRPr lang="en-US" sz="950" dirty="0"/>
          </a:p>
        </p:txBody>
      </p:sp>
      <p:sp>
        <p:nvSpPr>
          <p:cNvPr id="34" name="Shape 28"/>
          <p:cNvSpPr/>
          <p:nvPr/>
        </p:nvSpPr>
        <p:spPr>
          <a:xfrm>
            <a:off x="10138867" y="2368296"/>
            <a:ext cx="190195" cy="182880"/>
          </a:xfrm>
          <a:prstGeom prst="rightArrow">
            <a:avLst/>
          </a:prstGeom>
          <a:solidFill>
            <a:srgbClr val="6B7280"/>
          </a:solidFill>
          <a:ln w="12700">
            <a:solidFill>
              <a:srgbClr val="6B7280"/>
            </a:solidFill>
            <a:prstDash val="solid"/>
          </a:ln>
        </p:spPr>
      </p:sp>
      <p:sp>
        <p:nvSpPr>
          <p:cNvPr id="35" name="Shape 29"/>
          <p:cNvSpPr/>
          <p:nvPr/>
        </p:nvSpPr>
        <p:spPr>
          <a:xfrm>
            <a:off x="10352837" y="1682496"/>
            <a:ext cx="1378915" cy="1554480"/>
          </a:xfrm>
          <a:prstGeom prst="roundRect">
            <a:avLst>
              <a:gd name="adj" fmla="val 5305"/>
            </a:avLst>
          </a:prstGeom>
          <a:solidFill>
            <a:srgbClr val="7C3AED"/>
          </a:solidFill>
          <a:ln w="12700">
            <a:solidFill>
              <a:srgbClr val="FFFFFF"/>
            </a:solidFill>
            <a:prstDash val="solid"/>
          </a:ln>
          <a:effectLst>
            <a:outerShdw sx="100000" sy="100000" kx="0" ky="0" algn="bl" rotWithShape="0" blurRad="2.0154449298385163e+222" dist="8.061779719354066e+221" dir="9.427792820349012e+259">
              <a:srgbClr val="000000">
                <a:alpha val="1.4000000000000005e+269"/>
              </a:srgbClr>
            </a:outerShdw>
          </a:effectLst>
        </p:spPr>
      </p:sp>
      <p:pic>
        <p:nvPicPr>
          <p:cNvPr id="36" name="Image 4" descr="C:\Users\Tabish.DESKTOP-AMHU6DL\AppData\Local\Temp\claude\C--Data-Apps-GitFlowPlus\670cb83e-903e-4a7a-8a42-3e26eddb1211\scratchpad\gfp-deck\icons\git-tag.png">    </p:cNvPr>
          <p:cNvPicPr>
            <a:picLocks noChangeAspect="1"/>
          </p:cNvPicPr>
          <p:nvPr/>
        </p:nvPicPr>
        <p:blipFill>
          <a:blip r:embed="rId5"/>
          <a:stretch>
            <a:fillRect/>
          </a:stretch>
        </p:blipFill>
        <p:spPr>
          <a:xfrm>
            <a:off x="10767974" y="1810512"/>
            <a:ext cx="548640" cy="548640"/>
          </a:xfrm>
          <a:prstGeom prst="rect">
            <a:avLst/>
          </a:prstGeom>
        </p:spPr>
      </p:pic>
      <p:sp>
        <p:nvSpPr>
          <p:cNvPr id="37" name="Text 30"/>
          <p:cNvSpPr/>
          <p:nvPr/>
        </p:nvSpPr>
        <p:spPr>
          <a:xfrm>
            <a:off x="10425989" y="2432304"/>
            <a:ext cx="1232611"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release build</a:t>
            </a:r>
            <a:endParaRPr lang="en-US" sz="1250" dirty="0"/>
          </a:p>
        </p:txBody>
      </p:sp>
      <p:sp>
        <p:nvSpPr>
          <p:cNvPr id="38" name="Text 31"/>
          <p:cNvSpPr/>
          <p:nvPr/>
        </p:nvSpPr>
        <p:spPr>
          <a:xfrm>
            <a:off x="10425989" y="292608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new QA tag</a:t>
            </a:r>
            <a:endParaRPr lang="en-US" sz="950" dirty="0"/>
          </a:p>
        </p:txBody>
      </p:sp>
      <p:sp>
        <p:nvSpPr>
          <p:cNvPr id="39" name="Shape 32"/>
          <p:cNvSpPr/>
          <p:nvPr/>
        </p:nvSpPr>
        <p:spPr>
          <a:xfrm>
            <a:off x="3886200" y="3511296"/>
            <a:ext cx="7845552" cy="822960"/>
          </a:xfrm>
          <a:prstGeom prst="roundRect">
            <a:avLst>
              <a:gd name="adj" fmla="val 6667"/>
            </a:avLst>
          </a:prstGeom>
          <a:solidFill>
            <a:srgbClr val="F3F4F6"/>
          </a:solidFill>
          <a:ln w="9525">
            <a:solidFill>
              <a:srgbClr val="E5E7EB"/>
            </a:solidFill>
            <a:prstDash val="solid"/>
          </a:ln>
          <a:effectLst>
            <a:outerShdw sx="100000" sy="100000" kx="0" ky="0" algn="bl" rotWithShape="0" blurRad="2.5596150608949156e+226" dist="1.0238460243579663e+226" dir="5.656675692209407e+264">
              <a:srgbClr val="000000">
                <a:alpha val="1.4000000000000004e+274"/>
              </a:srgbClr>
            </a:outerShdw>
          </a:effectLst>
        </p:spPr>
      </p:sp>
      <p:sp>
        <p:nvSpPr>
          <p:cNvPr id="40" name="Text 33"/>
          <p:cNvSpPr/>
          <p:nvPr/>
        </p:nvSpPr>
        <p:spPr>
          <a:xfrm>
            <a:off x="4050792" y="3621024"/>
            <a:ext cx="7516368" cy="256032"/>
          </a:xfrm>
          <a:prstGeom prst="rect">
            <a:avLst/>
          </a:prstGeom>
          <a:noFill/>
          <a:ln/>
        </p:spPr>
        <p:txBody>
          <a:bodyPr wrap="square" lIns="0" tIns="0" rIns="0" bIns="0" rtlCol="0" anchor="ctr"/>
          <a:lstStyle/>
          <a:p>
            <a:pPr indent="0" marL="0">
              <a:buNone/>
            </a:pPr>
            <a:r>
              <a:rPr lang="en-US" sz="1100" b="1" spc="100" kern="0" dirty="0">
                <a:solidFill>
                  <a:srgbClr val="EA580C"/>
                </a:solidFill>
                <a:latin typeface="Calibri" pitchFamily="34" charset="0"/>
                <a:ea typeface="Calibri" pitchFamily="34" charset="-122"/>
                <a:cs typeface="Calibri" pitchFamily="34" charset="-120"/>
              </a:rPr>
              <a:t>RELEASE FIX VS. FEATURE</a:t>
            </a:r>
            <a:endParaRPr lang="en-US" sz="1100" dirty="0"/>
          </a:p>
        </p:txBody>
      </p:sp>
      <p:sp>
        <p:nvSpPr>
          <p:cNvPr id="41" name="Text 34"/>
          <p:cNvSpPr/>
          <p:nvPr/>
        </p:nvSpPr>
        <p:spPr>
          <a:xfrm>
            <a:off x="4050792" y="3931920"/>
            <a:ext cx="7516368" cy="292608"/>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Feature = new functionality planned before the release opened, tracked in the Feature Registry</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Release Fix = a defect found during this release's own QA cycle, scoped and finished by any developer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7C3AED"/>
                </a:solidFill>
                <a:latin typeface="Calibri" pitchFamily="34" charset="0"/>
                <a:ea typeface="Calibri" pitchFamily="34" charset="-122"/>
                <a:cs typeface="Calibri" pitchFamily="34" charset="-120"/>
              </a:rPr>
              <a:t>DEVOPS WORKFLOW</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DevOps Workflow — Infrastructure &amp; Pipeline Changes</a:t>
            </a:r>
            <a:endParaRPr lang="en-US" sz="3000" dirty="0"/>
          </a:p>
        </p:txBody>
      </p:sp>
      <p:sp>
        <p:nvSpPr>
          <p:cNvPr id="4" name="Shape 2"/>
          <p:cNvSpPr/>
          <p:nvPr/>
        </p:nvSpPr>
        <p:spPr>
          <a:xfrm>
            <a:off x="457200" y="1225296"/>
            <a:ext cx="3246120" cy="1417320"/>
          </a:xfrm>
          <a:prstGeom prst="roundRect">
            <a:avLst>
              <a:gd name="adj" fmla="val 3871"/>
            </a:avLst>
          </a:prstGeom>
          <a:solidFill>
            <a:srgbClr val="F3F4F6"/>
          </a:solidFill>
          <a:ln w="9525">
            <a:solidFill>
              <a:srgbClr val="E5E7EB"/>
            </a:solidFill>
            <a:prstDash val="solid"/>
          </a:ln>
          <a:effectLst>
            <a:outerShdw sx="100000" sy="100000" kx="0" ky="0" algn="bl" rotWithShape="0" blurRad="3.250711127336543e+230" dist="1.3002844509346172e+230" dir="3.3940054153256444e+269">
              <a:srgbClr val="000000">
                <a:alpha val="1.4000000000000004e+279"/>
              </a:srgbClr>
            </a:outerShdw>
          </a:effectLst>
        </p:spPr>
      </p:sp>
      <p:sp>
        <p:nvSpPr>
          <p:cNvPr id="5" name="Text 3"/>
          <p:cNvSpPr/>
          <p:nvPr/>
        </p:nvSpPr>
        <p:spPr>
          <a:xfrm>
            <a:off x="621792" y="1335024"/>
            <a:ext cx="2916936" cy="256032"/>
          </a:xfrm>
          <a:prstGeom prst="rect">
            <a:avLst/>
          </a:prstGeom>
          <a:noFill/>
          <a:ln/>
        </p:spPr>
        <p:txBody>
          <a:bodyPr wrap="square" lIns="0" tIns="0" rIns="0" bIns="0" rtlCol="0" anchor="ctr"/>
          <a:lstStyle/>
          <a:p>
            <a:pPr indent="0" marL="0">
              <a:buNone/>
            </a:pPr>
            <a:r>
              <a:rPr lang="en-US" sz="1100" b="1" spc="100" kern="0" dirty="0">
                <a:solidFill>
                  <a:srgbClr val="7C3AED"/>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621792" y="1645920"/>
            <a:ext cx="2916936" cy="8869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Learn how infrastructure/config changes ride along with a release</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Understand how DevOps hooks plug into the tagging lifecycle</a:t>
            </a:r>
            <a:endParaRPr lang="en-US" sz="1200" dirty="0"/>
          </a:p>
        </p:txBody>
      </p:sp>
      <p:sp>
        <p:nvSpPr>
          <p:cNvPr id="7" name="Shape 5"/>
          <p:cNvSpPr/>
          <p:nvPr/>
        </p:nvSpPr>
        <p:spPr>
          <a:xfrm>
            <a:off x="457200" y="2788920"/>
            <a:ext cx="3246120" cy="2203704"/>
          </a:xfrm>
          <a:prstGeom prst="roundRect">
            <a:avLst>
              <a:gd name="adj" fmla="val 2490"/>
            </a:avLst>
          </a:prstGeom>
          <a:solidFill>
            <a:srgbClr val="F3F4F6"/>
          </a:solidFill>
          <a:ln w="9525">
            <a:solidFill>
              <a:srgbClr val="E5E7EB"/>
            </a:solidFill>
            <a:prstDash val="solid"/>
          </a:ln>
          <a:effectLst>
            <a:outerShdw sx="100000" sy="100000" kx="0" ky="0" algn="bl" rotWithShape="0" blurRad="4.12840313171741e+234" dist="1.6513612526869638e+234" dir="2.0364032491953868e+274">
              <a:srgbClr val="000000">
                <a:alpha val="1.4000000000000003e+284"/>
              </a:srgbClr>
            </a:outerShdw>
          </a:effectLst>
        </p:spPr>
      </p:sp>
      <p:sp>
        <p:nvSpPr>
          <p:cNvPr id="8" name="Text 6"/>
          <p:cNvSpPr/>
          <p:nvPr/>
        </p:nvSpPr>
        <p:spPr>
          <a:xfrm>
            <a:off x="621792" y="2898648"/>
            <a:ext cx="2916936" cy="256032"/>
          </a:xfrm>
          <a:prstGeom prst="rect">
            <a:avLst/>
          </a:prstGeom>
          <a:noFill/>
          <a:ln/>
        </p:spPr>
        <p:txBody>
          <a:bodyPr wrap="square" lIns="0" tIns="0" rIns="0" bIns="0" rtlCol="0" anchor="ctr"/>
          <a:lstStyle/>
          <a:p>
            <a:pPr indent="0" marL="0">
              <a:buNone/>
            </a:pPr>
            <a:r>
              <a:rPr lang="en-US" sz="1100" b="1" spc="100" kern="0" dirty="0">
                <a:solidFill>
                  <a:srgbClr val="7C3AED"/>
                </a:solidFill>
                <a:latin typeface="Calibri" pitchFamily="34" charset="0"/>
                <a:ea typeface="Calibri" pitchFamily="34" charset="-122"/>
                <a:cs typeface="Calibri" pitchFamily="34" charset="-120"/>
              </a:rPr>
              <a:t>KEY NOTES</a:t>
            </a:r>
            <a:endParaRPr lang="en-US" sz="1100" dirty="0"/>
          </a:p>
        </p:txBody>
      </p:sp>
      <p:sp>
        <p:nvSpPr>
          <p:cNvPr id="9" name="Text 7"/>
          <p:cNvSpPr/>
          <p:nvPr/>
        </p:nvSpPr>
        <p:spPr>
          <a:xfrm>
            <a:off x="621792" y="3209544"/>
            <a:ext cx="2916936" cy="167335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devops start/finish mirrors releasefix — a branch from staging, merged back into staging</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DevOps changes are tracked in release.json alongside features and fixes</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post-qa-tag and post-production-tag hooks are the integration point for CI/CD automation</a:t>
            </a:r>
            <a:endParaRPr lang="en-US" sz="1150" dirty="0"/>
          </a:p>
        </p:txBody>
      </p:sp>
      <p:sp>
        <p:nvSpPr>
          <p:cNvPr id="10" name="Shape 8"/>
          <p:cNvSpPr/>
          <p:nvPr/>
        </p:nvSpPr>
        <p:spPr>
          <a:xfrm>
            <a:off x="457200" y="5120640"/>
            <a:ext cx="11274552" cy="1188720"/>
          </a:xfrm>
          <a:prstGeom prst="roundRect">
            <a:avLst>
              <a:gd name="adj" fmla="val 4615"/>
            </a:avLst>
          </a:prstGeom>
          <a:solidFill>
            <a:srgbClr val="0F172A"/>
          </a:solidFill>
          <a:ln w="12700">
            <a:solidFill>
              <a:srgbClr val="0F172A"/>
            </a:solidFill>
            <a:prstDash val="solid"/>
          </a:ln>
          <a:effectLst>
            <a:outerShdw sx="100000" sy="100000" kx="0" ky="0" algn="bl" rotWithShape="0" blurRad="5.24307197728111e+238" dist="2.097228790912444e+238" dir="1.221841949517232e+279">
              <a:srgbClr val="000000">
                <a:alpha val="1.4000000000000004e+289"/>
              </a:srgbClr>
            </a:outerShdw>
          </a:effectLst>
        </p:spPr>
      </p:sp>
      <p:sp>
        <p:nvSpPr>
          <p:cNvPr id="11" name="Text 9"/>
          <p:cNvSpPr/>
          <p:nvPr/>
        </p:nvSpPr>
        <p:spPr>
          <a:xfrm>
            <a:off x="685800" y="5212080"/>
            <a:ext cx="10817352" cy="237744"/>
          </a:xfrm>
          <a:prstGeom prst="rect">
            <a:avLst/>
          </a:prstGeom>
          <a:noFill/>
          <a:ln/>
        </p:spPr>
        <p:txBody>
          <a:bodyPr wrap="square" lIns="0" tIns="0" rIns="0" bIns="0" rtlCol="0" anchor="ctr"/>
          <a:lstStyle/>
          <a:p>
            <a:pPr indent="0" marL="0">
              <a:buNone/>
            </a:pPr>
            <a:r>
              <a:rPr lang="en-US" sz="1000" b="1" spc="100" kern="0" dirty="0">
                <a:solidFill>
                  <a:srgbClr val="93C5FD"/>
                </a:solidFill>
                <a:latin typeface="Calibri" pitchFamily="34" charset="0"/>
                <a:ea typeface="Calibri" pitchFamily="34" charset="-122"/>
                <a:cs typeface="Calibri" pitchFamily="34" charset="-120"/>
              </a:rPr>
              <a:t>DEVOPS CHANGE DURING A RELEASE</a:t>
            </a:r>
            <a:endParaRPr lang="en-US" sz="1000" dirty="0"/>
          </a:p>
        </p:txBody>
      </p:sp>
      <p:sp>
        <p:nvSpPr>
          <p:cNvPr id="12" name="Text 10"/>
          <p:cNvSpPr/>
          <p:nvPr/>
        </p:nvSpPr>
        <p:spPr>
          <a:xfrm>
            <a:off x="685800" y="5504688"/>
            <a:ext cx="10817352" cy="694944"/>
          </a:xfrm>
          <a:prstGeom prst="rect">
            <a:avLst/>
          </a:prstGeom>
          <a:noFill/>
          <a:ln/>
        </p:spPr>
        <p:txBody>
          <a:bodyPr wrap="square" lIns="0" tIns="0" rIns="0" bIns="0" rtlCol="0" anchor="t"/>
          <a:lstStyle/>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devops start CI-PIPELINE-UPDATE</a:t>
            </a:r>
            <a:endParaRPr lang="en-US" sz="1250" dirty="0"/>
          </a:p>
          <a:p>
            <a:pPr indent="0" marL="0">
              <a:spcAft>
                <a:spcPts val="300"/>
              </a:spcAft>
              <a:buNone/>
            </a:pPr>
            <a:r>
              <a:rPr lang="en-US" sz="1250" dirty="0">
                <a:solidFill>
                  <a:srgbClr val="64748B"/>
                </a:solidFill>
                <a:latin typeface="Courier New" pitchFamily="34" charset="0"/>
                <a:ea typeface="Courier New" pitchFamily="34" charset="-122"/>
                <a:cs typeface="Courier New" pitchFamily="34" charset="-120"/>
              </a:rPr>
              <a:t># ... update pipeline config, commit ...</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devops finish CI-PIPELINE-UPDATE</a:t>
            </a:r>
            <a:endParaRPr lang="en-US" sz="1250" dirty="0"/>
          </a:p>
        </p:txBody>
      </p:sp>
      <p:sp>
        <p:nvSpPr>
          <p:cNvPr id="13" name="Text 11"/>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14" name="Text 12"/>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15" name="Shape 13"/>
          <p:cNvSpPr/>
          <p:nvPr/>
        </p:nvSpPr>
        <p:spPr>
          <a:xfrm>
            <a:off x="3886200" y="1591056"/>
            <a:ext cx="1755648" cy="1554480"/>
          </a:xfrm>
          <a:prstGeom prst="roundRect">
            <a:avLst>
              <a:gd name="adj" fmla="val 4706"/>
            </a:avLst>
          </a:prstGeom>
          <a:solidFill>
            <a:srgbClr val="7C3AED"/>
          </a:solidFill>
          <a:ln w="12700">
            <a:solidFill>
              <a:srgbClr val="FFFFFF"/>
            </a:solidFill>
            <a:prstDash val="solid"/>
          </a:ln>
          <a:effectLst>
            <a:outerShdw sx="100000" sy="100000" kx="0" ky="0" algn="bl" rotWithShape="0" blurRad="6.65870141114701e+242" dist="2.663480564458804e+242" dir="7.331051697103393e+283">
              <a:srgbClr val="000000">
                <a:alpha val="1.4000000000000005e+294"/>
              </a:srgbClr>
            </a:outerShdw>
          </a:effectLst>
        </p:spPr>
      </p:sp>
      <p:pic>
        <p:nvPicPr>
          <p:cNvPr id="16" name="Image 0" descr="C:\Users\Tabish.DESKTOP-AMHU6DL\AppData\Local\Temp\claude\C--Data-Apps-GitFlowPlus\670cb83e-903e-4a7a-8a42-3e26eddb1211\scratchpad\gfp-deck\icons\git-branch.png">    </p:cNvPr>
          <p:cNvPicPr>
            <a:picLocks noChangeAspect="1"/>
          </p:cNvPicPr>
          <p:nvPr/>
        </p:nvPicPr>
        <p:blipFill>
          <a:blip r:embed="rId1"/>
          <a:stretch>
            <a:fillRect/>
          </a:stretch>
        </p:blipFill>
        <p:spPr>
          <a:xfrm>
            <a:off x="4489704" y="1719072"/>
            <a:ext cx="548640" cy="548640"/>
          </a:xfrm>
          <a:prstGeom prst="rect">
            <a:avLst/>
          </a:prstGeom>
        </p:spPr>
      </p:pic>
      <p:sp>
        <p:nvSpPr>
          <p:cNvPr id="17" name="Text 14"/>
          <p:cNvSpPr/>
          <p:nvPr/>
        </p:nvSpPr>
        <p:spPr>
          <a:xfrm>
            <a:off x="3959352" y="2340864"/>
            <a:ext cx="1609344"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devops start</a:t>
            </a:r>
            <a:endParaRPr lang="en-US" sz="1250" dirty="0"/>
          </a:p>
        </p:txBody>
      </p:sp>
      <p:sp>
        <p:nvSpPr>
          <p:cNvPr id="18" name="Text 15"/>
          <p:cNvSpPr/>
          <p:nvPr/>
        </p:nvSpPr>
        <p:spPr>
          <a:xfrm>
            <a:off x="3959352" y="2834640"/>
            <a:ext cx="1609344"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branch from staging</a:t>
            </a:r>
            <a:endParaRPr lang="en-US" sz="950" dirty="0"/>
          </a:p>
        </p:txBody>
      </p:sp>
      <p:sp>
        <p:nvSpPr>
          <p:cNvPr id="19" name="Shape 16"/>
          <p:cNvSpPr/>
          <p:nvPr/>
        </p:nvSpPr>
        <p:spPr>
          <a:xfrm>
            <a:off x="5669280" y="2276856"/>
            <a:ext cx="219456" cy="182880"/>
          </a:xfrm>
          <a:prstGeom prst="rightArrow">
            <a:avLst/>
          </a:prstGeom>
          <a:solidFill>
            <a:srgbClr val="6B7280"/>
          </a:solidFill>
          <a:ln w="12700">
            <a:solidFill>
              <a:srgbClr val="6B7280"/>
            </a:solidFill>
            <a:prstDash val="solid"/>
          </a:ln>
        </p:spPr>
      </p:sp>
      <p:sp>
        <p:nvSpPr>
          <p:cNvPr id="20" name="Shape 17"/>
          <p:cNvSpPr/>
          <p:nvPr/>
        </p:nvSpPr>
        <p:spPr>
          <a:xfrm>
            <a:off x="5916168" y="1591056"/>
            <a:ext cx="1755648" cy="1554480"/>
          </a:xfrm>
          <a:prstGeom prst="roundRect">
            <a:avLst>
              <a:gd name="adj" fmla="val 4706"/>
            </a:avLst>
          </a:prstGeom>
          <a:solidFill>
            <a:srgbClr val="7C3AED"/>
          </a:solidFill>
          <a:ln w="12700">
            <a:solidFill>
              <a:srgbClr val="FFFFFF"/>
            </a:solidFill>
            <a:prstDash val="solid"/>
          </a:ln>
          <a:effectLst>
            <a:outerShdw sx="100000" sy="100000" kx="0" ky="0" algn="bl" rotWithShape="0" blurRad="8.456550792156703e+246" dist="3.3826203168626813e+246" dir="4.3986310182620354e+288">
              <a:srgbClr val="000000">
                <a:alpha val="1.4000000000000004e+299"/>
              </a:srgbClr>
            </a:outerShdw>
          </a:effectLst>
        </p:spPr>
      </p:sp>
      <p:pic>
        <p:nvPicPr>
          <p:cNvPr id="21" name="Image 1" descr="C:\Users\Tabish.DESKTOP-AMHU6DL\AppData\Local\Temp\claude\C--Data-Apps-GitFlowPlus\670cb83e-903e-4a7a-8a42-3e26eddb1211\scratchpad\gfp-deck\icons\devops-tools.png">    </p:cNvPr>
          <p:cNvPicPr>
            <a:picLocks noChangeAspect="1"/>
          </p:cNvPicPr>
          <p:nvPr/>
        </p:nvPicPr>
        <p:blipFill>
          <a:blip r:embed="rId2"/>
          <a:stretch>
            <a:fillRect/>
          </a:stretch>
        </p:blipFill>
        <p:spPr>
          <a:xfrm>
            <a:off x="6519672" y="1719072"/>
            <a:ext cx="548640" cy="548640"/>
          </a:xfrm>
          <a:prstGeom prst="rect">
            <a:avLst/>
          </a:prstGeom>
        </p:spPr>
      </p:pic>
      <p:sp>
        <p:nvSpPr>
          <p:cNvPr id="22" name="Text 18"/>
          <p:cNvSpPr/>
          <p:nvPr/>
        </p:nvSpPr>
        <p:spPr>
          <a:xfrm>
            <a:off x="5989320" y="2340864"/>
            <a:ext cx="1609344"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Update Config</a:t>
            </a:r>
            <a:endParaRPr lang="en-US" sz="1250" dirty="0"/>
          </a:p>
        </p:txBody>
      </p:sp>
      <p:sp>
        <p:nvSpPr>
          <p:cNvPr id="23" name="Text 19"/>
          <p:cNvSpPr/>
          <p:nvPr/>
        </p:nvSpPr>
        <p:spPr>
          <a:xfrm>
            <a:off x="5989320" y="2834640"/>
            <a:ext cx="1609344"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pipeline, infra, scripts</a:t>
            </a:r>
            <a:endParaRPr lang="en-US" sz="950" dirty="0"/>
          </a:p>
        </p:txBody>
      </p:sp>
      <p:sp>
        <p:nvSpPr>
          <p:cNvPr id="24" name="Shape 20"/>
          <p:cNvSpPr/>
          <p:nvPr/>
        </p:nvSpPr>
        <p:spPr>
          <a:xfrm>
            <a:off x="7699248" y="2276856"/>
            <a:ext cx="219456" cy="182880"/>
          </a:xfrm>
          <a:prstGeom prst="rightArrow">
            <a:avLst/>
          </a:prstGeom>
          <a:solidFill>
            <a:srgbClr val="6B7280"/>
          </a:solidFill>
          <a:ln w="12700">
            <a:solidFill>
              <a:srgbClr val="6B7280"/>
            </a:solidFill>
            <a:prstDash val="solid"/>
          </a:ln>
        </p:spPr>
      </p:sp>
      <p:sp>
        <p:nvSpPr>
          <p:cNvPr id="25" name="Shape 21"/>
          <p:cNvSpPr/>
          <p:nvPr/>
        </p:nvSpPr>
        <p:spPr>
          <a:xfrm>
            <a:off x="7946136" y="1591056"/>
            <a:ext cx="1755648" cy="1554480"/>
          </a:xfrm>
          <a:prstGeom prst="roundRect">
            <a:avLst>
              <a:gd name="adj" fmla="val 4706"/>
            </a:avLst>
          </a:prstGeom>
          <a:solidFill>
            <a:srgbClr val="7C3AED"/>
          </a:solidFill>
          <a:ln w="12700">
            <a:solidFill>
              <a:srgbClr val="FFFFFF"/>
            </a:solidFill>
            <a:prstDash val="solid"/>
          </a:ln>
          <a:effectLst>
            <a:outerShdw sx="100000" sy="100000" kx="0" ky="0" algn="bl" rotWithShape="0" blurRad="1.0739819506039013e+251" dist="4.295927802415605e+250" dir="2.6391786109572213e+293">
              <a:srgbClr val="000000">
                <a:alpha val="1.4000000000000003e+304"/>
              </a:srgbClr>
            </a:outerShdw>
          </a:effectLst>
        </p:spPr>
      </p:sp>
      <p:pic>
        <p:nvPicPr>
          <p:cNvPr id="26" name="Image 2" descr="C:\Users\Tabish.DESKTOP-AMHU6DL\AppData\Local\Temp\claude\C--Data-Apps-GitFlowPlus\670cb83e-903e-4a7a-8a42-3e26eddb1211\scratchpad\gfp-deck\icons\git-merge.png">    </p:cNvPr>
          <p:cNvPicPr>
            <a:picLocks noChangeAspect="1"/>
          </p:cNvPicPr>
          <p:nvPr/>
        </p:nvPicPr>
        <p:blipFill>
          <a:blip r:embed="rId3"/>
          <a:stretch>
            <a:fillRect/>
          </a:stretch>
        </p:blipFill>
        <p:spPr>
          <a:xfrm>
            <a:off x="8549640" y="1719072"/>
            <a:ext cx="548640" cy="548640"/>
          </a:xfrm>
          <a:prstGeom prst="rect">
            <a:avLst/>
          </a:prstGeom>
        </p:spPr>
      </p:pic>
      <p:sp>
        <p:nvSpPr>
          <p:cNvPr id="27" name="Text 22"/>
          <p:cNvSpPr/>
          <p:nvPr/>
        </p:nvSpPr>
        <p:spPr>
          <a:xfrm>
            <a:off x="8019288" y="2340864"/>
            <a:ext cx="1609344"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devops finish</a:t>
            </a:r>
            <a:endParaRPr lang="en-US" sz="1250" dirty="0"/>
          </a:p>
        </p:txBody>
      </p:sp>
      <p:sp>
        <p:nvSpPr>
          <p:cNvPr id="28" name="Text 23"/>
          <p:cNvSpPr/>
          <p:nvPr/>
        </p:nvSpPr>
        <p:spPr>
          <a:xfrm>
            <a:off x="8019288" y="2834640"/>
            <a:ext cx="1609344"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merge to staging</a:t>
            </a:r>
            <a:endParaRPr lang="en-US" sz="950" dirty="0"/>
          </a:p>
        </p:txBody>
      </p:sp>
      <p:sp>
        <p:nvSpPr>
          <p:cNvPr id="29" name="Shape 24"/>
          <p:cNvSpPr/>
          <p:nvPr/>
        </p:nvSpPr>
        <p:spPr>
          <a:xfrm>
            <a:off x="9729216" y="2276856"/>
            <a:ext cx="219456" cy="182880"/>
          </a:xfrm>
          <a:prstGeom prst="rightArrow">
            <a:avLst/>
          </a:prstGeom>
          <a:solidFill>
            <a:srgbClr val="6B7280"/>
          </a:solidFill>
          <a:ln w="12700">
            <a:solidFill>
              <a:srgbClr val="6B7280"/>
            </a:solidFill>
            <a:prstDash val="solid"/>
          </a:ln>
        </p:spPr>
      </p:sp>
      <p:sp>
        <p:nvSpPr>
          <p:cNvPr id="30" name="Shape 25"/>
          <p:cNvSpPr/>
          <p:nvPr/>
        </p:nvSpPr>
        <p:spPr>
          <a:xfrm>
            <a:off x="9976104" y="1591056"/>
            <a:ext cx="1755648" cy="1554480"/>
          </a:xfrm>
          <a:prstGeom prst="roundRect">
            <a:avLst>
              <a:gd name="adj" fmla="val 4706"/>
            </a:avLst>
          </a:prstGeom>
          <a:solidFill>
            <a:srgbClr val="7C3AED"/>
          </a:solidFill>
          <a:ln w="12700">
            <a:solidFill>
              <a:srgbClr val="FFFFFF"/>
            </a:solidFill>
            <a:prstDash val="solid"/>
          </a:ln>
          <a:effectLst>
            <a:outerShdw sx="100000" sy="100000" kx="0" ky="0" algn="bl" rotWithShape="0" blurRad="1.3639570772669546e+255" dist="5.455828309067819e+254" dir="1.5835071665743328e+298">
              <a:srgbClr val="000000">
                <a:alpha val="Infinity"/>
              </a:srgbClr>
            </a:outerShdw>
          </a:effectLst>
        </p:spPr>
      </p:sp>
      <p:pic>
        <p:nvPicPr>
          <p:cNvPr id="31" name="Image 3" descr="C:\Users\Tabish.DESKTOP-AMHU6DL\AppData\Local\Temp\claude\C--Data-Apps-GitFlowPlus\670cb83e-903e-4a7a-8a42-3e26eddb1211\scratchpad\gfp-deck\icons\manifest.png">    </p:cNvPr>
          <p:cNvPicPr>
            <a:picLocks noChangeAspect="1"/>
          </p:cNvPicPr>
          <p:nvPr/>
        </p:nvPicPr>
        <p:blipFill>
          <a:blip r:embed="rId4"/>
          <a:stretch>
            <a:fillRect/>
          </a:stretch>
        </p:blipFill>
        <p:spPr>
          <a:xfrm>
            <a:off x="10579608" y="1719072"/>
            <a:ext cx="548640" cy="548640"/>
          </a:xfrm>
          <a:prstGeom prst="rect">
            <a:avLst/>
          </a:prstGeom>
        </p:spPr>
      </p:pic>
      <p:sp>
        <p:nvSpPr>
          <p:cNvPr id="32" name="Text 26"/>
          <p:cNvSpPr/>
          <p:nvPr/>
        </p:nvSpPr>
        <p:spPr>
          <a:xfrm>
            <a:off x="10049256" y="2340864"/>
            <a:ext cx="1609344" cy="47548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Tracked in Manifest</a:t>
            </a:r>
            <a:endParaRPr lang="en-US" sz="1250" dirty="0"/>
          </a:p>
        </p:txBody>
      </p:sp>
      <p:sp>
        <p:nvSpPr>
          <p:cNvPr id="33" name="Text 27"/>
          <p:cNvSpPr/>
          <p:nvPr/>
        </p:nvSpPr>
        <p:spPr>
          <a:xfrm>
            <a:off x="10049256" y="2834640"/>
            <a:ext cx="1609344"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release.json devops[]</a:t>
            </a:r>
            <a:endParaRPr lang="en-US" sz="950" dirty="0"/>
          </a:p>
        </p:txBody>
      </p:sp>
      <p:sp>
        <p:nvSpPr>
          <p:cNvPr id="34" name="Shape 28"/>
          <p:cNvSpPr/>
          <p:nvPr/>
        </p:nvSpPr>
        <p:spPr>
          <a:xfrm>
            <a:off x="3886200" y="3419856"/>
            <a:ext cx="7845552" cy="914400"/>
          </a:xfrm>
          <a:prstGeom prst="roundRect">
            <a:avLst>
              <a:gd name="adj" fmla="val 6000"/>
            </a:avLst>
          </a:prstGeom>
          <a:solidFill>
            <a:srgbClr val="F3F4F6"/>
          </a:solidFill>
          <a:ln w="9525">
            <a:solidFill>
              <a:srgbClr val="E5E7EB"/>
            </a:solidFill>
            <a:prstDash val="solid"/>
          </a:ln>
          <a:effectLst>
            <a:outerShdw sx="100000" sy="100000" kx="0" ky="0" algn="bl" rotWithShape="0" blurRad="1.7322254881290324e+259" dist="6.928901952516129e+258" dir="9.501042999445996e+302">
              <a:srgbClr val="000000">
                <a:alpha val="Infinity"/>
              </a:srgbClr>
            </a:outerShdw>
          </a:effectLst>
        </p:spPr>
      </p:sp>
      <p:sp>
        <p:nvSpPr>
          <p:cNvPr id="35" name="Text 29"/>
          <p:cNvSpPr/>
          <p:nvPr/>
        </p:nvSpPr>
        <p:spPr>
          <a:xfrm>
            <a:off x="4050792" y="3529584"/>
            <a:ext cx="7516368" cy="256032"/>
          </a:xfrm>
          <a:prstGeom prst="rect">
            <a:avLst/>
          </a:prstGeom>
          <a:noFill/>
          <a:ln/>
        </p:spPr>
        <p:txBody>
          <a:bodyPr wrap="square" lIns="0" tIns="0" rIns="0" bIns="0" rtlCol="0" anchor="ctr"/>
          <a:lstStyle/>
          <a:p>
            <a:pPr indent="0" marL="0">
              <a:buNone/>
            </a:pPr>
            <a:r>
              <a:rPr lang="en-US" sz="1100" b="1" spc="100" kern="0" dirty="0">
                <a:solidFill>
                  <a:srgbClr val="7C3AED"/>
                </a:solidFill>
                <a:latin typeface="Calibri" pitchFamily="34" charset="0"/>
                <a:ea typeface="Calibri" pitchFamily="34" charset="-122"/>
                <a:cs typeface="Calibri" pitchFamily="34" charset="-120"/>
              </a:rPr>
              <a:t>LIFECYCLE HOOKS</a:t>
            </a:r>
            <a:endParaRPr lang="en-US" sz="1100" dirty="0"/>
          </a:p>
        </p:txBody>
      </p:sp>
      <p:sp>
        <p:nvSpPr>
          <p:cNvPr id="36" name="Text 30"/>
          <p:cNvSpPr/>
          <p:nvPr/>
        </p:nvSpPr>
        <p:spPr>
          <a:xfrm>
            <a:off x="4050792" y="3840480"/>
            <a:ext cx="7516368" cy="384048"/>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post-qa-tag — fires the moment release build cuts a QA tag (e.g. trigger a QA-environment deploy)</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post-production-tag — fires when release finish cuts the production tag (e.g. trigger a production deploy)</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Both are CI/CD-agnostic shell hooks configured via internal/hooks — no vendor lock-in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EA580C"/>
                </a:solidFill>
                <a:latin typeface="Calibri" pitchFamily="34" charset="0"/>
                <a:ea typeface="Calibri" pitchFamily="34" charset="-122"/>
                <a:cs typeface="Calibri" pitchFamily="34" charset="-120"/>
              </a:rPr>
              <a:t>RELEASE BUILD</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Release Build — Cutting a Reproducible QA Build</a:t>
            </a:r>
            <a:endParaRPr lang="en-US" sz="3000" dirty="0"/>
          </a:p>
        </p:txBody>
      </p:sp>
      <p:sp>
        <p:nvSpPr>
          <p:cNvPr id="4" name="Shape 2"/>
          <p:cNvSpPr/>
          <p:nvPr/>
        </p:nvSpPr>
        <p:spPr>
          <a:xfrm>
            <a:off x="457200" y="1225296"/>
            <a:ext cx="3246120" cy="1417320"/>
          </a:xfrm>
          <a:prstGeom prst="roundRect">
            <a:avLst>
              <a:gd name="adj" fmla="val 3871"/>
            </a:avLst>
          </a:prstGeom>
          <a:solidFill>
            <a:srgbClr val="F3F4F6"/>
          </a:solidFill>
          <a:ln w="9525">
            <a:solidFill>
              <a:srgbClr val="E5E7EB"/>
            </a:solidFill>
            <a:prstDash val="solid"/>
          </a:ln>
          <a:effectLst>
            <a:outerShdw sx="100000" sy="100000" kx="0" ky="0" algn="bl" rotWithShape="0" blurRad="2.1999263699238713e+263" dist="8.799705479695485e+262" dir="5.700625799667598e+307">
              <a:srgbClr val="000000">
                <a:alpha val="Infinity"/>
              </a:srgbClr>
            </a:outerShdw>
          </a:effectLst>
        </p:spPr>
      </p:sp>
      <p:sp>
        <p:nvSpPr>
          <p:cNvPr id="5" name="Text 3"/>
          <p:cNvSpPr/>
          <p:nvPr/>
        </p:nvSpPr>
        <p:spPr>
          <a:xfrm>
            <a:off x="621792" y="1335024"/>
            <a:ext cx="2916936" cy="256032"/>
          </a:xfrm>
          <a:prstGeom prst="rect">
            <a:avLst/>
          </a:prstGeom>
          <a:noFill/>
          <a:ln/>
        </p:spPr>
        <p:txBody>
          <a:bodyPr wrap="square" lIns="0" tIns="0" rIns="0" bIns="0" rtlCol="0" anchor="ctr"/>
          <a:lstStyle/>
          <a:p>
            <a:pPr indent="0" marL="0">
              <a:buNone/>
            </a:pPr>
            <a:r>
              <a:rPr lang="en-US" sz="1100" b="1" spc="100" kern="0" dirty="0">
                <a:solidFill>
                  <a:srgbClr val="EA580C"/>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621792" y="1645920"/>
            <a:ext cx="2916936" cy="8869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Understand exactly what release build changes and tags</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Understand why it is the only command that increments the QA counter</a:t>
            </a:r>
            <a:endParaRPr lang="en-US" sz="1200" dirty="0"/>
          </a:p>
        </p:txBody>
      </p:sp>
      <p:sp>
        <p:nvSpPr>
          <p:cNvPr id="7" name="Shape 5"/>
          <p:cNvSpPr/>
          <p:nvPr/>
        </p:nvSpPr>
        <p:spPr>
          <a:xfrm>
            <a:off x="457200" y="2788920"/>
            <a:ext cx="3246120" cy="2203704"/>
          </a:xfrm>
          <a:prstGeom prst="roundRect">
            <a:avLst>
              <a:gd name="adj" fmla="val 2490"/>
            </a:avLst>
          </a:prstGeom>
          <a:solidFill>
            <a:srgbClr val="F3F4F6"/>
          </a:solidFill>
          <a:ln w="9525">
            <a:solidFill>
              <a:srgbClr val="E5E7EB"/>
            </a:solidFill>
            <a:prstDash val="solid"/>
          </a:ln>
          <a:effectLst>
            <a:outerShdw sx="100000" sy="100000" kx="0" ky="0" algn="bl" rotWithShape="0" blurRad="2.7939064898033167e+267" dist="1.1175625959213265e+267" dir="Infinity">
              <a:srgbClr val="000000">
                <a:alpha val="Infinity"/>
              </a:srgbClr>
            </a:outerShdw>
          </a:effectLst>
        </p:spPr>
      </p:sp>
      <p:sp>
        <p:nvSpPr>
          <p:cNvPr id="8" name="Text 6"/>
          <p:cNvSpPr/>
          <p:nvPr/>
        </p:nvSpPr>
        <p:spPr>
          <a:xfrm>
            <a:off x="621792" y="2898648"/>
            <a:ext cx="2916936" cy="256032"/>
          </a:xfrm>
          <a:prstGeom prst="rect">
            <a:avLst/>
          </a:prstGeom>
          <a:noFill/>
          <a:ln/>
        </p:spPr>
        <p:txBody>
          <a:bodyPr wrap="square" lIns="0" tIns="0" rIns="0" bIns="0" rtlCol="0" anchor="ctr"/>
          <a:lstStyle/>
          <a:p>
            <a:pPr indent="0" marL="0">
              <a:buNone/>
            </a:pPr>
            <a:r>
              <a:rPr lang="en-US" sz="1100" b="1" spc="100" kern="0" dirty="0">
                <a:solidFill>
                  <a:srgbClr val="EA580C"/>
                </a:solidFill>
                <a:latin typeface="Calibri" pitchFamily="34" charset="0"/>
                <a:ea typeface="Calibri" pitchFamily="34" charset="-122"/>
                <a:cs typeface="Calibri" pitchFamily="34" charset="-120"/>
              </a:rPr>
              <a:t>KEY NOTES</a:t>
            </a:r>
            <a:endParaRPr lang="en-US" sz="1100" dirty="0"/>
          </a:p>
        </p:txBody>
      </p:sp>
      <p:sp>
        <p:nvSpPr>
          <p:cNvPr id="9" name="Text 7"/>
          <p:cNvSpPr/>
          <p:nvPr/>
        </p:nvSpPr>
        <p:spPr>
          <a:xfrm>
            <a:off x="621792" y="3209544"/>
            <a:ext cx="2916936" cy="167335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release build is the only command that moves the version's QA field (5th number)</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It can be run any number of times per release — once per QA cycle</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Every build gets its own annotated tag, so any past QA build is checked out on demand</a:t>
            </a:r>
            <a:endParaRPr lang="en-US" sz="1150" dirty="0"/>
          </a:p>
        </p:txBody>
      </p:sp>
      <p:sp>
        <p:nvSpPr>
          <p:cNvPr id="10" name="Shape 8"/>
          <p:cNvSpPr/>
          <p:nvPr/>
        </p:nvSpPr>
        <p:spPr>
          <a:xfrm>
            <a:off x="457200" y="5120640"/>
            <a:ext cx="11274552" cy="1188720"/>
          </a:xfrm>
          <a:prstGeom prst="roundRect">
            <a:avLst>
              <a:gd name="adj" fmla="val 4615"/>
            </a:avLst>
          </a:prstGeom>
          <a:solidFill>
            <a:srgbClr val="0F172A"/>
          </a:solidFill>
          <a:ln w="12700">
            <a:solidFill>
              <a:srgbClr val="0F172A"/>
            </a:solidFill>
            <a:prstDash val="solid"/>
          </a:ln>
          <a:effectLst>
            <a:outerShdw sx="100000" sy="100000" kx="0" ky="0" algn="bl" rotWithShape="0" blurRad="3.548261242050212e+271" dist="1.4193044968200846e+271" dir="Infinity">
              <a:srgbClr val="000000">
                <a:alpha val="Infinity"/>
              </a:srgbClr>
            </a:outerShdw>
          </a:effectLst>
        </p:spPr>
      </p:sp>
      <p:sp>
        <p:nvSpPr>
          <p:cNvPr id="11" name="Text 9"/>
          <p:cNvSpPr/>
          <p:nvPr/>
        </p:nvSpPr>
        <p:spPr>
          <a:xfrm>
            <a:off x="685800" y="5212080"/>
            <a:ext cx="10817352" cy="237744"/>
          </a:xfrm>
          <a:prstGeom prst="rect">
            <a:avLst/>
          </a:prstGeom>
          <a:noFill/>
          <a:ln/>
        </p:spPr>
        <p:txBody>
          <a:bodyPr wrap="square" lIns="0" tIns="0" rIns="0" bIns="0" rtlCol="0" anchor="ctr"/>
          <a:lstStyle/>
          <a:p>
            <a:pPr indent="0" marL="0">
              <a:buNone/>
            </a:pPr>
            <a:r>
              <a:rPr lang="en-US" sz="1000" b="1" spc="100" kern="0" dirty="0">
                <a:solidFill>
                  <a:srgbClr val="93C5FD"/>
                </a:solidFill>
                <a:latin typeface="Calibri" pitchFamily="34" charset="0"/>
                <a:ea typeface="Calibri" pitchFamily="34" charset="-122"/>
                <a:cs typeface="Calibri" pitchFamily="34" charset="-120"/>
              </a:rPr>
              <a:t>CUTTING AND INSPECTING A BUILD</a:t>
            </a:r>
            <a:endParaRPr lang="en-US" sz="1000" dirty="0"/>
          </a:p>
        </p:txBody>
      </p:sp>
      <p:sp>
        <p:nvSpPr>
          <p:cNvPr id="12" name="Text 10"/>
          <p:cNvSpPr/>
          <p:nvPr/>
        </p:nvSpPr>
        <p:spPr>
          <a:xfrm>
            <a:off x="685800" y="5504688"/>
            <a:ext cx="10817352" cy="694944"/>
          </a:xfrm>
          <a:prstGeom prst="rect">
            <a:avLst/>
          </a:prstGeom>
          <a:noFill/>
          <a:ln/>
        </p:spPr>
        <p:txBody>
          <a:bodyPr wrap="square" lIns="0" tIns="0" rIns="0" bIns="0" rtlCol="0" anchor="t"/>
          <a:lstStyle/>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build</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tag -l "v5.3.*" -n999</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status</a:t>
            </a:r>
            <a:endParaRPr lang="en-US" sz="1250" dirty="0"/>
          </a:p>
        </p:txBody>
      </p:sp>
      <p:sp>
        <p:nvSpPr>
          <p:cNvPr id="13" name="Text 11"/>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14" name="Text 12"/>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
        <p:nvSpPr>
          <p:cNvPr id="15" name="Shape 13"/>
          <p:cNvSpPr/>
          <p:nvPr/>
        </p:nvSpPr>
        <p:spPr>
          <a:xfrm>
            <a:off x="3886200" y="1225296"/>
            <a:ext cx="7845552" cy="1371600"/>
          </a:xfrm>
          <a:prstGeom prst="roundRect">
            <a:avLst>
              <a:gd name="adj" fmla="val 4000"/>
            </a:avLst>
          </a:prstGeom>
          <a:solidFill>
            <a:srgbClr val="F3F4F6"/>
          </a:solidFill>
          <a:ln w="9525">
            <a:solidFill>
              <a:srgbClr val="E5E7EB"/>
            </a:solidFill>
            <a:prstDash val="solid"/>
          </a:ln>
          <a:effectLst>
            <a:outerShdw sx="100000" sy="100000" kx="0" ky="0" algn="bl" rotWithShape="0" blurRad="4.50629177740377e+275" dist="1.8025167109615074e+275" dir="Infinity">
              <a:srgbClr val="000000">
                <a:alpha val="Infinity"/>
              </a:srgbClr>
            </a:outerShdw>
          </a:effectLst>
        </p:spPr>
      </p:sp>
      <p:sp>
        <p:nvSpPr>
          <p:cNvPr id="16" name="Text 14"/>
          <p:cNvSpPr/>
          <p:nvPr/>
        </p:nvSpPr>
        <p:spPr>
          <a:xfrm>
            <a:off x="4050792" y="1335024"/>
            <a:ext cx="7516368" cy="256032"/>
          </a:xfrm>
          <a:prstGeom prst="rect">
            <a:avLst/>
          </a:prstGeom>
          <a:noFill/>
          <a:ln/>
        </p:spPr>
        <p:txBody>
          <a:bodyPr wrap="square" lIns="0" tIns="0" rIns="0" bIns="0" rtlCol="0" anchor="ctr"/>
          <a:lstStyle/>
          <a:p>
            <a:pPr indent="0" marL="0">
              <a:buNone/>
            </a:pPr>
            <a:r>
              <a:rPr lang="en-US" sz="1100" b="1" spc="100" kern="0" dirty="0">
                <a:solidFill>
                  <a:srgbClr val="EA580C"/>
                </a:solidFill>
                <a:latin typeface="Calibri" pitchFamily="34" charset="0"/>
                <a:ea typeface="Calibri" pitchFamily="34" charset="-122"/>
                <a:cs typeface="Calibri" pitchFamily="34" charset="-120"/>
              </a:rPr>
              <a:t>WHAT RELEASE BUILD DOES</a:t>
            </a:r>
            <a:endParaRPr lang="en-US" sz="1100" dirty="0"/>
          </a:p>
        </p:txBody>
      </p:sp>
      <p:sp>
        <p:nvSpPr>
          <p:cNvPr id="17" name="Text 15"/>
          <p:cNvSpPr/>
          <p:nvPr/>
        </p:nvSpPr>
        <p:spPr>
          <a:xfrm>
            <a:off x="4050792" y="1645920"/>
            <a:ext cx="7516368" cy="841248"/>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Increments the version's QA Build counter (5th field) by one</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Creates a mandatory annotated Git tag on the current staging commit</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Writes a structured tag message: Release, Version, QA Build, Features, Release Fixes, DevOps, Branch, Commit, Release Manager, Date</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Fires the post-qa-tag hook, if configured</a:t>
            </a:r>
            <a:endParaRPr lang="en-US" sz="1150" dirty="0"/>
          </a:p>
        </p:txBody>
      </p:sp>
      <p:sp>
        <p:nvSpPr>
          <p:cNvPr id="18" name="Shape 16"/>
          <p:cNvSpPr/>
          <p:nvPr/>
        </p:nvSpPr>
        <p:spPr>
          <a:xfrm>
            <a:off x="3886200" y="2825496"/>
            <a:ext cx="7845552" cy="1691640"/>
          </a:xfrm>
          <a:prstGeom prst="roundRect">
            <a:avLst>
              <a:gd name="adj" fmla="val 3243"/>
            </a:avLst>
          </a:prstGeom>
          <a:solidFill>
            <a:srgbClr val="0F172A"/>
          </a:solidFill>
          <a:ln w="12700">
            <a:solidFill>
              <a:srgbClr val="0F172A"/>
            </a:solidFill>
            <a:prstDash val="solid"/>
          </a:ln>
          <a:effectLst>
            <a:outerShdw sx="100000" sy="100000" kx="0" ky="0" algn="bl" rotWithShape="0" blurRad="5.722990557302787e+279" dist="2.2891962229211143e+279" dir="Infinity">
              <a:srgbClr val="000000">
                <a:alpha val="Infinity"/>
              </a:srgbClr>
            </a:outerShdw>
          </a:effectLst>
        </p:spPr>
      </p:sp>
      <p:sp>
        <p:nvSpPr>
          <p:cNvPr id="19" name="Text 17"/>
          <p:cNvSpPr/>
          <p:nvPr/>
        </p:nvSpPr>
        <p:spPr>
          <a:xfrm>
            <a:off x="4114800" y="2916936"/>
            <a:ext cx="7388352" cy="237744"/>
          </a:xfrm>
          <a:prstGeom prst="rect">
            <a:avLst/>
          </a:prstGeom>
          <a:noFill/>
          <a:ln/>
        </p:spPr>
        <p:txBody>
          <a:bodyPr wrap="square" lIns="0" tIns="0" rIns="0" bIns="0" rtlCol="0" anchor="ctr"/>
          <a:lstStyle/>
          <a:p>
            <a:pPr indent="0" marL="0">
              <a:buNone/>
            </a:pPr>
            <a:r>
              <a:rPr lang="en-US" sz="1000" b="1" spc="100" kern="0" dirty="0">
                <a:solidFill>
                  <a:srgbClr val="93C5FD"/>
                </a:solidFill>
                <a:latin typeface="Calibri" pitchFamily="34" charset="0"/>
                <a:ea typeface="Calibri" pitchFamily="34" charset="-122"/>
                <a:cs typeface="Calibri" pitchFamily="34" charset="-120"/>
              </a:rPr>
              <a:t>EXAMPLE ANNOTATED TAG MESSAGE</a:t>
            </a:r>
            <a:endParaRPr lang="en-US" sz="1000" dirty="0"/>
          </a:p>
        </p:txBody>
      </p:sp>
      <p:sp>
        <p:nvSpPr>
          <p:cNvPr id="20" name="Text 18"/>
          <p:cNvSpPr/>
          <p:nvPr/>
        </p:nvSpPr>
        <p:spPr>
          <a:xfrm>
            <a:off x="4114800" y="3209544"/>
            <a:ext cx="7388352" cy="1197864"/>
          </a:xfrm>
          <a:prstGeom prst="rect">
            <a:avLst/>
          </a:prstGeom>
          <a:noFill/>
          <a:ln/>
        </p:spPr>
        <p:txBody>
          <a:bodyPr wrap="square" lIns="0" tIns="0" rIns="0" bIns="0" rtlCol="0" anchor="t"/>
          <a:lstStyle/>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Release: 5.3</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Version: 5.3.4.1.2</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QA Build: 2</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Features: LOGIN, CHECKOUT-REDESIGN</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Release Fixes: BUG-101</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DevOps: CI-PIPELINE-UPDATE</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Release Manager: jsmith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7C3AED"/>
                </a:solidFill>
                <a:latin typeface="Calibri" pitchFamily="34" charset="0"/>
                <a:ea typeface="Calibri" pitchFamily="34" charset="-122"/>
                <a:cs typeface="Calibri" pitchFamily="34" charset="-120"/>
              </a:rPr>
              <a:t>VERSIONING</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Version Numbering — Sprint.Feature.ReleaseFix.DevOps.QA</a:t>
            </a:r>
            <a:endParaRPr lang="en-US" sz="3000" dirty="0"/>
          </a:p>
        </p:txBody>
      </p:sp>
      <p:sp>
        <p:nvSpPr>
          <p:cNvPr id="4" name="Shape 2"/>
          <p:cNvSpPr/>
          <p:nvPr/>
        </p:nvSpPr>
        <p:spPr>
          <a:xfrm>
            <a:off x="457200" y="1225296"/>
            <a:ext cx="3246120" cy="1417320"/>
          </a:xfrm>
          <a:prstGeom prst="roundRect">
            <a:avLst>
              <a:gd name="adj" fmla="val 3871"/>
            </a:avLst>
          </a:prstGeom>
          <a:solidFill>
            <a:srgbClr val="F3F4F6"/>
          </a:solidFill>
          <a:ln w="9525">
            <a:solidFill>
              <a:srgbClr val="E5E7EB"/>
            </a:solidFill>
            <a:prstDash val="solid"/>
          </a:ln>
          <a:effectLst>
            <a:outerShdw sx="100000" sy="100000" kx="0" ky="0" algn="bl" rotWithShape="0" blurRad="7.26819800777454e+283" dist="2.9072792031098153e+283" dir="Infinity">
              <a:srgbClr val="000000">
                <a:alpha val="Infinity"/>
              </a:srgbClr>
            </a:outerShdw>
          </a:effectLst>
        </p:spPr>
      </p:sp>
      <p:sp>
        <p:nvSpPr>
          <p:cNvPr id="5" name="Text 3"/>
          <p:cNvSpPr/>
          <p:nvPr/>
        </p:nvSpPr>
        <p:spPr>
          <a:xfrm>
            <a:off x="621792" y="1335024"/>
            <a:ext cx="2916936" cy="256032"/>
          </a:xfrm>
          <a:prstGeom prst="rect">
            <a:avLst/>
          </a:prstGeom>
          <a:noFill/>
          <a:ln/>
        </p:spPr>
        <p:txBody>
          <a:bodyPr wrap="square" lIns="0" tIns="0" rIns="0" bIns="0" rtlCol="0" anchor="ctr"/>
          <a:lstStyle/>
          <a:p>
            <a:pPr indent="0" marL="0">
              <a:buNone/>
            </a:pPr>
            <a:r>
              <a:rPr lang="en-US" sz="1100" b="1" spc="100" kern="0" dirty="0">
                <a:solidFill>
                  <a:srgbClr val="7C3AED"/>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621792" y="1645920"/>
            <a:ext cx="2916936" cy="8869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Decode a five-field Git Flow Plus version number</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Learn which command increments which field</a:t>
            </a:r>
            <a:endParaRPr lang="en-US" sz="1200" dirty="0"/>
          </a:p>
        </p:txBody>
      </p:sp>
      <p:sp>
        <p:nvSpPr>
          <p:cNvPr id="7" name="Shape 5"/>
          <p:cNvSpPr/>
          <p:nvPr/>
        </p:nvSpPr>
        <p:spPr>
          <a:xfrm>
            <a:off x="457200" y="2788920"/>
            <a:ext cx="3246120" cy="2203704"/>
          </a:xfrm>
          <a:prstGeom prst="roundRect">
            <a:avLst>
              <a:gd name="adj" fmla="val 2490"/>
            </a:avLst>
          </a:prstGeom>
          <a:solidFill>
            <a:srgbClr val="F3F4F6"/>
          </a:solidFill>
          <a:ln w="9525">
            <a:solidFill>
              <a:srgbClr val="E5E7EB"/>
            </a:solidFill>
            <a:prstDash val="solid"/>
          </a:ln>
          <a:effectLst>
            <a:outerShdw sx="100000" sy="100000" kx="0" ky="0" algn="bl" rotWithShape="0" blurRad="9.230611469873665e+287" dist="3.6922445879494656e+287" dir="Infinity">
              <a:srgbClr val="000000">
                <a:alpha val="Infinity"/>
              </a:srgbClr>
            </a:outerShdw>
          </a:effectLst>
        </p:spPr>
      </p:sp>
      <p:sp>
        <p:nvSpPr>
          <p:cNvPr id="8" name="Text 6"/>
          <p:cNvSpPr/>
          <p:nvPr/>
        </p:nvSpPr>
        <p:spPr>
          <a:xfrm>
            <a:off x="621792" y="2898648"/>
            <a:ext cx="2916936" cy="256032"/>
          </a:xfrm>
          <a:prstGeom prst="rect">
            <a:avLst/>
          </a:prstGeom>
          <a:noFill/>
          <a:ln/>
        </p:spPr>
        <p:txBody>
          <a:bodyPr wrap="square" lIns="0" tIns="0" rIns="0" bIns="0" rtlCol="0" anchor="ctr"/>
          <a:lstStyle/>
          <a:p>
            <a:pPr indent="0" marL="0">
              <a:buNone/>
            </a:pPr>
            <a:r>
              <a:rPr lang="en-US" sz="1100" b="1" spc="100" kern="0" dirty="0">
                <a:solidFill>
                  <a:srgbClr val="7C3AED"/>
                </a:solidFill>
                <a:latin typeface="Calibri" pitchFamily="34" charset="0"/>
                <a:ea typeface="Calibri" pitchFamily="34" charset="-122"/>
                <a:cs typeface="Calibri" pitchFamily="34" charset="-120"/>
              </a:rPr>
              <a:t>KEY NOTES</a:t>
            </a:r>
            <a:endParaRPr lang="en-US" sz="1100" dirty="0"/>
          </a:p>
        </p:txBody>
      </p:sp>
      <p:sp>
        <p:nvSpPr>
          <p:cNvPr id="9" name="Text 7"/>
          <p:cNvSpPr/>
          <p:nvPr/>
        </p:nvSpPr>
        <p:spPr>
          <a:xfrm>
            <a:off x="621792" y="3209544"/>
            <a:ext cx="2916936" cy="167335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Only one field ever changes per action — versions never move by accident</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Release field (2nd) is a live feature counter, independent of the release name itself</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git flow release version prints the current breakdown at any time</a:t>
            </a:r>
            <a:endParaRPr lang="en-US" sz="1150" dirty="0"/>
          </a:p>
        </p:txBody>
      </p:sp>
      <p:sp>
        <p:nvSpPr>
          <p:cNvPr id="10" name="Shape 8"/>
          <p:cNvSpPr/>
          <p:nvPr/>
        </p:nvSpPr>
        <p:spPr>
          <a:xfrm>
            <a:off x="457200" y="5120640"/>
            <a:ext cx="11274552" cy="1188720"/>
          </a:xfrm>
          <a:prstGeom prst="roundRect">
            <a:avLst>
              <a:gd name="adj" fmla="val 4615"/>
            </a:avLst>
          </a:prstGeom>
          <a:solidFill>
            <a:srgbClr val="0F172A"/>
          </a:solidFill>
          <a:ln w="12700">
            <a:solidFill>
              <a:srgbClr val="0F172A"/>
            </a:solidFill>
            <a:prstDash val="solid"/>
          </a:ln>
          <a:effectLst>
            <a:outerShdw sx="100000" sy="100000" kx="0" ky="0" algn="bl" rotWithShape="0" blurRad="1.1722876566739555e+292" dist="4.6891506266958215e+291" dir="Infinity">
              <a:srgbClr val="000000">
                <a:alpha val="Infinity"/>
              </a:srgbClr>
            </a:outerShdw>
          </a:effectLst>
        </p:spPr>
      </p:sp>
      <p:sp>
        <p:nvSpPr>
          <p:cNvPr id="11" name="Text 9"/>
          <p:cNvSpPr/>
          <p:nvPr/>
        </p:nvSpPr>
        <p:spPr>
          <a:xfrm>
            <a:off x="685800" y="5212080"/>
            <a:ext cx="10817352" cy="237744"/>
          </a:xfrm>
          <a:prstGeom prst="rect">
            <a:avLst/>
          </a:prstGeom>
          <a:noFill/>
          <a:ln/>
        </p:spPr>
        <p:txBody>
          <a:bodyPr wrap="square" lIns="0" tIns="0" rIns="0" bIns="0" rtlCol="0" anchor="ctr"/>
          <a:lstStyle/>
          <a:p>
            <a:pPr indent="0" marL="0">
              <a:buNone/>
            </a:pPr>
            <a:r>
              <a:rPr lang="en-US" sz="1000" b="1" spc="100" kern="0" dirty="0">
                <a:solidFill>
                  <a:srgbClr val="93C5FD"/>
                </a:solidFill>
                <a:latin typeface="Calibri" pitchFamily="34" charset="0"/>
                <a:ea typeface="Calibri" pitchFamily="34" charset="-122"/>
                <a:cs typeface="Calibri" pitchFamily="34" charset="-120"/>
              </a:rPr>
              <a:t>INSPECT THE CURRENT VERSION</a:t>
            </a:r>
            <a:endParaRPr lang="en-US" sz="1000" dirty="0"/>
          </a:p>
        </p:txBody>
      </p:sp>
      <p:sp>
        <p:nvSpPr>
          <p:cNvPr id="12" name="Text 10"/>
          <p:cNvSpPr/>
          <p:nvPr/>
        </p:nvSpPr>
        <p:spPr>
          <a:xfrm>
            <a:off x="685800" y="5504688"/>
            <a:ext cx="10817352" cy="694944"/>
          </a:xfrm>
          <a:prstGeom prst="rect">
            <a:avLst/>
          </a:prstGeom>
          <a:noFill/>
          <a:ln/>
        </p:spPr>
        <p:txBody>
          <a:bodyPr wrap="square" lIns="0" tIns="0" rIns="0" bIns="0" rtlCol="0" anchor="t"/>
          <a:lstStyle/>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version</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manifest</a:t>
            </a:r>
            <a:endParaRPr lang="en-US" sz="1250" dirty="0"/>
          </a:p>
        </p:txBody>
      </p:sp>
      <p:sp>
        <p:nvSpPr>
          <p:cNvPr id="13" name="Text 11"/>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14" name="Text 12"/>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
        <p:nvSpPr>
          <p:cNvPr id="15" name="Shape 13"/>
          <p:cNvSpPr/>
          <p:nvPr/>
        </p:nvSpPr>
        <p:spPr>
          <a:xfrm>
            <a:off x="3886200" y="1499616"/>
            <a:ext cx="1349654" cy="1188720"/>
          </a:xfrm>
          <a:prstGeom prst="roundRect">
            <a:avLst>
              <a:gd name="adj" fmla="val 6154"/>
            </a:avLst>
          </a:prstGeom>
          <a:solidFill>
            <a:srgbClr val="1E2761"/>
          </a:solidFill>
          <a:ln w="12700">
            <a:solidFill>
              <a:srgbClr val="FFFFFF"/>
            </a:solidFill>
            <a:prstDash val="solid"/>
          </a:ln>
          <a:effectLst>
            <a:outerShdw sx="100000" sy="100000" kx="0" ky="0" algn="bl" rotWithShape="0" blurRad="1.4888053239759236e+296" dist="5.955221295903693e+295" dir="Infinity">
              <a:srgbClr val="000000">
                <a:alpha val="Infinity"/>
              </a:srgbClr>
            </a:outerShdw>
          </a:effectLst>
        </p:spPr>
      </p:sp>
      <p:sp>
        <p:nvSpPr>
          <p:cNvPr id="16" name="Text 14"/>
          <p:cNvSpPr/>
          <p:nvPr/>
        </p:nvSpPr>
        <p:spPr>
          <a:xfrm>
            <a:off x="3886200" y="1609344"/>
            <a:ext cx="1349654"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17" name="Text 15"/>
          <p:cNvSpPr/>
          <p:nvPr/>
        </p:nvSpPr>
        <p:spPr>
          <a:xfrm>
            <a:off x="5235854" y="1609344"/>
            <a:ext cx="274320" cy="731520"/>
          </a:xfrm>
          <a:prstGeom prst="rect">
            <a:avLst/>
          </a:prstGeom>
          <a:noFill/>
          <a:ln/>
        </p:spPr>
        <p:txBody>
          <a:bodyPr wrap="square" lIns="0" tIns="0" rIns="0" bIns="0" rtlCol="0" anchor="ctr"/>
          <a:lstStyle/>
          <a:p>
            <a:pPr algn="ctr" indent="0" marL="0">
              <a:buNone/>
            </a:pPr>
            <a:r>
              <a:rPr lang="en-US" sz="4000" b="1" dirty="0">
                <a:solidFill>
                  <a:srgbClr val="1F2937"/>
                </a:solidFill>
                <a:latin typeface="Cambria" pitchFamily="34" charset="0"/>
                <a:ea typeface="Cambria" pitchFamily="34" charset="-122"/>
                <a:cs typeface="Cambria" pitchFamily="34" charset="-120"/>
              </a:rPr>
              <a:t>.</a:t>
            </a:r>
            <a:endParaRPr lang="en-US" sz="4000" dirty="0"/>
          </a:p>
        </p:txBody>
      </p:sp>
      <p:sp>
        <p:nvSpPr>
          <p:cNvPr id="18" name="Text 16"/>
          <p:cNvSpPr/>
          <p:nvPr/>
        </p:nvSpPr>
        <p:spPr>
          <a:xfrm>
            <a:off x="3840480" y="2798064"/>
            <a:ext cx="1441094" cy="2743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Sprint</a:t>
            </a:r>
            <a:endParaRPr lang="en-US" sz="1250" dirty="0"/>
          </a:p>
        </p:txBody>
      </p:sp>
      <p:sp>
        <p:nvSpPr>
          <p:cNvPr id="19" name="Text 17"/>
          <p:cNvSpPr/>
          <p:nvPr/>
        </p:nvSpPr>
        <p:spPr>
          <a:xfrm>
            <a:off x="3840480" y="3072384"/>
            <a:ext cx="1441094" cy="502920"/>
          </a:xfrm>
          <a:prstGeom prst="rect">
            <a:avLst/>
          </a:prstGeom>
          <a:noFill/>
          <a:ln/>
        </p:spPr>
        <p:txBody>
          <a:bodyPr wrap="square" lIns="0" tIns="0" rIns="0" bIns="0" rtlCol="0" anchor="ctr"/>
          <a:lstStyle/>
          <a:p>
            <a:pPr algn="ctr" indent="0" marL="0">
              <a:buNone/>
            </a:pPr>
            <a:r>
              <a:rPr lang="en-US" sz="1000" dirty="0">
                <a:solidFill>
                  <a:srgbClr val="6B7280"/>
                </a:solidFill>
                <a:latin typeface="Courier New" pitchFamily="34" charset="0"/>
                <a:ea typeface="Courier New" pitchFamily="34" charset="-122"/>
                <a:cs typeface="Courier New" pitchFamily="34" charset="-120"/>
              </a:rPr>
              <a:t>Set at release start</a:t>
            </a:r>
            <a:endParaRPr lang="en-US" sz="1000" dirty="0"/>
          </a:p>
        </p:txBody>
      </p:sp>
      <p:sp>
        <p:nvSpPr>
          <p:cNvPr id="20" name="Shape 18"/>
          <p:cNvSpPr/>
          <p:nvPr/>
        </p:nvSpPr>
        <p:spPr>
          <a:xfrm>
            <a:off x="5510174" y="1499616"/>
            <a:ext cx="1349654" cy="1188720"/>
          </a:xfrm>
          <a:prstGeom prst="roundRect">
            <a:avLst>
              <a:gd name="adj" fmla="val 6154"/>
            </a:avLst>
          </a:prstGeom>
          <a:solidFill>
            <a:srgbClr val="2563EB"/>
          </a:solidFill>
          <a:ln w="12700">
            <a:solidFill>
              <a:srgbClr val="FFFFFF"/>
            </a:solidFill>
            <a:prstDash val="solid"/>
          </a:ln>
          <a:effectLst>
            <a:outerShdw sx="100000" sy="100000" kx="0" ky="0" algn="bl" rotWithShape="0" blurRad="1.890782761449423e+300" dist="7.56313104579769e+299" dir="Infinity">
              <a:srgbClr val="000000">
                <a:alpha val="Infinity"/>
              </a:srgbClr>
            </a:outerShdw>
          </a:effectLst>
        </p:spPr>
      </p:sp>
      <p:sp>
        <p:nvSpPr>
          <p:cNvPr id="21" name="Text 19"/>
          <p:cNvSpPr/>
          <p:nvPr/>
        </p:nvSpPr>
        <p:spPr>
          <a:xfrm>
            <a:off x="5510174" y="1609344"/>
            <a:ext cx="1349654"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22" name="Text 20"/>
          <p:cNvSpPr/>
          <p:nvPr/>
        </p:nvSpPr>
        <p:spPr>
          <a:xfrm>
            <a:off x="6859829" y="1609344"/>
            <a:ext cx="274320" cy="731520"/>
          </a:xfrm>
          <a:prstGeom prst="rect">
            <a:avLst/>
          </a:prstGeom>
          <a:noFill/>
          <a:ln/>
        </p:spPr>
        <p:txBody>
          <a:bodyPr wrap="square" lIns="0" tIns="0" rIns="0" bIns="0" rtlCol="0" anchor="ctr"/>
          <a:lstStyle/>
          <a:p>
            <a:pPr algn="ctr" indent="0" marL="0">
              <a:buNone/>
            </a:pPr>
            <a:r>
              <a:rPr lang="en-US" sz="4000" b="1" dirty="0">
                <a:solidFill>
                  <a:srgbClr val="1F2937"/>
                </a:solidFill>
                <a:latin typeface="Cambria" pitchFamily="34" charset="0"/>
                <a:ea typeface="Cambria" pitchFamily="34" charset="-122"/>
                <a:cs typeface="Cambria" pitchFamily="34" charset="-120"/>
              </a:rPr>
              <a:t>.</a:t>
            </a:r>
            <a:endParaRPr lang="en-US" sz="4000" dirty="0"/>
          </a:p>
        </p:txBody>
      </p:sp>
      <p:sp>
        <p:nvSpPr>
          <p:cNvPr id="23" name="Text 21"/>
          <p:cNvSpPr/>
          <p:nvPr/>
        </p:nvSpPr>
        <p:spPr>
          <a:xfrm>
            <a:off x="5464454" y="2798064"/>
            <a:ext cx="1441094" cy="2743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Feature</a:t>
            </a:r>
            <a:endParaRPr lang="en-US" sz="1250" dirty="0"/>
          </a:p>
        </p:txBody>
      </p:sp>
      <p:sp>
        <p:nvSpPr>
          <p:cNvPr id="24" name="Text 22"/>
          <p:cNvSpPr/>
          <p:nvPr/>
        </p:nvSpPr>
        <p:spPr>
          <a:xfrm>
            <a:off x="5464454" y="3072384"/>
            <a:ext cx="1441094" cy="502920"/>
          </a:xfrm>
          <a:prstGeom prst="rect">
            <a:avLst/>
          </a:prstGeom>
          <a:noFill/>
          <a:ln/>
        </p:spPr>
        <p:txBody>
          <a:bodyPr wrap="square" lIns="0" tIns="0" rIns="0" bIns="0" rtlCol="0" anchor="ctr"/>
          <a:lstStyle/>
          <a:p>
            <a:pPr algn="ctr" indent="0" marL="0">
              <a:buNone/>
            </a:pPr>
            <a:r>
              <a:rPr lang="en-US" sz="1000" dirty="0">
                <a:solidFill>
                  <a:srgbClr val="6B7280"/>
                </a:solidFill>
                <a:latin typeface="Courier New" pitchFamily="34" charset="0"/>
                <a:ea typeface="Courier New" pitchFamily="34" charset="-122"/>
                <a:cs typeface="Courier New" pitchFamily="34" charset="-120"/>
              </a:rPr>
              <a:t>release feature add</a:t>
            </a:r>
            <a:endParaRPr lang="en-US" sz="1000" dirty="0"/>
          </a:p>
        </p:txBody>
      </p:sp>
      <p:sp>
        <p:nvSpPr>
          <p:cNvPr id="25" name="Shape 23"/>
          <p:cNvSpPr/>
          <p:nvPr/>
        </p:nvSpPr>
        <p:spPr>
          <a:xfrm>
            <a:off x="7134149" y="1499616"/>
            <a:ext cx="1349654" cy="1188720"/>
          </a:xfrm>
          <a:prstGeom prst="roundRect">
            <a:avLst>
              <a:gd name="adj" fmla="val 6154"/>
            </a:avLst>
          </a:prstGeom>
          <a:solidFill>
            <a:srgbClr val="EA580C"/>
          </a:solidFill>
          <a:ln w="12700">
            <a:solidFill>
              <a:srgbClr val="FFFFFF"/>
            </a:solidFill>
            <a:prstDash val="solid"/>
          </a:ln>
          <a:effectLst>
            <a:outerShdw sx="100000" sy="100000" kx="0" ky="0" algn="bl" rotWithShape="0" blurRad="2.4012941070407674e+304" dist="9.605176428163068e+303" dir="Infinity">
              <a:srgbClr val="000000">
                <a:alpha val="Infinity"/>
              </a:srgbClr>
            </a:outerShdw>
          </a:effectLst>
        </p:spPr>
      </p:sp>
      <p:sp>
        <p:nvSpPr>
          <p:cNvPr id="26" name="Text 24"/>
          <p:cNvSpPr/>
          <p:nvPr/>
        </p:nvSpPr>
        <p:spPr>
          <a:xfrm>
            <a:off x="7134149" y="1609344"/>
            <a:ext cx="1349654"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27" name="Text 25"/>
          <p:cNvSpPr/>
          <p:nvPr/>
        </p:nvSpPr>
        <p:spPr>
          <a:xfrm>
            <a:off x="8483803" y="1609344"/>
            <a:ext cx="274320" cy="731520"/>
          </a:xfrm>
          <a:prstGeom prst="rect">
            <a:avLst/>
          </a:prstGeom>
          <a:noFill/>
          <a:ln/>
        </p:spPr>
        <p:txBody>
          <a:bodyPr wrap="square" lIns="0" tIns="0" rIns="0" bIns="0" rtlCol="0" anchor="ctr"/>
          <a:lstStyle/>
          <a:p>
            <a:pPr algn="ctr" indent="0" marL="0">
              <a:buNone/>
            </a:pPr>
            <a:r>
              <a:rPr lang="en-US" sz="4000" b="1" dirty="0">
                <a:solidFill>
                  <a:srgbClr val="1F2937"/>
                </a:solidFill>
                <a:latin typeface="Cambria" pitchFamily="34" charset="0"/>
                <a:ea typeface="Cambria" pitchFamily="34" charset="-122"/>
                <a:cs typeface="Cambria" pitchFamily="34" charset="-120"/>
              </a:rPr>
              <a:t>.</a:t>
            </a:r>
            <a:endParaRPr lang="en-US" sz="4000" dirty="0"/>
          </a:p>
        </p:txBody>
      </p:sp>
      <p:sp>
        <p:nvSpPr>
          <p:cNvPr id="28" name="Text 26"/>
          <p:cNvSpPr/>
          <p:nvPr/>
        </p:nvSpPr>
        <p:spPr>
          <a:xfrm>
            <a:off x="7088429" y="2798064"/>
            <a:ext cx="1441094" cy="2743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ReleaseFix</a:t>
            </a:r>
            <a:endParaRPr lang="en-US" sz="1250" dirty="0"/>
          </a:p>
        </p:txBody>
      </p:sp>
      <p:sp>
        <p:nvSpPr>
          <p:cNvPr id="29" name="Text 27"/>
          <p:cNvSpPr/>
          <p:nvPr/>
        </p:nvSpPr>
        <p:spPr>
          <a:xfrm>
            <a:off x="7088429" y="3072384"/>
            <a:ext cx="1441094" cy="502920"/>
          </a:xfrm>
          <a:prstGeom prst="rect">
            <a:avLst/>
          </a:prstGeom>
          <a:noFill/>
          <a:ln/>
        </p:spPr>
        <p:txBody>
          <a:bodyPr wrap="square" lIns="0" tIns="0" rIns="0" bIns="0" rtlCol="0" anchor="ctr"/>
          <a:lstStyle/>
          <a:p>
            <a:pPr algn="ctr" indent="0" marL="0">
              <a:buNone/>
            </a:pPr>
            <a:r>
              <a:rPr lang="en-US" sz="1000" dirty="0">
                <a:solidFill>
                  <a:srgbClr val="6B7280"/>
                </a:solidFill>
                <a:latin typeface="Courier New" pitchFamily="34" charset="0"/>
                <a:ea typeface="Courier New" pitchFamily="34" charset="-122"/>
                <a:cs typeface="Courier New" pitchFamily="34" charset="-120"/>
              </a:rPr>
              <a:t>releasefix finish</a:t>
            </a:r>
            <a:endParaRPr lang="en-US" sz="1000" dirty="0"/>
          </a:p>
        </p:txBody>
      </p:sp>
      <p:sp>
        <p:nvSpPr>
          <p:cNvPr id="30" name="Shape 28"/>
          <p:cNvSpPr/>
          <p:nvPr/>
        </p:nvSpPr>
        <p:spPr>
          <a:xfrm>
            <a:off x="8758123" y="1499616"/>
            <a:ext cx="1349654" cy="1188720"/>
          </a:xfrm>
          <a:prstGeom prst="roundRect">
            <a:avLst>
              <a:gd name="adj" fmla="val 6154"/>
            </a:avLst>
          </a:prstGeom>
          <a:solidFill>
            <a:srgbClr val="7C3AED"/>
          </a:solidFill>
          <a:ln w="12700">
            <a:solidFill>
              <a:srgbClr val="FFFFFF"/>
            </a:solidFill>
            <a:prstDash val="solid"/>
          </a:ln>
          <a:effectLst>
            <a:outerShdw sx="100000" sy="100000" kx="0" ky="0" algn="bl" rotWithShape="0" blurRad="Infinity" dist="1.2198574063767096e+308" dir="Infinity">
              <a:srgbClr val="000000">
                <a:alpha val="Infinity"/>
              </a:srgbClr>
            </a:outerShdw>
          </a:effectLst>
        </p:spPr>
      </p:sp>
      <p:sp>
        <p:nvSpPr>
          <p:cNvPr id="31" name="Text 29"/>
          <p:cNvSpPr/>
          <p:nvPr/>
        </p:nvSpPr>
        <p:spPr>
          <a:xfrm>
            <a:off x="8758123" y="1609344"/>
            <a:ext cx="1349654"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32" name="Text 30"/>
          <p:cNvSpPr/>
          <p:nvPr/>
        </p:nvSpPr>
        <p:spPr>
          <a:xfrm>
            <a:off x="10107778" y="1609344"/>
            <a:ext cx="274320" cy="731520"/>
          </a:xfrm>
          <a:prstGeom prst="rect">
            <a:avLst/>
          </a:prstGeom>
          <a:noFill/>
          <a:ln/>
        </p:spPr>
        <p:txBody>
          <a:bodyPr wrap="square" lIns="0" tIns="0" rIns="0" bIns="0" rtlCol="0" anchor="ctr"/>
          <a:lstStyle/>
          <a:p>
            <a:pPr algn="ctr" indent="0" marL="0">
              <a:buNone/>
            </a:pPr>
            <a:r>
              <a:rPr lang="en-US" sz="4000" b="1" dirty="0">
                <a:solidFill>
                  <a:srgbClr val="1F2937"/>
                </a:solidFill>
                <a:latin typeface="Cambria" pitchFamily="34" charset="0"/>
                <a:ea typeface="Cambria" pitchFamily="34" charset="-122"/>
                <a:cs typeface="Cambria" pitchFamily="34" charset="-120"/>
              </a:rPr>
              <a:t>.</a:t>
            </a:r>
            <a:endParaRPr lang="en-US" sz="4000" dirty="0"/>
          </a:p>
        </p:txBody>
      </p:sp>
      <p:sp>
        <p:nvSpPr>
          <p:cNvPr id="33" name="Text 31"/>
          <p:cNvSpPr/>
          <p:nvPr/>
        </p:nvSpPr>
        <p:spPr>
          <a:xfrm>
            <a:off x="8712403" y="2798064"/>
            <a:ext cx="1441094" cy="2743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DevOps</a:t>
            </a:r>
            <a:endParaRPr lang="en-US" sz="1250" dirty="0"/>
          </a:p>
        </p:txBody>
      </p:sp>
      <p:sp>
        <p:nvSpPr>
          <p:cNvPr id="34" name="Text 32"/>
          <p:cNvSpPr/>
          <p:nvPr/>
        </p:nvSpPr>
        <p:spPr>
          <a:xfrm>
            <a:off x="8712403" y="3072384"/>
            <a:ext cx="1441094" cy="502920"/>
          </a:xfrm>
          <a:prstGeom prst="rect">
            <a:avLst/>
          </a:prstGeom>
          <a:noFill/>
          <a:ln/>
        </p:spPr>
        <p:txBody>
          <a:bodyPr wrap="square" lIns="0" tIns="0" rIns="0" bIns="0" rtlCol="0" anchor="ctr"/>
          <a:lstStyle/>
          <a:p>
            <a:pPr algn="ctr" indent="0" marL="0">
              <a:buNone/>
            </a:pPr>
            <a:r>
              <a:rPr lang="en-US" sz="1000" dirty="0">
                <a:solidFill>
                  <a:srgbClr val="6B7280"/>
                </a:solidFill>
                <a:latin typeface="Courier New" pitchFamily="34" charset="0"/>
                <a:ea typeface="Courier New" pitchFamily="34" charset="-122"/>
                <a:cs typeface="Courier New" pitchFamily="34" charset="-120"/>
              </a:rPr>
              <a:t>devops finish</a:t>
            </a:r>
            <a:endParaRPr lang="en-US" sz="1000" dirty="0"/>
          </a:p>
        </p:txBody>
      </p:sp>
      <p:sp>
        <p:nvSpPr>
          <p:cNvPr id="35" name="Shape 33"/>
          <p:cNvSpPr/>
          <p:nvPr/>
        </p:nvSpPr>
        <p:spPr>
          <a:xfrm>
            <a:off x="10382098" y="1499616"/>
            <a:ext cx="1349654" cy="1188720"/>
          </a:xfrm>
          <a:prstGeom prst="roundRect">
            <a:avLst>
              <a:gd name="adj" fmla="val 6154"/>
            </a:avLst>
          </a:prstGeom>
          <a:solidFill>
            <a:srgbClr val="16A34A"/>
          </a:solidFill>
          <a:ln w="12700">
            <a:solidFill>
              <a:srgbClr val="FFFFFF"/>
            </a:solidFill>
            <a:prstDash val="solid"/>
          </a:ln>
          <a:effectLst>
            <a:outerShdw sx="100000" sy="100000" kx="0" ky="0" algn="bl" rotWithShape="0" blurRad="Infinity" dist="Infinity" dir="Infinity">
              <a:srgbClr val="000000">
                <a:alpha val="Infinity"/>
              </a:srgbClr>
            </a:outerShdw>
          </a:effectLst>
        </p:spPr>
      </p:sp>
      <p:sp>
        <p:nvSpPr>
          <p:cNvPr id="36" name="Text 34"/>
          <p:cNvSpPr/>
          <p:nvPr/>
        </p:nvSpPr>
        <p:spPr>
          <a:xfrm>
            <a:off x="10382098" y="1609344"/>
            <a:ext cx="1349654"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37" name="Text 35"/>
          <p:cNvSpPr/>
          <p:nvPr/>
        </p:nvSpPr>
        <p:spPr>
          <a:xfrm>
            <a:off x="10336378" y="2798064"/>
            <a:ext cx="1441094" cy="2743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QA</a:t>
            </a:r>
            <a:endParaRPr lang="en-US" sz="1250" dirty="0"/>
          </a:p>
        </p:txBody>
      </p:sp>
      <p:sp>
        <p:nvSpPr>
          <p:cNvPr id="38" name="Text 36"/>
          <p:cNvSpPr/>
          <p:nvPr/>
        </p:nvSpPr>
        <p:spPr>
          <a:xfrm>
            <a:off x="10336378" y="3072384"/>
            <a:ext cx="1441094" cy="502920"/>
          </a:xfrm>
          <a:prstGeom prst="rect">
            <a:avLst/>
          </a:prstGeom>
          <a:noFill/>
          <a:ln/>
        </p:spPr>
        <p:txBody>
          <a:bodyPr wrap="square" lIns="0" tIns="0" rIns="0" bIns="0" rtlCol="0" anchor="ctr"/>
          <a:lstStyle/>
          <a:p>
            <a:pPr algn="ctr" indent="0" marL="0">
              <a:buNone/>
            </a:pPr>
            <a:r>
              <a:rPr lang="en-US" sz="1000" dirty="0">
                <a:solidFill>
                  <a:srgbClr val="6B7280"/>
                </a:solidFill>
                <a:latin typeface="Courier New" pitchFamily="34" charset="0"/>
                <a:ea typeface="Courier New" pitchFamily="34" charset="-122"/>
                <a:cs typeface="Courier New" pitchFamily="34" charset="-120"/>
              </a:rPr>
              <a:t>release build</a:t>
            </a:r>
            <a:endParaRPr lang="en-US" sz="1000" dirty="0"/>
          </a:p>
        </p:txBody>
      </p:sp>
      <p:sp>
        <p:nvSpPr>
          <p:cNvPr id="39" name="Shape 37"/>
          <p:cNvSpPr/>
          <p:nvPr/>
        </p:nvSpPr>
        <p:spPr>
          <a:xfrm>
            <a:off x="3886200" y="3831336"/>
            <a:ext cx="7845552" cy="777240"/>
          </a:xfrm>
          <a:prstGeom prst="roundRect">
            <a:avLst>
              <a:gd name="adj" fmla="val 7059"/>
            </a:avLst>
          </a:prstGeom>
          <a:solidFill>
            <a:srgbClr val="0F172A"/>
          </a:solidFill>
          <a:ln w="12700">
            <a:solidFill>
              <a:srgbClr val="0F172A"/>
            </a:solidFill>
            <a:prstDash val="solid"/>
          </a:ln>
        </p:spPr>
      </p:sp>
      <p:sp>
        <p:nvSpPr>
          <p:cNvPr id="40" name="Text 38"/>
          <p:cNvSpPr/>
          <p:nvPr/>
        </p:nvSpPr>
        <p:spPr>
          <a:xfrm>
            <a:off x="4114800" y="4059936"/>
            <a:ext cx="7388352" cy="457200"/>
          </a:xfrm>
          <a:prstGeom prst="rect">
            <a:avLst/>
          </a:prstGeom>
          <a:noFill/>
          <a:ln/>
        </p:spPr>
        <p:txBody>
          <a:bodyPr wrap="square" lIns="0" tIns="0" rIns="0" bIns="0" rtlCol="0" anchor="ctr"/>
          <a:lstStyle/>
          <a:p>
            <a:pPr indent="0" marL="0">
              <a:buNone/>
            </a:pPr>
            <a:r>
              <a:rPr lang="en-US" sz="1300" dirty="0">
                <a:solidFill>
                  <a:srgbClr val="93C5FD"/>
                </a:solidFill>
                <a:latin typeface="Courier New" pitchFamily="34" charset="0"/>
                <a:ea typeface="Courier New" pitchFamily="34" charset="-122"/>
                <a:cs typeface="Courier New" pitchFamily="34" charset="-120"/>
              </a:rPr>
              <a:t>Example:  </a:t>
            </a:r>
            <a:pPr indent="0" marL="0">
              <a:buNone/>
            </a:pPr>
            <a:r>
              <a:rPr lang="en-US" sz="1500" b="1" dirty="0">
                <a:solidFill>
                  <a:srgbClr val="86EFAC"/>
                </a:solidFill>
                <a:latin typeface="Courier New" pitchFamily="34" charset="0"/>
                <a:ea typeface="Courier New" pitchFamily="34" charset="-122"/>
                <a:cs typeface="Courier New" pitchFamily="34" charset="-120"/>
              </a:rPr>
              <a:t>5.3.4.1.2</a:t>
            </a:r>
            <a:pPr indent="0" marL="0">
              <a:buNone/>
            </a:pPr>
            <a:r>
              <a:rPr lang="en-US" sz="1150" dirty="0">
                <a:solidFill>
                  <a:srgbClr val="CBD5E1"/>
                </a:solidFill>
                <a:latin typeface="Calibri" pitchFamily="34" charset="0"/>
                <a:ea typeface="Calibri" pitchFamily="34" charset="-122"/>
                <a:cs typeface="Calibri" pitchFamily="34" charset="-120"/>
              </a:rPr>
              <a:t>   →   Sprint 5 · 3rd feature merged · 4th release-fix · 1st DevOps change · 2nd QA build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16A34A"/>
                </a:solidFill>
                <a:latin typeface="Calibri" pitchFamily="34" charset="0"/>
                <a:ea typeface="Calibri" pitchFamily="34" charset="-122"/>
                <a:cs typeface="Calibri" pitchFamily="34" charset="-120"/>
              </a:rPr>
              <a:t>TAGGING STRATEGY</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Git Tag Strategy — A Tag for Every Build</a:t>
            </a:r>
            <a:endParaRPr lang="en-US" sz="3000" dirty="0"/>
          </a:p>
        </p:txBody>
      </p:sp>
      <p:sp>
        <p:nvSpPr>
          <p:cNvPr id="4" name="Shape 2"/>
          <p:cNvSpPr/>
          <p:nvPr/>
        </p:nvSpPr>
        <p:spPr>
          <a:xfrm>
            <a:off x="457200" y="1225296"/>
            <a:ext cx="3246120" cy="1417320"/>
          </a:xfrm>
          <a:prstGeom prst="roundRect">
            <a:avLst>
              <a:gd name="adj" fmla="val 3871"/>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sp>
        <p:nvSpPr>
          <p:cNvPr id="5" name="Text 3"/>
          <p:cNvSpPr/>
          <p:nvPr/>
        </p:nvSpPr>
        <p:spPr>
          <a:xfrm>
            <a:off x="621792" y="1335024"/>
            <a:ext cx="2916936" cy="256032"/>
          </a:xfrm>
          <a:prstGeom prst="rect">
            <a:avLst/>
          </a:prstGeom>
          <a:noFill/>
          <a:ln/>
        </p:spPr>
        <p:txBody>
          <a:bodyPr wrap="square" lIns="0" tIns="0" rIns="0" bIns="0" rtlCol="0" anchor="ctr"/>
          <a:lstStyle/>
          <a:p>
            <a:pPr indent="0" marL="0">
              <a:buNone/>
            </a:pPr>
            <a:r>
              <a:rPr lang="en-US" sz="1100" b="1" spc="100" kern="0" dirty="0">
                <a:solidFill>
                  <a:srgbClr val="16A34A"/>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621792" y="1645920"/>
            <a:ext cx="2916936" cy="8869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See the full tag timeline across a release</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Understand what distinguishes a QA tag from the production tag</a:t>
            </a:r>
            <a:endParaRPr lang="en-US" sz="1200" dirty="0"/>
          </a:p>
        </p:txBody>
      </p:sp>
      <p:sp>
        <p:nvSpPr>
          <p:cNvPr id="7" name="Shape 5"/>
          <p:cNvSpPr/>
          <p:nvPr/>
        </p:nvSpPr>
        <p:spPr>
          <a:xfrm>
            <a:off x="457200" y="2788920"/>
            <a:ext cx="3246120" cy="2203704"/>
          </a:xfrm>
          <a:prstGeom prst="roundRect">
            <a:avLst>
              <a:gd name="adj" fmla="val 2490"/>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sp>
        <p:nvSpPr>
          <p:cNvPr id="8" name="Text 6"/>
          <p:cNvSpPr/>
          <p:nvPr/>
        </p:nvSpPr>
        <p:spPr>
          <a:xfrm>
            <a:off x="621792" y="2898648"/>
            <a:ext cx="2916936" cy="256032"/>
          </a:xfrm>
          <a:prstGeom prst="rect">
            <a:avLst/>
          </a:prstGeom>
          <a:noFill/>
          <a:ln/>
        </p:spPr>
        <p:txBody>
          <a:bodyPr wrap="square" lIns="0" tIns="0" rIns="0" bIns="0" rtlCol="0" anchor="ctr"/>
          <a:lstStyle/>
          <a:p>
            <a:pPr indent="0" marL="0">
              <a:buNone/>
            </a:pPr>
            <a:r>
              <a:rPr lang="en-US" sz="1100" b="1" spc="100" kern="0" dirty="0">
                <a:solidFill>
                  <a:srgbClr val="16A34A"/>
                </a:solidFill>
                <a:latin typeface="Calibri" pitchFamily="34" charset="0"/>
                <a:ea typeface="Calibri" pitchFamily="34" charset="-122"/>
                <a:cs typeface="Calibri" pitchFamily="34" charset="-120"/>
              </a:rPr>
              <a:t>KEY NOTES</a:t>
            </a:r>
            <a:endParaRPr lang="en-US" sz="1100" dirty="0"/>
          </a:p>
        </p:txBody>
      </p:sp>
      <p:sp>
        <p:nvSpPr>
          <p:cNvPr id="9" name="Text 7"/>
          <p:cNvSpPr/>
          <p:nvPr/>
        </p:nvSpPr>
        <p:spPr>
          <a:xfrm>
            <a:off x="621792" y="3209544"/>
            <a:ext cx="2916936" cy="167335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Every tag is annotated (git tag -a), never lightweight — the message carries the audit data</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QA tags accumulate one per release build; there is exactly one production tag per release</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Tags are pushed to origin, so the whole history is visible to every tool that reads Git</a:t>
            </a:r>
            <a:endParaRPr lang="en-US" sz="1150" dirty="0"/>
          </a:p>
        </p:txBody>
      </p:sp>
      <p:sp>
        <p:nvSpPr>
          <p:cNvPr id="10" name="Shape 8"/>
          <p:cNvSpPr/>
          <p:nvPr/>
        </p:nvSpPr>
        <p:spPr>
          <a:xfrm>
            <a:off x="457200" y="5120640"/>
            <a:ext cx="11274552" cy="1188720"/>
          </a:xfrm>
          <a:prstGeom prst="roundRect">
            <a:avLst>
              <a:gd name="adj" fmla="val 4615"/>
            </a:avLst>
          </a:prstGeom>
          <a:solidFill>
            <a:srgbClr val="0F172A"/>
          </a:solidFill>
          <a:ln w="12700">
            <a:solidFill>
              <a:srgbClr val="0F172A"/>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685800" y="5212080"/>
            <a:ext cx="10817352" cy="237744"/>
          </a:xfrm>
          <a:prstGeom prst="rect">
            <a:avLst/>
          </a:prstGeom>
          <a:noFill/>
          <a:ln/>
        </p:spPr>
        <p:txBody>
          <a:bodyPr wrap="square" lIns="0" tIns="0" rIns="0" bIns="0" rtlCol="0" anchor="ctr"/>
          <a:lstStyle/>
          <a:p>
            <a:pPr indent="0" marL="0">
              <a:buNone/>
            </a:pPr>
            <a:r>
              <a:rPr lang="en-US" sz="1000" b="1" spc="100" kern="0" dirty="0">
                <a:solidFill>
                  <a:srgbClr val="93C5FD"/>
                </a:solidFill>
                <a:latin typeface="Calibri" pitchFamily="34" charset="0"/>
                <a:ea typeface="Calibri" pitchFamily="34" charset="-122"/>
                <a:cs typeface="Calibri" pitchFamily="34" charset="-120"/>
              </a:rPr>
              <a:t>VIEWING THE TAG TIMELINE</a:t>
            </a:r>
            <a:endParaRPr lang="en-US" sz="1000" dirty="0"/>
          </a:p>
        </p:txBody>
      </p:sp>
      <p:sp>
        <p:nvSpPr>
          <p:cNvPr id="12" name="Text 10"/>
          <p:cNvSpPr/>
          <p:nvPr/>
        </p:nvSpPr>
        <p:spPr>
          <a:xfrm>
            <a:off x="685800" y="5504688"/>
            <a:ext cx="10817352" cy="694944"/>
          </a:xfrm>
          <a:prstGeom prst="rect">
            <a:avLst/>
          </a:prstGeom>
          <a:noFill/>
          <a:ln/>
        </p:spPr>
        <p:txBody>
          <a:bodyPr wrap="square" lIns="0" tIns="0" rIns="0" bIns="0" rtlCol="0" anchor="t"/>
          <a:lstStyle/>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tag -l "v5.3.*"</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log --oneline --decorate --tags -10</a:t>
            </a:r>
            <a:endParaRPr lang="en-US" sz="1250" dirty="0"/>
          </a:p>
        </p:txBody>
      </p:sp>
      <p:sp>
        <p:nvSpPr>
          <p:cNvPr id="13" name="Text 11"/>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14" name="Text 12"/>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
        <p:nvSpPr>
          <p:cNvPr id="15" name="Shape 13"/>
          <p:cNvSpPr/>
          <p:nvPr/>
        </p:nvSpPr>
        <p:spPr>
          <a:xfrm>
            <a:off x="4846320" y="2505456"/>
            <a:ext cx="5925312" cy="0"/>
          </a:xfrm>
          <a:prstGeom prst="line">
            <a:avLst/>
          </a:prstGeom>
          <a:noFill/>
          <a:ln w="25400">
            <a:solidFill>
              <a:srgbClr val="E5E7EB"/>
            </a:solidFill>
            <a:prstDash val="solid"/>
          </a:ln>
        </p:spPr>
      </p:sp>
      <p:sp>
        <p:nvSpPr>
          <p:cNvPr id="16" name="Shape 14"/>
          <p:cNvSpPr/>
          <p:nvPr/>
        </p:nvSpPr>
        <p:spPr>
          <a:xfrm>
            <a:off x="4745736" y="2404872"/>
            <a:ext cx="201168" cy="201168"/>
          </a:xfrm>
          <a:prstGeom prst="ellipse">
            <a:avLst/>
          </a:prstGeom>
          <a:solidFill>
            <a:srgbClr val="EA580C"/>
          </a:solidFill>
          <a:ln w="25400">
            <a:solidFill>
              <a:srgbClr val="FFFFFF"/>
            </a:solidFill>
            <a:prstDash val="solid"/>
          </a:ln>
        </p:spPr>
      </p:sp>
      <p:sp>
        <p:nvSpPr>
          <p:cNvPr id="17" name="Shape 15"/>
          <p:cNvSpPr/>
          <p:nvPr/>
        </p:nvSpPr>
        <p:spPr>
          <a:xfrm>
            <a:off x="4846320" y="2185416"/>
            <a:ext cx="0" cy="219456"/>
          </a:xfrm>
          <a:prstGeom prst="line">
            <a:avLst/>
          </a:prstGeom>
          <a:noFill/>
          <a:ln w="15875">
            <a:solidFill>
              <a:srgbClr val="EA580C"/>
            </a:solidFill>
            <a:prstDash val="solid"/>
          </a:ln>
        </p:spPr>
      </p:sp>
      <p:sp>
        <p:nvSpPr>
          <p:cNvPr id="18" name="Shape 16"/>
          <p:cNvSpPr/>
          <p:nvPr/>
        </p:nvSpPr>
        <p:spPr>
          <a:xfrm>
            <a:off x="3977640" y="1271016"/>
            <a:ext cx="1737360" cy="914400"/>
          </a:xfrm>
          <a:prstGeom prst="roundRect">
            <a:avLst>
              <a:gd name="adj" fmla="val 6000"/>
            </a:avLst>
          </a:prstGeom>
          <a:solidFill>
            <a:srgbClr val="F3F4F6"/>
          </a:solidFill>
          <a:ln w="12700">
            <a:solidFill>
              <a:srgbClr val="EA580C"/>
            </a:solidFill>
            <a:prstDash val="solid"/>
          </a:ln>
        </p:spPr>
      </p:sp>
      <p:sp>
        <p:nvSpPr>
          <p:cNvPr id="19" name="Text 17"/>
          <p:cNvSpPr/>
          <p:nvPr/>
        </p:nvSpPr>
        <p:spPr>
          <a:xfrm>
            <a:off x="4023360" y="1362456"/>
            <a:ext cx="1645920" cy="320040"/>
          </a:xfrm>
          <a:prstGeom prst="rect">
            <a:avLst/>
          </a:prstGeom>
          <a:noFill/>
          <a:ln/>
        </p:spPr>
        <p:txBody>
          <a:bodyPr wrap="square" lIns="0" tIns="0" rIns="0" bIns="0" rtlCol="0" anchor="ctr"/>
          <a:lstStyle/>
          <a:p>
            <a:pPr algn="ctr" indent="0" marL="0">
              <a:buNone/>
            </a:pPr>
            <a:r>
              <a:rPr lang="en-US" sz="1150" b="1" dirty="0">
                <a:solidFill>
                  <a:srgbClr val="1E2761"/>
                </a:solidFill>
                <a:latin typeface="Courier New" pitchFamily="34" charset="0"/>
                <a:ea typeface="Courier New" pitchFamily="34" charset="-122"/>
                <a:cs typeface="Courier New" pitchFamily="34" charset="-120"/>
              </a:rPr>
              <a:t>v5.3.4.1.1</a:t>
            </a:r>
            <a:endParaRPr lang="en-US" sz="1150" dirty="0"/>
          </a:p>
        </p:txBody>
      </p:sp>
      <p:sp>
        <p:nvSpPr>
          <p:cNvPr id="20" name="Text 18"/>
          <p:cNvSpPr/>
          <p:nvPr/>
        </p:nvSpPr>
        <p:spPr>
          <a:xfrm>
            <a:off x="4023360" y="1728216"/>
            <a:ext cx="1645920" cy="365760"/>
          </a:xfrm>
          <a:prstGeom prst="rect">
            <a:avLst/>
          </a:prstGeom>
          <a:noFill/>
          <a:ln/>
        </p:spPr>
        <p:txBody>
          <a:bodyPr wrap="square" lIns="0" tIns="0" rIns="0" bIns="0" rtlCol="0" anchor="ctr"/>
          <a:lstStyle/>
          <a:p>
            <a:pPr algn="ctr" indent="0" marL="0">
              <a:buNone/>
            </a:pPr>
            <a:r>
              <a:rPr lang="en-US" sz="1050" b="1" dirty="0">
                <a:solidFill>
                  <a:srgbClr val="EA580C"/>
                </a:solidFill>
                <a:latin typeface="Calibri" pitchFamily="34" charset="0"/>
                <a:ea typeface="Calibri" pitchFamily="34" charset="-122"/>
                <a:cs typeface="Calibri" pitchFamily="34" charset="-120"/>
              </a:rPr>
              <a:t>QA Build 1</a:t>
            </a:r>
            <a:endParaRPr lang="en-US" sz="1050" dirty="0"/>
          </a:p>
        </p:txBody>
      </p:sp>
      <p:sp>
        <p:nvSpPr>
          <p:cNvPr id="21" name="Shape 19"/>
          <p:cNvSpPr/>
          <p:nvPr/>
        </p:nvSpPr>
        <p:spPr>
          <a:xfrm>
            <a:off x="6720840" y="2404872"/>
            <a:ext cx="201168" cy="201168"/>
          </a:xfrm>
          <a:prstGeom prst="ellipse">
            <a:avLst/>
          </a:prstGeom>
          <a:solidFill>
            <a:srgbClr val="EA580C"/>
          </a:solidFill>
          <a:ln w="25400">
            <a:solidFill>
              <a:srgbClr val="FFFFFF"/>
            </a:solidFill>
            <a:prstDash val="solid"/>
          </a:ln>
        </p:spPr>
      </p:sp>
      <p:sp>
        <p:nvSpPr>
          <p:cNvPr id="22" name="Shape 20"/>
          <p:cNvSpPr/>
          <p:nvPr/>
        </p:nvSpPr>
        <p:spPr>
          <a:xfrm>
            <a:off x="6821424" y="2606040"/>
            <a:ext cx="0" cy="219456"/>
          </a:xfrm>
          <a:prstGeom prst="line">
            <a:avLst/>
          </a:prstGeom>
          <a:noFill/>
          <a:ln w="15875">
            <a:solidFill>
              <a:srgbClr val="EA580C"/>
            </a:solidFill>
            <a:prstDash val="solid"/>
          </a:ln>
        </p:spPr>
      </p:sp>
      <p:sp>
        <p:nvSpPr>
          <p:cNvPr id="23" name="Shape 21"/>
          <p:cNvSpPr/>
          <p:nvPr/>
        </p:nvSpPr>
        <p:spPr>
          <a:xfrm>
            <a:off x="5952744" y="2825496"/>
            <a:ext cx="1737360" cy="914400"/>
          </a:xfrm>
          <a:prstGeom prst="roundRect">
            <a:avLst>
              <a:gd name="adj" fmla="val 6000"/>
            </a:avLst>
          </a:prstGeom>
          <a:solidFill>
            <a:srgbClr val="F3F4F6"/>
          </a:solidFill>
          <a:ln w="12700">
            <a:solidFill>
              <a:srgbClr val="EA580C"/>
            </a:solidFill>
            <a:prstDash val="solid"/>
          </a:ln>
        </p:spPr>
      </p:sp>
      <p:sp>
        <p:nvSpPr>
          <p:cNvPr id="24" name="Text 22"/>
          <p:cNvSpPr/>
          <p:nvPr/>
        </p:nvSpPr>
        <p:spPr>
          <a:xfrm>
            <a:off x="5998464" y="2916936"/>
            <a:ext cx="1645920" cy="320040"/>
          </a:xfrm>
          <a:prstGeom prst="rect">
            <a:avLst/>
          </a:prstGeom>
          <a:noFill/>
          <a:ln/>
        </p:spPr>
        <p:txBody>
          <a:bodyPr wrap="square" lIns="0" tIns="0" rIns="0" bIns="0" rtlCol="0" anchor="ctr"/>
          <a:lstStyle/>
          <a:p>
            <a:pPr algn="ctr" indent="0" marL="0">
              <a:buNone/>
            </a:pPr>
            <a:r>
              <a:rPr lang="en-US" sz="1150" b="1" dirty="0">
                <a:solidFill>
                  <a:srgbClr val="1E2761"/>
                </a:solidFill>
                <a:latin typeface="Courier New" pitchFamily="34" charset="0"/>
                <a:ea typeface="Courier New" pitchFamily="34" charset="-122"/>
                <a:cs typeface="Courier New" pitchFamily="34" charset="-120"/>
              </a:rPr>
              <a:t>v5.3.4.1.2</a:t>
            </a:r>
            <a:endParaRPr lang="en-US" sz="1150" dirty="0"/>
          </a:p>
        </p:txBody>
      </p:sp>
      <p:sp>
        <p:nvSpPr>
          <p:cNvPr id="25" name="Text 23"/>
          <p:cNvSpPr/>
          <p:nvPr/>
        </p:nvSpPr>
        <p:spPr>
          <a:xfrm>
            <a:off x="5998464" y="3282696"/>
            <a:ext cx="1645920" cy="365760"/>
          </a:xfrm>
          <a:prstGeom prst="rect">
            <a:avLst/>
          </a:prstGeom>
          <a:noFill/>
          <a:ln/>
        </p:spPr>
        <p:txBody>
          <a:bodyPr wrap="square" lIns="0" tIns="0" rIns="0" bIns="0" rtlCol="0" anchor="ctr"/>
          <a:lstStyle/>
          <a:p>
            <a:pPr algn="ctr" indent="0" marL="0">
              <a:buNone/>
            </a:pPr>
            <a:r>
              <a:rPr lang="en-US" sz="1050" b="1" dirty="0">
                <a:solidFill>
                  <a:srgbClr val="EA580C"/>
                </a:solidFill>
                <a:latin typeface="Calibri" pitchFamily="34" charset="0"/>
                <a:ea typeface="Calibri" pitchFamily="34" charset="-122"/>
                <a:cs typeface="Calibri" pitchFamily="34" charset="-120"/>
              </a:rPr>
              <a:t>QA Build 2</a:t>
            </a:r>
            <a:endParaRPr lang="en-US" sz="1050" dirty="0"/>
          </a:p>
        </p:txBody>
      </p:sp>
      <p:sp>
        <p:nvSpPr>
          <p:cNvPr id="26" name="Shape 24"/>
          <p:cNvSpPr/>
          <p:nvPr/>
        </p:nvSpPr>
        <p:spPr>
          <a:xfrm>
            <a:off x="8695944" y="2404872"/>
            <a:ext cx="201168" cy="201168"/>
          </a:xfrm>
          <a:prstGeom prst="ellipse">
            <a:avLst/>
          </a:prstGeom>
          <a:solidFill>
            <a:srgbClr val="EA580C"/>
          </a:solidFill>
          <a:ln w="25400">
            <a:solidFill>
              <a:srgbClr val="FFFFFF"/>
            </a:solidFill>
            <a:prstDash val="solid"/>
          </a:ln>
        </p:spPr>
      </p:sp>
      <p:sp>
        <p:nvSpPr>
          <p:cNvPr id="27" name="Shape 25"/>
          <p:cNvSpPr/>
          <p:nvPr/>
        </p:nvSpPr>
        <p:spPr>
          <a:xfrm>
            <a:off x="8796528" y="2185416"/>
            <a:ext cx="0" cy="219456"/>
          </a:xfrm>
          <a:prstGeom prst="line">
            <a:avLst/>
          </a:prstGeom>
          <a:noFill/>
          <a:ln w="15875">
            <a:solidFill>
              <a:srgbClr val="EA580C"/>
            </a:solidFill>
            <a:prstDash val="solid"/>
          </a:ln>
        </p:spPr>
      </p:sp>
      <p:sp>
        <p:nvSpPr>
          <p:cNvPr id="28" name="Shape 26"/>
          <p:cNvSpPr/>
          <p:nvPr/>
        </p:nvSpPr>
        <p:spPr>
          <a:xfrm>
            <a:off x="7927848" y="1271016"/>
            <a:ext cx="1737360" cy="914400"/>
          </a:xfrm>
          <a:prstGeom prst="roundRect">
            <a:avLst>
              <a:gd name="adj" fmla="val 6000"/>
            </a:avLst>
          </a:prstGeom>
          <a:solidFill>
            <a:srgbClr val="F3F4F6"/>
          </a:solidFill>
          <a:ln w="12700">
            <a:solidFill>
              <a:srgbClr val="EA580C"/>
            </a:solidFill>
            <a:prstDash val="solid"/>
          </a:ln>
        </p:spPr>
      </p:sp>
      <p:sp>
        <p:nvSpPr>
          <p:cNvPr id="29" name="Text 27"/>
          <p:cNvSpPr/>
          <p:nvPr/>
        </p:nvSpPr>
        <p:spPr>
          <a:xfrm>
            <a:off x="7973568" y="1362456"/>
            <a:ext cx="1645920" cy="320040"/>
          </a:xfrm>
          <a:prstGeom prst="rect">
            <a:avLst/>
          </a:prstGeom>
          <a:noFill/>
          <a:ln/>
        </p:spPr>
        <p:txBody>
          <a:bodyPr wrap="square" lIns="0" tIns="0" rIns="0" bIns="0" rtlCol="0" anchor="ctr"/>
          <a:lstStyle/>
          <a:p>
            <a:pPr algn="ctr" indent="0" marL="0">
              <a:buNone/>
            </a:pPr>
            <a:r>
              <a:rPr lang="en-US" sz="1150" b="1" dirty="0">
                <a:solidFill>
                  <a:srgbClr val="1E2761"/>
                </a:solidFill>
                <a:latin typeface="Courier New" pitchFamily="34" charset="0"/>
                <a:ea typeface="Courier New" pitchFamily="34" charset="-122"/>
                <a:cs typeface="Courier New" pitchFamily="34" charset="-120"/>
              </a:rPr>
              <a:t>v5.3.4.1.3</a:t>
            </a:r>
            <a:endParaRPr lang="en-US" sz="1150" dirty="0"/>
          </a:p>
        </p:txBody>
      </p:sp>
      <p:sp>
        <p:nvSpPr>
          <p:cNvPr id="30" name="Text 28"/>
          <p:cNvSpPr/>
          <p:nvPr/>
        </p:nvSpPr>
        <p:spPr>
          <a:xfrm>
            <a:off x="7973568" y="1728216"/>
            <a:ext cx="1645920" cy="365760"/>
          </a:xfrm>
          <a:prstGeom prst="rect">
            <a:avLst/>
          </a:prstGeom>
          <a:noFill/>
          <a:ln/>
        </p:spPr>
        <p:txBody>
          <a:bodyPr wrap="square" lIns="0" tIns="0" rIns="0" bIns="0" rtlCol="0" anchor="ctr"/>
          <a:lstStyle/>
          <a:p>
            <a:pPr algn="ctr" indent="0" marL="0">
              <a:buNone/>
            </a:pPr>
            <a:r>
              <a:rPr lang="en-US" sz="1050" b="1" dirty="0">
                <a:solidFill>
                  <a:srgbClr val="EA580C"/>
                </a:solidFill>
                <a:latin typeface="Calibri" pitchFamily="34" charset="0"/>
                <a:ea typeface="Calibri" pitchFamily="34" charset="-122"/>
                <a:cs typeface="Calibri" pitchFamily="34" charset="-120"/>
              </a:rPr>
              <a:t>QA Build 3</a:t>
            </a:r>
            <a:endParaRPr lang="en-US" sz="1050" dirty="0"/>
          </a:p>
        </p:txBody>
      </p:sp>
      <p:sp>
        <p:nvSpPr>
          <p:cNvPr id="31" name="Shape 29"/>
          <p:cNvSpPr/>
          <p:nvPr/>
        </p:nvSpPr>
        <p:spPr>
          <a:xfrm>
            <a:off x="10671048" y="2404872"/>
            <a:ext cx="201168" cy="201168"/>
          </a:xfrm>
          <a:prstGeom prst="ellipse">
            <a:avLst/>
          </a:prstGeom>
          <a:solidFill>
            <a:srgbClr val="16A34A"/>
          </a:solidFill>
          <a:ln w="25400">
            <a:solidFill>
              <a:srgbClr val="FFFFFF"/>
            </a:solidFill>
            <a:prstDash val="solid"/>
          </a:ln>
        </p:spPr>
      </p:sp>
      <p:sp>
        <p:nvSpPr>
          <p:cNvPr id="32" name="Shape 30"/>
          <p:cNvSpPr/>
          <p:nvPr/>
        </p:nvSpPr>
        <p:spPr>
          <a:xfrm>
            <a:off x="10771632" y="2606040"/>
            <a:ext cx="0" cy="219456"/>
          </a:xfrm>
          <a:prstGeom prst="line">
            <a:avLst/>
          </a:prstGeom>
          <a:noFill/>
          <a:ln w="15875">
            <a:solidFill>
              <a:srgbClr val="16A34A"/>
            </a:solidFill>
            <a:prstDash val="solid"/>
          </a:ln>
        </p:spPr>
      </p:sp>
      <p:sp>
        <p:nvSpPr>
          <p:cNvPr id="33" name="Shape 31"/>
          <p:cNvSpPr/>
          <p:nvPr/>
        </p:nvSpPr>
        <p:spPr>
          <a:xfrm>
            <a:off x="9902952" y="2825496"/>
            <a:ext cx="1737360" cy="914400"/>
          </a:xfrm>
          <a:prstGeom prst="roundRect">
            <a:avLst>
              <a:gd name="adj" fmla="val 6000"/>
            </a:avLst>
          </a:prstGeom>
          <a:solidFill>
            <a:srgbClr val="F3F4F6"/>
          </a:solidFill>
          <a:ln w="12700">
            <a:solidFill>
              <a:srgbClr val="16A34A"/>
            </a:solidFill>
            <a:prstDash val="solid"/>
          </a:ln>
        </p:spPr>
      </p:sp>
      <p:sp>
        <p:nvSpPr>
          <p:cNvPr id="34" name="Text 32"/>
          <p:cNvSpPr/>
          <p:nvPr/>
        </p:nvSpPr>
        <p:spPr>
          <a:xfrm>
            <a:off x="9948672" y="2916936"/>
            <a:ext cx="1645920" cy="320040"/>
          </a:xfrm>
          <a:prstGeom prst="rect">
            <a:avLst/>
          </a:prstGeom>
          <a:noFill/>
          <a:ln/>
        </p:spPr>
        <p:txBody>
          <a:bodyPr wrap="square" lIns="0" tIns="0" rIns="0" bIns="0" rtlCol="0" anchor="ctr"/>
          <a:lstStyle/>
          <a:p>
            <a:pPr algn="ctr" indent="0" marL="0">
              <a:buNone/>
            </a:pPr>
            <a:r>
              <a:rPr lang="en-US" sz="1150" b="1" dirty="0">
                <a:solidFill>
                  <a:srgbClr val="1E2761"/>
                </a:solidFill>
                <a:latin typeface="Courier New" pitchFamily="34" charset="0"/>
                <a:ea typeface="Courier New" pitchFamily="34" charset="-122"/>
                <a:cs typeface="Courier New" pitchFamily="34" charset="-120"/>
              </a:rPr>
              <a:t>v5.3.4.1.3</a:t>
            </a:r>
            <a:endParaRPr lang="en-US" sz="1150" dirty="0"/>
          </a:p>
        </p:txBody>
      </p:sp>
      <p:sp>
        <p:nvSpPr>
          <p:cNvPr id="35" name="Text 33"/>
          <p:cNvSpPr/>
          <p:nvPr/>
        </p:nvSpPr>
        <p:spPr>
          <a:xfrm>
            <a:off x="9948672" y="3282696"/>
            <a:ext cx="1645920" cy="365760"/>
          </a:xfrm>
          <a:prstGeom prst="rect">
            <a:avLst/>
          </a:prstGeom>
          <a:noFill/>
          <a:ln/>
        </p:spPr>
        <p:txBody>
          <a:bodyPr wrap="square" lIns="0" tIns="0" rIns="0" bIns="0" rtlCol="0" anchor="ctr"/>
          <a:lstStyle/>
          <a:p>
            <a:pPr algn="ctr" indent="0" marL="0">
              <a:buNone/>
            </a:pPr>
            <a:r>
              <a:rPr lang="en-US" sz="1050" b="1" dirty="0">
                <a:solidFill>
                  <a:srgbClr val="16A34A"/>
                </a:solidFill>
                <a:latin typeface="Calibri" pitchFamily="34" charset="0"/>
                <a:ea typeface="Calibri" pitchFamily="34" charset="-122"/>
                <a:cs typeface="Calibri" pitchFamily="34" charset="-120"/>
              </a:rPr>
              <a:t>PRODUCTION</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7C3AED"/>
                </a:solidFill>
                <a:latin typeface="Calibri" pitchFamily="34" charset="0"/>
                <a:ea typeface="Calibri" pitchFamily="34" charset="-122"/>
                <a:cs typeface="Calibri" pitchFamily="34" charset="-120"/>
              </a:rPr>
              <a:t>RELEASE MANIFEST</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Release Manifest — release.json</a:t>
            </a:r>
            <a:endParaRPr lang="en-US" sz="3000" dirty="0"/>
          </a:p>
        </p:txBody>
      </p:sp>
      <p:sp>
        <p:nvSpPr>
          <p:cNvPr id="4" name="Shape 2"/>
          <p:cNvSpPr/>
          <p:nvPr/>
        </p:nvSpPr>
        <p:spPr>
          <a:xfrm>
            <a:off x="457200" y="1225296"/>
            <a:ext cx="3246120" cy="1417320"/>
          </a:xfrm>
          <a:prstGeom prst="roundRect">
            <a:avLst>
              <a:gd name="adj" fmla="val 3871"/>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sp>
        <p:nvSpPr>
          <p:cNvPr id="5" name="Text 3"/>
          <p:cNvSpPr/>
          <p:nvPr/>
        </p:nvSpPr>
        <p:spPr>
          <a:xfrm>
            <a:off x="621792" y="1335024"/>
            <a:ext cx="2916936" cy="256032"/>
          </a:xfrm>
          <a:prstGeom prst="rect">
            <a:avLst/>
          </a:prstGeom>
          <a:noFill/>
          <a:ln/>
        </p:spPr>
        <p:txBody>
          <a:bodyPr wrap="square" lIns="0" tIns="0" rIns="0" bIns="0" rtlCol="0" anchor="ctr"/>
          <a:lstStyle/>
          <a:p>
            <a:pPr indent="0" marL="0">
              <a:buNone/>
            </a:pPr>
            <a:r>
              <a:rPr lang="en-US" sz="1100" b="1" spc="100" kern="0" dirty="0">
                <a:solidFill>
                  <a:srgbClr val="7C3AED"/>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621792" y="1645920"/>
            <a:ext cx="2916936" cy="8869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See the shape of the manifest that drives every release decision</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Understand included vs. pending vs. deferred</a:t>
            </a:r>
            <a:endParaRPr lang="en-US" sz="1200" dirty="0"/>
          </a:p>
        </p:txBody>
      </p:sp>
      <p:sp>
        <p:nvSpPr>
          <p:cNvPr id="7" name="Shape 5"/>
          <p:cNvSpPr/>
          <p:nvPr/>
        </p:nvSpPr>
        <p:spPr>
          <a:xfrm>
            <a:off x="457200" y="2788920"/>
            <a:ext cx="3246120" cy="2203704"/>
          </a:xfrm>
          <a:prstGeom prst="roundRect">
            <a:avLst>
              <a:gd name="adj" fmla="val 2490"/>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sp>
        <p:nvSpPr>
          <p:cNvPr id="8" name="Text 6"/>
          <p:cNvSpPr/>
          <p:nvPr/>
        </p:nvSpPr>
        <p:spPr>
          <a:xfrm>
            <a:off x="621792" y="2898648"/>
            <a:ext cx="2916936" cy="256032"/>
          </a:xfrm>
          <a:prstGeom prst="rect">
            <a:avLst/>
          </a:prstGeom>
          <a:noFill/>
          <a:ln/>
        </p:spPr>
        <p:txBody>
          <a:bodyPr wrap="square" lIns="0" tIns="0" rIns="0" bIns="0" rtlCol="0" anchor="ctr"/>
          <a:lstStyle/>
          <a:p>
            <a:pPr indent="0" marL="0">
              <a:buNone/>
            </a:pPr>
            <a:r>
              <a:rPr lang="en-US" sz="1100" b="1" spc="100" kern="0" dirty="0">
                <a:solidFill>
                  <a:srgbClr val="7C3AED"/>
                </a:solidFill>
                <a:latin typeface="Calibri" pitchFamily="34" charset="0"/>
                <a:ea typeface="Calibri" pitchFamily="34" charset="-122"/>
                <a:cs typeface="Calibri" pitchFamily="34" charset="-120"/>
              </a:rPr>
              <a:t>KEY NOTES</a:t>
            </a:r>
            <a:endParaRPr lang="en-US" sz="1100" dirty="0"/>
          </a:p>
        </p:txBody>
      </p:sp>
      <p:sp>
        <p:nvSpPr>
          <p:cNvPr id="9" name="Text 7"/>
          <p:cNvSpPr/>
          <p:nvPr/>
        </p:nvSpPr>
        <p:spPr>
          <a:xfrm>
            <a:off x="621792" y="3209544"/>
            <a:ext cx="2916936" cy="167335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Nested per-category structure: features / releaseFixes / devops, each split by state</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featureHistory is an append-only audit log — every add action, including resyncs</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manifest is archived (not deleted) by release finish, so past releases stay queryable</a:t>
            </a:r>
            <a:endParaRPr lang="en-US" sz="1150" dirty="0"/>
          </a:p>
        </p:txBody>
      </p:sp>
      <p:sp>
        <p:nvSpPr>
          <p:cNvPr id="10" name="Shape 8"/>
          <p:cNvSpPr/>
          <p:nvPr/>
        </p:nvSpPr>
        <p:spPr>
          <a:xfrm>
            <a:off x="457200" y="5120640"/>
            <a:ext cx="11274552" cy="1188720"/>
          </a:xfrm>
          <a:prstGeom prst="roundRect">
            <a:avLst>
              <a:gd name="adj" fmla="val 4615"/>
            </a:avLst>
          </a:prstGeom>
          <a:solidFill>
            <a:srgbClr val="0F172A"/>
          </a:solidFill>
          <a:ln w="12700">
            <a:solidFill>
              <a:srgbClr val="0F172A"/>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685800" y="5212080"/>
            <a:ext cx="10817352" cy="237744"/>
          </a:xfrm>
          <a:prstGeom prst="rect">
            <a:avLst/>
          </a:prstGeom>
          <a:noFill/>
          <a:ln/>
        </p:spPr>
        <p:txBody>
          <a:bodyPr wrap="square" lIns="0" tIns="0" rIns="0" bIns="0" rtlCol="0" anchor="ctr"/>
          <a:lstStyle/>
          <a:p>
            <a:pPr indent="0" marL="0">
              <a:buNone/>
            </a:pPr>
            <a:r>
              <a:rPr lang="en-US" sz="1000" b="1" spc="100" kern="0" dirty="0">
                <a:solidFill>
                  <a:srgbClr val="93C5FD"/>
                </a:solidFill>
                <a:latin typeface="Calibri" pitchFamily="34" charset="0"/>
                <a:ea typeface="Calibri" pitchFamily="34" charset="-122"/>
                <a:cs typeface="Calibri" pitchFamily="34" charset="-120"/>
              </a:rPr>
              <a:t>MANIFEST COMMANDS</a:t>
            </a:r>
            <a:endParaRPr lang="en-US" sz="1000" dirty="0"/>
          </a:p>
        </p:txBody>
      </p:sp>
      <p:sp>
        <p:nvSpPr>
          <p:cNvPr id="12" name="Text 10"/>
          <p:cNvSpPr/>
          <p:nvPr/>
        </p:nvSpPr>
        <p:spPr>
          <a:xfrm>
            <a:off x="685800" y="5504688"/>
            <a:ext cx="10817352" cy="694944"/>
          </a:xfrm>
          <a:prstGeom prst="rect">
            <a:avLst/>
          </a:prstGeom>
          <a:noFill/>
          <a:ln/>
        </p:spPr>
        <p:txBody>
          <a:bodyPr wrap="square" lIns="0" tIns="0" rIns="0" bIns="0" rtlCol="0" anchor="t"/>
          <a:lstStyle/>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manifest</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feature status</a:t>
            </a:r>
            <a:endParaRPr lang="en-US" sz="1250" dirty="0"/>
          </a:p>
        </p:txBody>
      </p:sp>
      <p:sp>
        <p:nvSpPr>
          <p:cNvPr id="13" name="Text 11"/>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14" name="Text 12"/>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
        <p:nvSpPr>
          <p:cNvPr id="15" name="Shape 13"/>
          <p:cNvSpPr/>
          <p:nvPr/>
        </p:nvSpPr>
        <p:spPr>
          <a:xfrm>
            <a:off x="3886200" y="1225296"/>
            <a:ext cx="7845552" cy="3749040"/>
          </a:xfrm>
          <a:prstGeom prst="roundRect">
            <a:avLst>
              <a:gd name="adj" fmla="val 1463"/>
            </a:avLst>
          </a:prstGeom>
          <a:solidFill>
            <a:srgbClr val="0F172A"/>
          </a:solidFill>
          <a:ln w="12700">
            <a:solidFill>
              <a:srgbClr val="0F172A"/>
            </a:solidFill>
            <a:prstDash val="solid"/>
          </a:ln>
          <a:effectLst>
            <a:outerShdw sx="100000" sy="100000" kx="0" ky="0" algn="bl" rotWithShape="0" blurRad="Infinity" dist="Infinity" dir="Infinity">
              <a:srgbClr val="000000">
                <a:alpha val="Infinity"/>
              </a:srgbClr>
            </a:outerShdw>
          </a:effectLst>
        </p:spPr>
      </p:sp>
      <p:sp>
        <p:nvSpPr>
          <p:cNvPr id="16" name="Text 14"/>
          <p:cNvSpPr/>
          <p:nvPr/>
        </p:nvSpPr>
        <p:spPr>
          <a:xfrm>
            <a:off x="4114800" y="1316736"/>
            <a:ext cx="7388352" cy="237744"/>
          </a:xfrm>
          <a:prstGeom prst="rect">
            <a:avLst/>
          </a:prstGeom>
          <a:noFill/>
          <a:ln/>
        </p:spPr>
        <p:txBody>
          <a:bodyPr wrap="square" lIns="0" tIns="0" rIns="0" bIns="0" rtlCol="0" anchor="ctr"/>
          <a:lstStyle/>
          <a:p>
            <a:pPr indent="0" marL="0">
              <a:buNone/>
            </a:pPr>
            <a:r>
              <a:rPr lang="en-US" sz="1000" b="1" spc="100" kern="0" dirty="0">
                <a:solidFill>
                  <a:srgbClr val="93C5FD"/>
                </a:solidFill>
                <a:latin typeface="Calibri" pitchFamily="34" charset="0"/>
                <a:ea typeface="Calibri" pitchFamily="34" charset="-122"/>
                <a:cs typeface="Calibri" pitchFamily="34" charset="-120"/>
              </a:rPr>
              <a:t>RELEASE.JSON (ABRIDGED)</a:t>
            </a:r>
            <a:endParaRPr lang="en-US" sz="1000" dirty="0"/>
          </a:p>
        </p:txBody>
      </p:sp>
      <p:sp>
        <p:nvSpPr>
          <p:cNvPr id="17" name="Text 15"/>
          <p:cNvSpPr/>
          <p:nvPr/>
        </p:nvSpPr>
        <p:spPr>
          <a:xfrm>
            <a:off x="4114800" y="1609344"/>
            <a:ext cx="7388352" cy="3255264"/>
          </a:xfrm>
          <a:prstGeom prst="rect">
            <a:avLst/>
          </a:prstGeom>
          <a:noFill/>
          <a:ln/>
        </p:spPr>
        <p:txBody>
          <a:bodyPr wrap="square" lIns="0" tIns="0" rIns="0" bIns="0" rtlCol="0" anchor="t"/>
          <a:lstStyle/>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"release": "5.3",</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"version": "5.3.4.1.2",</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"features": {</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"included": ["LOGIN", "CHECKOUT-REDESIGN"],</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"pending":  ["DARK-MODE"],</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"deferred": ["EXPORT-CSV"]</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"releaseFixes": { "included": ["BUG-101"] },</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"devops":       { "included": ["CI-PIPELINE-UPDATE"] },</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"featureHistory": [</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 "feature": "LOGIN", "action": "add", "resync": false, "by": "jsmith" },</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 "feature": "LOGIN", "action": "add", "resync": true,  "by": "jsmith" }</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a:t>
            </a:r>
            <a:endParaRPr lang="en-US" sz="1300" dirty="0"/>
          </a:p>
          <a:p>
            <a:pPr indent="0" marL="0">
              <a:spcAft>
                <a:spcPts val="500"/>
              </a:spcAft>
              <a:buNone/>
            </a:pPr>
            <a:r>
              <a:rPr lang="en-US" sz="1300" dirty="0">
                <a:solidFill>
                  <a:srgbClr val="86EFAC"/>
                </a:solidFill>
                <a:latin typeface="Courier New" pitchFamily="34" charset="0"/>
                <a:ea typeface="Courier New" pitchFamily="34" charset="-122"/>
                <a:cs typeface="Courier New" pitchFamily="34" charset="-120"/>
              </a:rPr>
              <a:t>$ }</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EA580C"/>
                </a:solidFill>
                <a:latin typeface="Calibri" pitchFamily="34" charset="0"/>
                <a:ea typeface="Calibri" pitchFamily="34" charset="-122"/>
                <a:cs typeface="Calibri" pitchFamily="34" charset="-120"/>
              </a:rPr>
              <a:t>QA ITERATION LIFECYCLE</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The QA Iteration Loop — Build, Test, Resync, Repeat</a:t>
            </a:r>
            <a:endParaRPr lang="en-US" sz="3000" dirty="0"/>
          </a:p>
        </p:txBody>
      </p:sp>
      <p:sp>
        <p:nvSpPr>
          <p:cNvPr id="4" name="Shape 2"/>
          <p:cNvSpPr/>
          <p:nvPr/>
        </p:nvSpPr>
        <p:spPr>
          <a:xfrm>
            <a:off x="457200" y="1225296"/>
            <a:ext cx="3246120" cy="1417320"/>
          </a:xfrm>
          <a:prstGeom prst="roundRect">
            <a:avLst>
              <a:gd name="adj" fmla="val 3871"/>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sp>
        <p:nvSpPr>
          <p:cNvPr id="5" name="Text 3"/>
          <p:cNvSpPr/>
          <p:nvPr/>
        </p:nvSpPr>
        <p:spPr>
          <a:xfrm>
            <a:off x="621792" y="1335024"/>
            <a:ext cx="2916936" cy="256032"/>
          </a:xfrm>
          <a:prstGeom prst="rect">
            <a:avLst/>
          </a:prstGeom>
          <a:noFill/>
          <a:ln/>
        </p:spPr>
        <p:txBody>
          <a:bodyPr wrap="square" lIns="0" tIns="0" rIns="0" bIns="0" rtlCol="0" anchor="ctr"/>
          <a:lstStyle/>
          <a:p>
            <a:pPr indent="0" marL="0">
              <a:buNone/>
            </a:pPr>
            <a:r>
              <a:rPr lang="en-US" sz="1100" b="1" spc="100" kern="0" dirty="0">
                <a:solidFill>
                  <a:srgbClr val="EA580C"/>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621792" y="1645920"/>
            <a:ext cx="2916936" cy="8869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See the full cycle a release goes through before sign-off</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Understand why the feature branch staying alive matters here</a:t>
            </a:r>
            <a:endParaRPr lang="en-US" sz="1200" dirty="0"/>
          </a:p>
        </p:txBody>
      </p:sp>
      <p:sp>
        <p:nvSpPr>
          <p:cNvPr id="7" name="Shape 5"/>
          <p:cNvSpPr/>
          <p:nvPr/>
        </p:nvSpPr>
        <p:spPr>
          <a:xfrm>
            <a:off x="457200" y="2788920"/>
            <a:ext cx="3246120" cy="2203704"/>
          </a:xfrm>
          <a:prstGeom prst="roundRect">
            <a:avLst>
              <a:gd name="adj" fmla="val 2490"/>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sp>
        <p:nvSpPr>
          <p:cNvPr id="8" name="Text 6"/>
          <p:cNvSpPr/>
          <p:nvPr/>
        </p:nvSpPr>
        <p:spPr>
          <a:xfrm>
            <a:off x="621792" y="2898648"/>
            <a:ext cx="2916936" cy="256032"/>
          </a:xfrm>
          <a:prstGeom prst="rect">
            <a:avLst/>
          </a:prstGeom>
          <a:noFill/>
          <a:ln/>
        </p:spPr>
        <p:txBody>
          <a:bodyPr wrap="square" lIns="0" tIns="0" rIns="0" bIns="0" rtlCol="0" anchor="ctr"/>
          <a:lstStyle/>
          <a:p>
            <a:pPr indent="0" marL="0">
              <a:buNone/>
            </a:pPr>
            <a:r>
              <a:rPr lang="en-US" sz="1100" b="1" spc="100" kern="0" dirty="0">
                <a:solidFill>
                  <a:srgbClr val="EA580C"/>
                </a:solidFill>
                <a:latin typeface="Calibri" pitchFamily="34" charset="0"/>
                <a:ea typeface="Calibri" pitchFamily="34" charset="-122"/>
                <a:cs typeface="Calibri" pitchFamily="34" charset="-120"/>
              </a:rPr>
              <a:t>KEY NOTES</a:t>
            </a:r>
            <a:endParaRPr lang="en-US" sz="1100" dirty="0"/>
          </a:p>
        </p:txBody>
      </p:sp>
      <p:sp>
        <p:nvSpPr>
          <p:cNvPr id="9" name="Text 7"/>
          <p:cNvSpPr/>
          <p:nvPr/>
        </p:nvSpPr>
        <p:spPr>
          <a:xfrm>
            <a:off x="621792" y="3209544"/>
            <a:ext cx="2916936" cy="167335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This loop can run any number of times — each pass cuts a new QA tag</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A resync never re-increments the Feature counter, only the QA counter moves each loop</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Only when QA signs off does the release proceed to release finish</a:t>
            </a:r>
            <a:endParaRPr lang="en-US" sz="1150" dirty="0"/>
          </a:p>
        </p:txBody>
      </p:sp>
      <p:sp>
        <p:nvSpPr>
          <p:cNvPr id="10" name="Shape 8"/>
          <p:cNvSpPr/>
          <p:nvPr/>
        </p:nvSpPr>
        <p:spPr>
          <a:xfrm>
            <a:off x="457200" y="5120640"/>
            <a:ext cx="11274552" cy="1188720"/>
          </a:xfrm>
          <a:prstGeom prst="roundRect">
            <a:avLst>
              <a:gd name="adj" fmla="val 4615"/>
            </a:avLst>
          </a:prstGeom>
          <a:solidFill>
            <a:srgbClr val="0F172A"/>
          </a:solidFill>
          <a:ln w="12700">
            <a:solidFill>
              <a:srgbClr val="0F172A"/>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685800" y="5212080"/>
            <a:ext cx="10817352" cy="237744"/>
          </a:xfrm>
          <a:prstGeom prst="rect">
            <a:avLst/>
          </a:prstGeom>
          <a:noFill/>
          <a:ln/>
        </p:spPr>
        <p:txBody>
          <a:bodyPr wrap="square" lIns="0" tIns="0" rIns="0" bIns="0" rtlCol="0" anchor="ctr"/>
          <a:lstStyle/>
          <a:p>
            <a:pPr indent="0" marL="0">
              <a:buNone/>
            </a:pPr>
            <a:r>
              <a:rPr lang="en-US" sz="1000" b="1" spc="100" kern="0" dirty="0">
                <a:solidFill>
                  <a:srgbClr val="93C5FD"/>
                </a:solidFill>
                <a:latin typeface="Calibri" pitchFamily="34" charset="0"/>
                <a:ea typeface="Calibri" pitchFamily="34" charset="-122"/>
                <a:cs typeface="Calibri" pitchFamily="34" charset="-120"/>
              </a:rPr>
              <a:t>ONE ITERATION OF THE LOOP</a:t>
            </a:r>
            <a:endParaRPr lang="en-US" sz="1000" dirty="0"/>
          </a:p>
        </p:txBody>
      </p:sp>
      <p:sp>
        <p:nvSpPr>
          <p:cNvPr id="12" name="Text 10"/>
          <p:cNvSpPr/>
          <p:nvPr/>
        </p:nvSpPr>
        <p:spPr>
          <a:xfrm>
            <a:off x="685800" y="5504688"/>
            <a:ext cx="10817352" cy="694944"/>
          </a:xfrm>
          <a:prstGeom prst="rect">
            <a:avLst/>
          </a:prstGeom>
          <a:noFill/>
          <a:ln/>
        </p:spPr>
        <p:txBody>
          <a:bodyPr wrap="square" lIns="0" tIns="0" rIns="0" bIns="0" rtlCol="0" anchor="t"/>
          <a:lstStyle/>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build              # cut QA tag N</a:t>
            </a:r>
            <a:endParaRPr lang="en-US" sz="1250" dirty="0"/>
          </a:p>
          <a:p>
            <a:pPr indent="0" marL="0">
              <a:spcAft>
                <a:spcPts val="300"/>
              </a:spcAft>
              <a:buNone/>
            </a:pPr>
            <a:r>
              <a:rPr lang="en-US" sz="1250" dirty="0">
                <a:solidFill>
                  <a:srgbClr val="64748B"/>
                </a:solidFill>
                <a:latin typeface="Courier New" pitchFamily="34" charset="0"/>
                <a:ea typeface="Courier New" pitchFamily="34" charset="-122"/>
                <a:cs typeface="Courier New" pitchFamily="34" charset="-120"/>
              </a:rPr>
              <a:t># QA tests, files defect ...</a:t>
            </a:r>
            <a:endParaRPr lang="en-US" sz="1250" dirty="0"/>
          </a:p>
          <a:p>
            <a:pPr indent="0" marL="0">
              <a:spcAft>
                <a:spcPts val="300"/>
              </a:spcAft>
              <a:buNone/>
            </a:pPr>
            <a:r>
              <a:rPr lang="en-US" sz="1250" dirty="0">
                <a:solidFill>
                  <a:srgbClr val="64748B"/>
                </a:solidFill>
                <a:latin typeface="Courier New" pitchFamily="34" charset="0"/>
                <a:ea typeface="Courier New" pitchFamily="34" charset="-122"/>
                <a:cs typeface="Courier New" pitchFamily="34" charset="-120"/>
              </a:rPr>
              <a:t># developer commits fix to same feature/release-fix branch</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feature add LOGIN  # resync (safe re-run)</a:t>
            </a:r>
            <a:endParaRPr lang="en-US" sz="1250" dirty="0"/>
          </a:p>
        </p:txBody>
      </p:sp>
      <p:sp>
        <p:nvSpPr>
          <p:cNvPr id="13" name="Text 11"/>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14" name="Text 12"/>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
        <p:nvSpPr>
          <p:cNvPr id="15" name="Shape 13"/>
          <p:cNvSpPr/>
          <p:nvPr/>
        </p:nvSpPr>
        <p:spPr>
          <a:xfrm>
            <a:off x="3886200" y="1499616"/>
            <a:ext cx="1378915" cy="1371600"/>
          </a:xfrm>
          <a:prstGeom prst="roundRect">
            <a:avLst>
              <a:gd name="adj" fmla="val 5333"/>
            </a:avLst>
          </a:prstGeom>
          <a:solidFill>
            <a:srgbClr val="EA580C"/>
          </a:solidFill>
          <a:ln w="12700">
            <a:solidFill>
              <a:srgbClr val="FFFFFF"/>
            </a:solidFill>
            <a:prstDash val="solid"/>
          </a:ln>
          <a:effectLst>
            <a:outerShdw sx="100000" sy="100000" kx="0" ky="0" algn="bl" rotWithShape="0" blurRad="Infinity" dist="Infinity" dir="Infinity">
              <a:srgbClr val="000000">
                <a:alpha val="Infinity"/>
              </a:srgbClr>
            </a:outerShdw>
          </a:effectLst>
        </p:spPr>
      </p:sp>
      <p:pic>
        <p:nvPicPr>
          <p:cNvPr id="16" name="Image 0" descr="C:\Users\Tabish.DESKTOP-AMHU6DL\AppData\Local\Temp\claude\C--Data-Apps-GitFlowPlus\670cb83e-903e-4a7a-8a42-3e26eddb1211\scratchpad\gfp-deck\icons\checklist.png">    </p:cNvPr>
          <p:cNvPicPr>
            <a:picLocks noChangeAspect="1"/>
          </p:cNvPicPr>
          <p:nvPr/>
        </p:nvPicPr>
        <p:blipFill>
          <a:blip r:embed="rId1"/>
          <a:stretch>
            <a:fillRect/>
          </a:stretch>
        </p:blipFill>
        <p:spPr>
          <a:xfrm>
            <a:off x="4301338" y="1627632"/>
            <a:ext cx="548640" cy="548640"/>
          </a:xfrm>
          <a:prstGeom prst="rect">
            <a:avLst/>
          </a:prstGeom>
        </p:spPr>
      </p:pic>
      <p:sp>
        <p:nvSpPr>
          <p:cNvPr id="17" name="Text 14"/>
          <p:cNvSpPr/>
          <p:nvPr/>
        </p:nvSpPr>
        <p:spPr>
          <a:xfrm>
            <a:off x="3959352" y="2249424"/>
            <a:ext cx="1232611" cy="29260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Build</a:t>
            </a:r>
            <a:endParaRPr lang="en-US" sz="1250" dirty="0"/>
          </a:p>
        </p:txBody>
      </p:sp>
      <p:sp>
        <p:nvSpPr>
          <p:cNvPr id="18" name="Text 15"/>
          <p:cNvSpPr/>
          <p:nvPr/>
        </p:nvSpPr>
        <p:spPr>
          <a:xfrm>
            <a:off x="3959352" y="256032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release build</a:t>
            </a:r>
            <a:endParaRPr lang="en-US" sz="950" dirty="0"/>
          </a:p>
        </p:txBody>
      </p:sp>
      <p:sp>
        <p:nvSpPr>
          <p:cNvPr id="19" name="Shape 16"/>
          <p:cNvSpPr/>
          <p:nvPr/>
        </p:nvSpPr>
        <p:spPr>
          <a:xfrm>
            <a:off x="5288890" y="2093976"/>
            <a:ext cx="190195" cy="182880"/>
          </a:xfrm>
          <a:prstGeom prst="rightArrow">
            <a:avLst/>
          </a:prstGeom>
          <a:solidFill>
            <a:srgbClr val="6B7280"/>
          </a:solidFill>
          <a:ln w="12700">
            <a:solidFill>
              <a:srgbClr val="6B7280"/>
            </a:solidFill>
            <a:prstDash val="solid"/>
          </a:ln>
        </p:spPr>
      </p:sp>
      <p:sp>
        <p:nvSpPr>
          <p:cNvPr id="20" name="Shape 17"/>
          <p:cNvSpPr/>
          <p:nvPr/>
        </p:nvSpPr>
        <p:spPr>
          <a:xfrm>
            <a:off x="5502859" y="1499616"/>
            <a:ext cx="1378915" cy="1371600"/>
          </a:xfrm>
          <a:prstGeom prst="roundRect">
            <a:avLst>
              <a:gd name="adj" fmla="val 5333"/>
            </a:avLst>
          </a:prstGeom>
          <a:solidFill>
            <a:srgbClr val="EA580C"/>
          </a:solidFill>
          <a:ln w="12700">
            <a:solidFill>
              <a:srgbClr val="FFFFFF"/>
            </a:solidFill>
            <a:prstDash val="solid"/>
          </a:ln>
          <a:effectLst>
            <a:outerShdw sx="100000" sy="100000" kx="0" ky="0" algn="bl" rotWithShape="0" blurRad="Infinity" dist="Infinity" dir="Infinity">
              <a:srgbClr val="000000">
                <a:alpha val="Infinity"/>
              </a:srgbClr>
            </a:outerShdw>
          </a:effectLst>
        </p:spPr>
      </p:sp>
      <p:pic>
        <p:nvPicPr>
          <p:cNvPr id="21" name="Image 1" descr="C:\Users\Tabish.DESKTOP-AMHU6DL\AppData\Local\Temp\claude\C--Data-Apps-GitFlowPlus\670cb83e-903e-4a7a-8a42-3e26eddb1211\scratchpad\gfp-deck\icons\qa-engineer.png">    </p:cNvPr>
          <p:cNvPicPr>
            <a:picLocks noChangeAspect="1"/>
          </p:cNvPicPr>
          <p:nvPr/>
        </p:nvPicPr>
        <p:blipFill>
          <a:blip r:embed="rId2"/>
          <a:stretch>
            <a:fillRect/>
          </a:stretch>
        </p:blipFill>
        <p:spPr>
          <a:xfrm>
            <a:off x="5917997" y="1627632"/>
            <a:ext cx="548640" cy="548640"/>
          </a:xfrm>
          <a:prstGeom prst="rect">
            <a:avLst/>
          </a:prstGeom>
        </p:spPr>
      </p:pic>
      <p:sp>
        <p:nvSpPr>
          <p:cNvPr id="22" name="Text 18"/>
          <p:cNvSpPr/>
          <p:nvPr/>
        </p:nvSpPr>
        <p:spPr>
          <a:xfrm>
            <a:off x="5576011" y="2249424"/>
            <a:ext cx="1232611" cy="29260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Test</a:t>
            </a:r>
            <a:endParaRPr lang="en-US" sz="1250" dirty="0"/>
          </a:p>
        </p:txBody>
      </p:sp>
      <p:sp>
        <p:nvSpPr>
          <p:cNvPr id="23" name="Text 19"/>
          <p:cNvSpPr/>
          <p:nvPr/>
        </p:nvSpPr>
        <p:spPr>
          <a:xfrm>
            <a:off x="5576011" y="256032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QA executes</a:t>
            </a:r>
            <a:endParaRPr lang="en-US" sz="950" dirty="0"/>
          </a:p>
        </p:txBody>
      </p:sp>
      <p:sp>
        <p:nvSpPr>
          <p:cNvPr id="24" name="Shape 20"/>
          <p:cNvSpPr/>
          <p:nvPr/>
        </p:nvSpPr>
        <p:spPr>
          <a:xfrm>
            <a:off x="6905549" y="2093976"/>
            <a:ext cx="190195" cy="182880"/>
          </a:xfrm>
          <a:prstGeom prst="rightArrow">
            <a:avLst/>
          </a:prstGeom>
          <a:solidFill>
            <a:srgbClr val="6B7280"/>
          </a:solidFill>
          <a:ln w="12700">
            <a:solidFill>
              <a:srgbClr val="6B7280"/>
            </a:solidFill>
            <a:prstDash val="solid"/>
          </a:ln>
        </p:spPr>
      </p:sp>
      <p:sp>
        <p:nvSpPr>
          <p:cNvPr id="25" name="Shape 21"/>
          <p:cNvSpPr/>
          <p:nvPr/>
        </p:nvSpPr>
        <p:spPr>
          <a:xfrm>
            <a:off x="7119518" y="1499616"/>
            <a:ext cx="1378915" cy="1371600"/>
          </a:xfrm>
          <a:prstGeom prst="roundRect">
            <a:avLst>
              <a:gd name="adj" fmla="val 5333"/>
            </a:avLst>
          </a:prstGeom>
          <a:solidFill>
            <a:srgbClr val="1E2761"/>
          </a:solidFill>
          <a:ln w="12700">
            <a:solidFill>
              <a:srgbClr val="FFFFFF"/>
            </a:solidFill>
            <a:prstDash val="solid"/>
          </a:ln>
          <a:effectLst>
            <a:outerShdw sx="100000" sy="100000" kx="0" ky="0" algn="bl" rotWithShape="0" blurRad="Infinity" dist="Infinity" dir="Infinity">
              <a:srgbClr val="000000">
                <a:alpha val="Infinity"/>
              </a:srgbClr>
            </a:outerShdw>
          </a:effectLst>
        </p:spPr>
      </p:sp>
      <p:pic>
        <p:nvPicPr>
          <p:cNvPr id="26" name="Image 2" descr="C:\Users\Tabish.DESKTOP-AMHU6DL\AppData\Local\Temp\claude\C--Data-Apps-GitFlowPlus\670cb83e-903e-4a7a-8a42-3e26eddb1211\scratchpad\gfp-deck\icons\question.png">    </p:cNvPr>
          <p:cNvPicPr>
            <a:picLocks noChangeAspect="1"/>
          </p:cNvPicPr>
          <p:nvPr/>
        </p:nvPicPr>
        <p:blipFill>
          <a:blip r:embed="rId3"/>
          <a:stretch>
            <a:fillRect/>
          </a:stretch>
        </p:blipFill>
        <p:spPr>
          <a:xfrm>
            <a:off x="7534656" y="1627632"/>
            <a:ext cx="548640" cy="548640"/>
          </a:xfrm>
          <a:prstGeom prst="rect">
            <a:avLst/>
          </a:prstGeom>
        </p:spPr>
      </p:pic>
      <p:sp>
        <p:nvSpPr>
          <p:cNvPr id="27" name="Text 22"/>
          <p:cNvSpPr/>
          <p:nvPr/>
        </p:nvSpPr>
        <p:spPr>
          <a:xfrm>
            <a:off x="7192670" y="2249424"/>
            <a:ext cx="1232611" cy="29260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Defect?</a:t>
            </a:r>
            <a:endParaRPr lang="en-US" sz="1250" dirty="0"/>
          </a:p>
        </p:txBody>
      </p:sp>
      <p:sp>
        <p:nvSpPr>
          <p:cNvPr id="28" name="Text 23"/>
          <p:cNvSpPr/>
          <p:nvPr/>
        </p:nvSpPr>
        <p:spPr>
          <a:xfrm>
            <a:off x="7192670" y="256032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decision</a:t>
            </a:r>
            <a:endParaRPr lang="en-US" sz="950" dirty="0"/>
          </a:p>
        </p:txBody>
      </p:sp>
      <p:sp>
        <p:nvSpPr>
          <p:cNvPr id="29" name="Shape 24"/>
          <p:cNvSpPr/>
          <p:nvPr/>
        </p:nvSpPr>
        <p:spPr>
          <a:xfrm>
            <a:off x="8522208" y="2093976"/>
            <a:ext cx="190195" cy="182880"/>
          </a:xfrm>
          <a:prstGeom prst="rightArrow">
            <a:avLst/>
          </a:prstGeom>
          <a:solidFill>
            <a:srgbClr val="6B7280"/>
          </a:solidFill>
          <a:ln w="12700">
            <a:solidFill>
              <a:srgbClr val="6B7280"/>
            </a:solidFill>
            <a:prstDash val="solid"/>
          </a:ln>
        </p:spPr>
      </p:sp>
      <p:sp>
        <p:nvSpPr>
          <p:cNvPr id="30" name="Shape 25"/>
          <p:cNvSpPr/>
          <p:nvPr/>
        </p:nvSpPr>
        <p:spPr>
          <a:xfrm>
            <a:off x="8736178" y="1499616"/>
            <a:ext cx="1378915" cy="1371600"/>
          </a:xfrm>
          <a:prstGeom prst="roundRect">
            <a:avLst>
              <a:gd name="adj" fmla="val 5333"/>
            </a:avLst>
          </a:prstGeom>
          <a:solidFill>
            <a:srgbClr val="2563EB"/>
          </a:solidFill>
          <a:ln w="12700">
            <a:solidFill>
              <a:srgbClr val="FFFFFF"/>
            </a:solidFill>
            <a:prstDash val="solid"/>
          </a:ln>
          <a:effectLst>
            <a:outerShdw sx="100000" sy="100000" kx="0" ky="0" algn="bl" rotWithShape="0" blurRad="Infinity" dist="Infinity" dir="Infinity">
              <a:srgbClr val="000000">
                <a:alpha val="Infinity"/>
              </a:srgbClr>
            </a:outerShdw>
          </a:effectLst>
        </p:spPr>
      </p:sp>
      <p:pic>
        <p:nvPicPr>
          <p:cNvPr id="31" name="Image 3" descr="C:\Users\Tabish.DESKTOP-AMHU6DL\AppData\Local\Temp\claude\C--Data-Apps-GitFlowPlus\670cb83e-903e-4a7a-8a42-3e26eddb1211\scratchpad\gfp-deck\icons\developer.png">    </p:cNvPr>
          <p:cNvPicPr>
            <a:picLocks noChangeAspect="1"/>
          </p:cNvPicPr>
          <p:nvPr/>
        </p:nvPicPr>
        <p:blipFill>
          <a:blip r:embed="rId4"/>
          <a:stretch>
            <a:fillRect/>
          </a:stretch>
        </p:blipFill>
        <p:spPr>
          <a:xfrm>
            <a:off x="9151315" y="1627632"/>
            <a:ext cx="548640" cy="548640"/>
          </a:xfrm>
          <a:prstGeom prst="rect">
            <a:avLst/>
          </a:prstGeom>
        </p:spPr>
      </p:pic>
      <p:sp>
        <p:nvSpPr>
          <p:cNvPr id="32" name="Text 26"/>
          <p:cNvSpPr/>
          <p:nvPr/>
        </p:nvSpPr>
        <p:spPr>
          <a:xfrm>
            <a:off x="8809330" y="2249424"/>
            <a:ext cx="1232611" cy="29260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Fix</a:t>
            </a:r>
            <a:endParaRPr lang="en-US" sz="1250" dirty="0"/>
          </a:p>
        </p:txBody>
      </p:sp>
      <p:sp>
        <p:nvSpPr>
          <p:cNvPr id="33" name="Text 27"/>
          <p:cNvSpPr/>
          <p:nvPr/>
        </p:nvSpPr>
        <p:spPr>
          <a:xfrm>
            <a:off x="8809330" y="256032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commit to same branch</a:t>
            </a:r>
            <a:endParaRPr lang="en-US" sz="950" dirty="0"/>
          </a:p>
        </p:txBody>
      </p:sp>
      <p:sp>
        <p:nvSpPr>
          <p:cNvPr id="34" name="Shape 28"/>
          <p:cNvSpPr/>
          <p:nvPr/>
        </p:nvSpPr>
        <p:spPr>
          <a:xfrm>
            <a:off x="10138867" y="2093976"/>
            <a:ext cx="190195" cy="182880"/>
          </a:xfrm>
          <a:prstGeom prst="rightArrow">
            <a:avLst/>
          </a:prstGeom>
          <a:solidFill>
            <a:srgbClr val="6B7280"/>
          </a:solidFill>
          <a:ln w="12700">
            <a:solidFill>
              <a:srgbClr val="6B7280"/>
            </a:solidFill>
            <a:prstDash val="solid"/>
          </a:ln>
        </p:spPr>
      </p:sp>
      <p:sp>
        <p:nvSpPr>
          <p:cNvPr id="35" name="Shape 29"/>
          <p:cNvSpPr/>
          <p:nvPr/>
        </p:nvSpPr>
        <p:spPr>
          <a:xfrm>
            <a:off x="10352837" y="1499616"/>
            <a:ext cx="1378915" cy="1371600"/>
          </a:xfrm>
          <a:prstGeom prst="roundRect">
            <a:avLst>
              <a:gd name="adj" fmla="val 5333"/>
            </a:avLst>
          </a:prstGeom>
          <a:solidFill>
            <a:srgbClr val="7C3AED"/>
          </a:solidFill>
          <a:ln w="12700">
            <a:solidFill>
              <a:srgbClr val="FFFFFF"/>
            </a:solidFill>
            <a:prstDash val="solid"/>
          </a:ln>
          <a:effectLst>
            <a:outerShdw sx="100000" sy="100000" kx="0" ky="0" algn="bl" rotWithShape="0" blurRad="Infinity" dist="Infinity" dir="Infinity">
              <a:srgbClr val="000000">
                <a:alpha val="Infinity"/>
              </a:srgbClr>
            </a:outerShdw>
          </a:effectLst>
        </p:spPr>
      </p:sp>
      <p:pic>
        <p:nvPicPr>
          <p:cNvPr id="36" name="Image 4" descr="C:\Users\Tabish.DESKTOP-AMHU6DL\AppData\Local\Temp\claude\C--Data-Apps-GitFlowPlus\670cb83e-903e-4a7a-8a42-3e26eddb1211\scratchpad\gfp-deck\icons\git-merge.png">    </p:cNvPr>
          <p:cNvPicPr>
            <a:picLocks noChangeAspect="1"/>
          </p:cNvPicPr>
          <p:nvPr/>
        </p:nvPicPr>
        <p:blipFill>
          <a:blip r:embed="rId5"/>
          <a:stretch>
            <a:fillRect/>
          </a:stretch>
        </p:blipFill>
        <p:spPr>
          <a:xfrm>
            <a:off x="10767974" y="1627632"/>
            <a:ext cx="548640" cy="548640"/>
          </a:xfrm>
          <a:prstGeom prst="rect">
            <a:avLst/>
          </a:prstGeom>
        </p:spPr>
      </p:pic>
      <p:sp>
        <p:nvSpPr>
          <p:cNvPr id="37" name="Text 30"/>
          <p:cNvSpPr/>
          <p:nvPr/>
        </p:nvSpPr>
        <p:spPr>
          <a:xfrm>
            <a:off x="10425989" y="2249424"/>
            <a:ext cx="1232611" cy="29260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Resync</a:t>
            </a:r>
            <a:endParaRPr lang="en-US" sz="1250" dirty="0"/>
          </a:p>
        </p:txBody>
      </p:sp>
      <p:sp>
        <p:nvSpPr>
          <p:cNvPr id="38" name="Text 31"/>
          <p:cNvSpPr/>
          <p:nvPr/>
        </p:nvSpPr>
        <p:spPr>
          <a:xfrm>
            <a:off x="10425989" y="2560320"/>
            <a:ext cx="1232611"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feature add (re-run)</a:t>
            </a:r>
            <a:endParaRPr lang="en-US" sz="950" dirty="0"/>
          </a:p>
        </p:txBody>
      </p:sp>
      <p:sp>
        <p:nvSpPr>
          <p:cNvPr id="39" name="Shape 32"/>
          <p:cNvSpPr/>
          <p:nvPr/>
        </p:nvSpPr>
        <p:spPr>
          <a:xfrm flipV="1">
            <a:off x="4575658" y="2871216"/>
            <a:ext cx="6466637" cy="685800"/>
          </a:xfrm>
          <a:prstGeom prst="bentConnector3">
            <a:avLst/>
          </a:prstGeom>
          <a:noFill/>
          <a:ln w="25400">
            <a:solidFill>
              <a:srgbClr val="7C3AED"/>
            </a:solidFill>
            <a:prstDash val="solid"/>
            <a:tailEnd type="triangle"/>
          </a:ln>
        </p:spPr>
      </p:sp>
      <p:sp>
        <p:nvSpPr>
          <p:cNvPr id="40" name="Text 33"/>
          <p:cNvSpPr/>
          <p:nvPr/>
        </p:nvSpPr>
        <p:spPr>
          <a:xfrm>
            <a:off x="6711696" y="3191256"/>
            <a:ext cx="2194560" cy="274320"/>
          </a:xfrm>
          <a:prstGeom prst="rect">
            <a:avLst/>
          </a:prstGeom>
          <a:noFill/>
          <a:ln/>
        </p:spPr>
        <p:txBody>
          <a:bodyPr wrap="square" lIns="0" tIns="0" rIns="0" bIns="0" rtlCol="0" anchor="ctr"/>
          <a:lstStyle/>
          <a:p>
            <a:pPr algn="ctr" indent="0" marL="0">
              <a:buNone/>
            </a:pPr>
            <a:r>
              <a:rPr lang="en-US" sz="1050" i="1" dirty="0">
                <a:solidFill>
                  <a:srgbClr val="7C3AED"/>
                </a:solidFill>
                <a:latin typeface="Calibri" pitchFamily="34" charset="0"/>
                <a:ea typeface="Calibri" pitchFamily="34" charset="-122"/>
                <a:cs typeface="Calibri" pitchFamily="34" charset="-120"/>
              </a:rPr>
              <a:t>Repeats until QA signs off</a:t>
            </a:r>
            <a:endParaRPr lang="en-US" sz="1050" dirty="0"/>
          </a:p>
        </p:txBody>
      </p:sp>
      <p:sp>
        <p:nvSpPr>
          <p:cNvPr id="41" name="Shape 34"/>
          <p:cNvSpPr/>
          <p:nvPr/>
        </p:nvSpPr>
        <p:spPr>
          <a:xfrm>
            <a:off x="3886200" y="3831336"/>
            <a:ext cx="7845552" cy="777240"/>
          </a:xfrm>
          <a:prstGeom prst="roundRect">
            <a:avLst>
              <a:gd name="adj" fmla="val 7059"/>
            </a:avLst>
          </a:prstGeom>
          <a:solidFill>
            <a:srgbClr val="F3F4F6"/>
          </a:solidFill>
          <a:ln w="12700">
            <a:solidFill>
              <a:srgbClr val="16A34A"/>
            </a:solidFill>
            <a:prstDash val="solid"/>
          </a:ln>
        </p:spPr>
      </p:sp>
      <p:pic>
        <p:nvPicPr>
          <p:cNvPr id="42" name="Image 5" descr="C:\Users\Tabish.DESKTOP-AMHU6DL\AppData\Local\Temp\claude\C--Data-Apps-GitFlowPlus\670cb83e-903e-4a7a-8a42-3e26eddb1211\scratchpad\gfp-deck\icons\check.png">    </p:cNvPr>
          <p:cNvPicPr>
            <a:picLocks noChangeAspect="1"/>
          </p:cNvPicPr>
          <p:nvPr/>
        </p:nvPicPr>
        <p:blipFill>
          <a:blip r:embed="rId6"/>
          <a:stretch>
            <a:fillRect/>
          </a:stretch>
        </p:blipFill>
        <p:spPr>
          <a:xfrm>
            <a:off x="4069080" y="3986784"/>
            <a:ext cx="457200" cy="457200"/>
          </a:xfrm>
          <a:prstGeom prst="rect">
            <a:avLst/>
          </a:prstGeom>
        </p:spPr>
      </p:pic>
      <p:sp>
        <p:nvSpPr>
          <p:cNvPr id="43" name="Text 35"/>
          <p:cNvSpPr/>
          <p:nvPr/>
        </p:nvSpPr>
        <p:spPr>
          <a:xfrm>
            <a:off x="4663440" y="4014216"/>
            <a:ext cx="6885432" cy="457200"/>
          </a:xfrm>
          <a:prstGeom prst="rect">
            <a:avLst/>
          </a:prstGeom>
          <a:noFill/>
          <a:ln/>
        </p:spPr>
        <p:txBody>
          <a:bodyPr wrap="square" lIns="0" tIns="0" rIns="0" bIns="0" rtlCol="0" anchor="ctr"/>
          <a:lstStyle/>
          <a:p>
            <a:pPr indent="0" marL="0">
              <a:buNone/>
            </a:pPr>
            <a:r>
              <a:rPr lang="en-US" sz="1300" b="1" dirty="0">
                <a:solidFill>
                  <a:srgbClr val="16A34A"/>
                </a:solidFill>
                <a:latin typeface="Calibri" pitchFamily="34" charset="0"/>
                <a:ea typeface="Calibri" pitchFamily="34" charset="-122"/>
                <a:cs typeface="Calibri" pitchFamily="34" charset="-120"/>
              </a:rPr>
              <a:t>No defect → exit the loop → git flow release finish</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END-TO-END VIEW</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Complete Release Lifecycle — Start to Finish</a:t>
            </a:r>
            <a:endParaRPr lang="en-US" sz="3000" dirty="0"/>
          </a:p>
        </p:txBody>
      </p:sp>
      <p:sp>
        <p:nvSpPr>
          <p:cNvPr id="4" name="Shape 2"/>
          <p:cNvSpPr/>
          <p:nvPr/>
        </p:nvSpPr>
        <p:spPr>
          <a:xfrm>
            <a:off x="457200" y="1417320"/>
            <a:ext cx="1711452" cy="1417320"/>
          </a:xfrm>
          <a:prstGeom prst="roundRect">
            <a:avLst>
              <a:gd name="adj" fmla="val 5161"/>
            </a:avLst>
          </a:prstGeom>
          <a:solidFill>
            <a:srgbClr val="7C3AED"/>
          </a:solidFill>
          <a:ln w="12700">
            <a:solidFill>
              <a:srgbClr val="FFFFFF"/>
            </a:solidFill>
            <a:prstDash val="solid"/>
          </a:ln>
          <a:effectLst>
            <a:outerShdw sx="100000" sy="100000" kx="0" ky="0" algn="bl" rotWithShape="0" blurRad="Infinity" dist="Infinity" dir="Infinity">
              <a:srgbClr val="000000">
                <a:alpha val="Infinity"/>
              </a:srgbClr>
            </a:outerShdw>
          </a:effectLst>
        </p:spPr>
      </p:sp>
      <p:pic>
        <p:nvPicPr>
          <p:cNvPr id="5" name="Image 0" descr="C:\Users\Tabish.DESKTOP-AMHU6DL\AppData\Local\Temp\claude\C--Data-Apps-GitFlowPlus\670cb83e-903e-4a7a-8a42-3e26eddb1211\scratchpad\gfp-deck\icons\release-manager.png">    </p:cNvPr>
          <p:cNvPicPr>
            <a:picLocks noChangeAspect="1"/>
          </p:cNvPicPr>
          <p:nvPr/>
        </p:nvPicPr>
        <p:blipFill>
          <a:blip r:embed="rId1"/>
          <a:stretch>
            <a:fillRect/>
          </a:stretch>
        </p:blipFill>
        <p:spPr>
          <a:xfrm>
            <a:off x="1038606" y="1545336"/>
            <a:ext cx="548640" cy="548640"/>
          </a:xfrm>
          <a:prstGeom prst="rect">
            <a:avLst/>
          </a:prstGeom>
        </p:spPr>
      </p:pic>
      <p:sp>
        <p:nvSpPr>
          <p:cNvPr id="6" name="Text 3"/>
          <p:cNvSpPr/>
          <p:nvPr/>
        </p:nvSpPr>
        <p:spPr>
          <a:xfrm>
            <a:off x="530352" y="2167128"/>
            <a:ext cx="1565148" cy="33832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release start</a:t>
            </a:r>
            <a:endParaRPr lang="en-US" sz="1250" dirty="0"/>
          </a:p>
        </p:txBody>
      </p:sp>
      <p:sp>
        <p:nvSpPr>
          <p:cNvPr id="7" name="Text 4"/>
          <p:cNvSpPr/>
          <p:nvPr/>
        </p:nvSpPr>
        <p:spPr>
          <a:xfrm>
            <a:off x="530352" y="2523744"/>
            <a:ext cx="1565148"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5.3</a:t>
            </a:r>
            <a:endParaRPr lang="en-US" sz="950" dirty="0"/>
          </a:p>
        </p:txBody>
      </p:sp>
      <p:sp>
        <p:nvSpPr>
          <p:cNvPr id="8" name="Shape 5"/>
          <p:cNvSpPr/>
          <p:nvPr/>
        </p:nvSpPr>
        <p:spPr>
          <a:xfrm>
            <a:off x="2188769" y="2034540"/>
            <a:ext cx="160934" cy="182880"/>
          </a:xfrm>
          <a:prstGeom prst="rightArrow">
            <a:avLst/>
          </a:prstGeom>
          <a:solidFill>
            <a:srgbClr val="6B7280"/>
          </a:solidFill>
          <a:ln w="12700">
            <a:solidFill>
              <a:srgbClr val="6B7280"/>
            </a:solidFill>
            <a:prstDash val="solid"/>
          </a:ln>
        </p:spPr>
      </p:sp>
      <p:sp>
        <p:nvSpPr>
          <p:cNvPr id="9" name="Shape 6"/>
          <p:cNvSpPr/>
          <p:nvPr/>
        </p:nvSpPr>
        <p:spPr>
          <a:xfrm>
            <a:off x="2369820" y="1417320"/>
            <a:ext cx="1711452" cy="1417320"/>
          </a:xfrm>
          <a:prstGeom prst="roundRect">
            <a:avLst>
              <a:gd name="adj" fmla="val 5161"/>
            </a:avLst>
          </a:prstGeom>
          <a:solidFill>
            <a:srgbClr val="2563EB"/>
          </a:solidFill>
          <a:ln w="12700">
            <a:solidFill>
              <a:srgbClr val="FFFFFF"/>
            </a:solidFill>
            <a:prstDash val="solid"/>
          </a:ln>
          <a:effectLst>
            <a:outerShdw sx="100000" sy="100000" kx="0" ky="0" algn="bl" rotWithShape="0" blurRad="Infinity" dist="Infinity" dir="Infinity">
              <a:srgbClr val="000000">
                <a:alpha val="Infinity"/>
              </a:srgbClr>
            </a:outerShdw>
          </a:effectLst>
        </p:spPr>
      </p:sp>
      <p:pic>
        <p:nvPicPr>
          <p:cNvPr id="10" name="Image 1" descr="C:\Users\Tabish.DESKTOP-AMHU6DL\AppData\Local\Temp\claude\C--Data-Apps-GitFlowPlus\670cb83e-903e-4a7a-8a42-3e26eddb1211\scratchpad\gfp-deck\icons\git-branch.png">    </p:cNvPr>
          <p:cNvPicPr>
            <a:picLocks noChangeAspect="1"/>
          </p:cNvPicPr>
          <p:nvPr/>
        </p:nvPicPr>
        <p:blipFill>
          <a:blip r:embed="rId2"/>
          <a:stretch>
            <a:fillRect/>
          </a:stretch>
        </p:blipFill>
        <p:spPr>
          <a:xfrm>
            <a:off x="2951226" y="1545336"/>
            <a:ext cx="548640" cy="548640"/>
          </a:xfrm>
          <a:prstGeom prst="rect">
            <a:avLst/>
          </a:prstGeom>
        </p:spPr>
      </p:pic>
      <p:sp>
        <p:nvSpPr>
          <p:cNvPr id="11" name="Text 7"/>
          <p:cNvSpPr/>
          <p:nvPr/>
        </p:nvSpPr>
        <p:spPr>
          <a:xfrm>
            <a:off x="2442972" y="2167128"/>
            <a:ext cx="1565148" cy="33832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feature start</a:t>
            </a:r>
            <a:endParaRPr lang="en-US" sz="1250" dirty="0"/>
          </a:p>
        </p:txBody>
      </p:sp>
      <p:sp>
        <p:nvSpPr>
          <p:cNvPr id="12" name="Text 8"/>
          <p:cNvSpPr/>
          <p:nvPr/>
        </p:nvSpPr>
        <p:spPr>
          <a:xfrm>
            <a:off x="2442972" y="2523744"/>
            <a:ext cx="1565148"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(many, parallel)</a:t>
            </a:r>
            <a:endParaRPr lang="en-US" sz="950" dirty="0"/>
          </a:p>
        </p:txBody>
      </p:sp>
      <p:sp>
        <p:nvSpPr>
          <p:cNvPr id="13" name="Shape 9"/>
          <p:cNvSpPr/>
          <p:nvPr/>
        </p:nvSpPr>
        <p:spPr>
          <a:xfrm>
            <a:off x="4101389" y="2034540"/>
            <a:ext cx="160934" cy="182880"/>
          </a:xfrm>
          <a:prstGeom prst="rightArrow">
            <a:avLst/>
          </a:prstGeom>
          <a:solidFill>
            <a:srgbClr val="6B7280"/>
          </a:solidFill>
          <a:ln w="12700">
            <a:solidFill>
              <a:srgbClr val="6B7280"/>
            </a:solidFill>
            <a:prstDash val="solid"/>
          </a:ln>
        </p:spPr>
      </p:sp>
      <p:sp>
        <p:nvSpPr>
          <p:cNvPr id="14" name="Shape 10"/>
          <p:cNvSpPr/>
          <p:nvPr/>
        </p:nvSpPr>
        <p:spPr>
          <a:xfrm>
            <a:off x="4282440" y="1417320"/>
            <a:ext cx="1711452" cy="1417320"/>
          </a:xfrm>
          <a:prstGeom prst="roundRect">
            <a:avLst>
              <a:gd name="adj" fmla="val 5161"/>
            </a:avLst>
          </a:prstGeom>
          <a:solidFill>
            <a:srgbClr val="7C3AED"/>
          </a:solidFill>
          <a:ln w="12700">
            <a:solidFill>
              <a:srgbClr val="FFFFFF"/>
            </a:solidFill>
            <a:prstDash val="solid"/>
          </a:ln>
          <a:effectLst>
            <a:outerShdw sx="100000" sy="100000" kx="0" ky="0" algn="bl" rotWithShape="0" blurRad="Infinity" dist="Infinity" dir="Infinity">
              <a:srgbClr val="000000">
                <a:alpha val="Infinity"/>
              </a:srgbClr>
            </a:outerShdw>
          </a:effectLst>
        </p:spPr>
      </p:sp>
      <p:pic>
        <p:nvPicPr>
          <p:cNvPr id="15" name="Image 2" descr="C:\Users\Tabish.DESKTOP-AMHU6DL\AppData\Local\Temp\claude\C--Data-Apps-GitFlowPlus\670cb83e-903e-4a7a-8a42-3e26eddb1211\scratchpad\gfp-deck\icons\git-merge.png">    </p:cNvPr>
          <p:cNvPicPr>
            <a:picLocks noChangeAspect="1"/>
          </p:cNvPicPr>
          <p:nvPr/>
        </p:nvPicPr>
        <p:blipFill>
          <a:blip r:embed="rId3"/>
          <a:stretch>
            <a:fillRect/>
          </a:stretch>
        </p:blipFill>
        <p:spPr>
          <a:xfrm>
            <a:off x="4863846" y="1545336"/>
            <a:ext cx="548640" cy="548640"/>
          </a:xfrm>
          <a:prstGeom prst="rect">
            <a:avLst/>
          </a:prstGeom>
        </p:spPr>
      </p:pic>
      <p:sp>
        <p:nvSpPr>
          <p:cNvPr id="16" name="Text 11"/>
          <p:cNvSpPr/>
          <p:nvPr/>
        </p:nvSpPr>
        <p:spPr>
          <a:xfrm>
            <a:off x="4355592" y="2167128"/>
            <a:ext cx="1565148" cy="33832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feature add</a:t>
            </a:r>
            <a:endParaRPr lang="en-US" sz="1250" dirty="0"/>
          </a:p>
        </p:txBody>
      </p:sp>
      <p:sp>
        <p:nvSpPr>
          <p:cNvPr id="17" name="Text 12"/>
          <p:cNvSpPr/>
          <p:nvPr/>
        </p:nvSpPr>
        <p:spPr>
          <a:xfrm>
            <a:off x="4355592" y="2523744"/>
            <a:ext cx="1565148"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real merge</a:t>
            </a:r>
            <a:endParaRPr lang="en-US" sz="950" dirty="0"/>
          </a:p>
        </p:txBody>
      </p:sp>
      <p:sp>
        <p:nvSpPr>
          <p:cNvPr id="18" name="Shape 13"/>
          <p:cNvSpPr/>
          <p:nvPr/>
        </p:nvSpPr>
        <p:spPr>
          <a:xfrm>
            <a:off x="6014009" y="2034540"/>
            <a:ext cx="160934" cy="182880"/>
          </a:xfrm>
          <a:prstGeom prst="rightArrow">
            <a:avLst/>
          </a:prstGeom>
          <a:solidFill>
            <a:srgbClr val="6B7280"/>
          </a:solidFill>
          <a:ln w="12700">
            <a:solidFill>
              <a:srgbClr val="6B7280"/>
            </a:solidFill>
            <a:prstDash val="solid"/>
          </a:ln>
        </p:spPr>
      </p:sp>
      <p:sp>
        <p:nvSpPr>
          <p:cNvPr id="19" name="Shape 14"/>
          <p:cNvSpPr/>
          <p:nvPr/>
        </p:nvSpPr>
        <p:spPr>
          <a:xfrm>
            <a:off x="6195060" y="1417320"/>
            <a:ext cx="1711452" cy="1417320"/>
          </a:xfrm>
          <a:prstGeom prst="roundRect">
            <a:avLst>
              <a:gd name="adj" fmla="val 5161"/>
            </a:avLst>
          </a:prstGeom>
          <a:solidFill>
            <a:srgbClr val="EA580C"/>
          </a:solidFill>
          <a:ln w="12700">
            <a:solidFill>
              <a:srgbClr val="FFFFFF"/>
            </a:solidFill>
            <a:prstDash val="solid"/>
          </a:ln>
          <a:effectLst>
            <a:outerShdw sx="100000" sy="100000" kx="0" ky="0" algn="bl" rotWithShape="0" blurRad="Infinity" dist="Infinity" dir="Infinity">
              <a:srgbClr val="000000">
                <a:alpha val="Infinity"/>
              </a:srgbClr>
            </a:outerShdw>
          </a:effectLst>
        </p:spPr>
      </p:sp>
      <p:pic>
        <p:nvPicPr>
          <p:cNvPr id="20" name="Image 3" descr="C:\Users\Tabish.DESKTOP-AMHU6DL\AppData\Local\Temp\claude\C--Data-Apps-GitFlowPlus\670cb83e-903e-4a7a-8a42-3e26eddb1211\scratchpad\gfp-deck\icons\git-tag.png">    </p:cNvPr>
          <p:cNvPicPr>
            <a:picLocks noChangeAspect="1"/>
          </p:cNvPicPr>
          <p:nvPr/>
        </p:nvPicPr>
        <p:blipFill>
          <a:blip r:embed="rId4"/>
          <a:stretch>
            <a:fillRect/>
          </a:stretch>
        </p:blipFill>
        <p:spPr>
          <a:xfrm>
            <a:off x="6776466" y="1545336"/>
            <a:ext cx="548640" cy="548640"/>
          </a:xfrm>
          <a:prstGeom prst="rect">
            <a:avLst/>
          </a:prstGeom>
        </p:spPr>
      </p:pic>
      <p:sp>
        <p:nvSpPr>
          <p:cNvPr id="21" name="Text 15"/>
          <p:cNvSpPr/>
          <p:nvPr/>
        </p:nvSpPr>
        <p:spPr>
          <a:xfrm>
            <a:off x="6268212" y="2167128"/>
            <a:ext cx="1565148" cy="33832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release build</a:t>
            </a:r>
            <a:endParaRPr lang="en-US" sz="1250" dirty="0"/>
          </a:p>
        </p:txBody>
      </p:sp>
      <p:sp>
        <p:nvSpPr>
          <p:cNvPr id="22" name="Text 16"/>
          <p:cNvSpPr/>
          <p:nvPr/>
        </p:nvSpPr>
        <p:spPr>
          <a:xfrm>
            <a:off x="6268212" y="2523744"/>
            <a:ext cx="1565148"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QA tag</a:t>
            </a:r>
            <a:endParaRPr lang="en-US" sz="950" dirty="0"/>
          </a:p>
        </p:txBody>
      </p:sp>
      <p:sp>
        <p:nvSpPr>
          <p:cNvPr id="23" name="Shape 17"/>
          <p:cNvSpPr/>
          <p:nvPr/>
        </p:nvSpPr>
        <p:spPr>
          <a:xfrm>
            <a:off x="7926629" y="2034540"/>
            <a:ext cx="160934" cy="182880"/>
          </a:xfrm>
          <a:prstGeom prst="rightArrow">
            <a:avLst/>
          </a:prstGeom>
          <a:solidFill>
            <a:srgbClr val="6B7280"/>
          </a:solidFill>
          <a:ln w="12700">
            <a:solidFill>
              <a:srgbClr val="6B7280"/>
            </a:solidFill>
            <a:prstDash val="solid"/>
          </a:ln>
        </p:spPr>
      </p:sp>
      <p:sp>
        <p:nvSpPr>
          <p:cNvPr id="24" name="Shape 18"/>
          <p:cNvSpPr/>
          <p:nvPr/>
        </p:nvSpPr>
        <p:spPr>
          <a:xfrm>
            <a:off x="8107680" y="1417320"/>
            <a:ext cx="1711452" cy="1417320"/>
          </a:xfrm>
          <a:prstGeom prst="roundRect">
            <a:avLst>
              <a:gd name="adj" fmla="val 5161"/>
            </a:avLst>
          </a:prstGeom>
          <a:solidFill>
            <a:srgbClr val="EA580C"/>
          </a:solidFill>
          <a:ln w="12700">
            <a:solidFill>
              <a:srgbClr val="FFFFFF"/>
            </a:solidFill>
            <a:prstDash val="solid"/>
          </a:ln>
          <a:effectLst>
            <a:outerShdw sx="100000" sy="100000" kx="0" ky="0" algn="bl" rotWithShape="0" blurRad="Infinity" dist="Infinity" dir="Infinity">
              <a:srgbClr val="000000">
                <a:alpha val="Infinity"/>
              </a:srgbClr>
            </a:outerShdw>
          </a:effectLst>
        </p:spPr>
      </p:sp>
      <p:pic>
        <p:nvPicPr>
          <p:cNvPr id="25" name="Image 4" descr="C:\Users\Tabish.DESKTOP-AMHU6DL\AppData\Local\Temp\claude\C--Data-Apps-GitFlowPlus\670cb83e-903e-4a7a-8a42-3e26eddb1211\scratchpad\gfp-deck\icons\qa-engineer.png">    </p:cNvPr>
          <p:cNvPicPr>
            <a:picLocks noChangeAspect="1"/>
          </p:cNvPicPr>
          <p:nvPr/>
        </p:nvPicPr>
        <p:blipFill>
          <a:blip r:embed="rId5"/>
          <a:stretch>
            <a:fillRect/>
          </a:stretch>
        </p:blipFill>
        <p:spPr>
          <a:xfrm>
            <a:off x="8689086" y="1545336"/>
            <a:ext cx="548640" cy="548640"/>
          </a:xfrm>
          <a:prstGeom prst="rect">
            <a:avLst/>
          </a:prstGeom>
        </p:spPr>
      </p:pic>
      <p:sp>
        <p:nvSpPr>
          <p:cNvPr id="26" name="Text 19"/>
          <p:cNvSpPr/>
          <p:nvPr/>
        </p:nvSpPr>
        <p:spPr>
          <a:xfrm>
            <a:off x="8180832" y="2167128"/>
            <a:ext cx="1565148" cy="33832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QA cycle</a:t>
            </a:r>
            <a:endParaRPr lang="en-US" sz="1250" dirty="0"/>
          </a:p>
        </p:txBody>
      </p:sp>
      <p:sp>
        <p:nvSpPr>
          <p:cNvPr id="27" name="Text 20"/>
          <p:cNvSpPr/>
          <p:nvPr/>
        </p:nvSpPr>
        <p:spPr>
          <a:xfrm>
            <a:off x="8180832" y="2523744"/>
            <a:ext cx="1565148"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resync loop</a:t>
            </a:r>
            <a:endParaRPr lang="en-US" sz="950" dirty="0"/>
          </a:p>
        </p:txBody>
      </p:sp>
      <p:sp>
        <p:nvSpPr>
          <p:cNvPr id="28" name="Shape 21"/>
          <p:cNvSpPr/>
          <p:nvPr/>
        </p:nvSpPr>
        <p:spPr>
          <a:xfrm>
            <a:off x="9839249" y="2034540"/>
            <a:ext cx="160934" cy="182880"/>
          </a:xfrm>
          <a:prstGeom prst="rightArrow">
            <a:avLst/>
          </a:prstGeom>
          <a:solidFill>
            <a:srgbClr val="6B7280"/>
          </a:solidFill>
          <a:ln w="12700">
            <a:solidFill>
              <a:srgbClr val="6B7280"/>
            </a:solidFill>
            <a:prstDash val="solid"/>
          </a:ln>
        </p:spPr>
      </p:sp>
      <p:sp>
        <p:nvSpPr>
          <p:cNvPr id="29" name="Shape 22"/>
          <p:cNvSpPr/>
          <p:nvPr/>
        </p:nvSpPr>
        <p:spPr>
          <a:xfrm>
            <a:off x="10020300" y="1417320"/>
            <a:ext cx="1711452" cy="1417320"/>
          </a:xfrm>
          <a:prstGeom prst="roundRect">
            <a:avLst>
              <a:gd name="adj" fmla="val 5161"/>
            </a:avLst>
          </a:prstGeom>
          <a:solidFill>
            <a:srgbClr val="16A34A"/>
          </a:solidFill>
          <a:ln w="12700">
            <a:solidFill>
              <a:srgbClr val="FFFFFF"/>
            </a:solidFill>
            <a:prstDash val="solid"/>
          </a:ln>
          <a:effectLst>
            <a:outerShdw sx="100000" sy="100000" kx="0" ky="0" algn="bl" rotWithShape="0" blurRad="Infinity" dist="Infinity" dir="Infinity">
              <a:srgbClr val="000000">
                <a:alpha val="Infinity"/>
              </a:srgbClr>
            </a:outerShdw>
          </a:effectLst>
        </p:spPr>
      </p:sp>
      <p:pic>
        <p:nvPicPr>
          <p:cNvPr id="30" name="Image 5" descr="C:\Users\Tabish.DESKTOP-AMHU6DL\AppData\Local\Temp\claude\C--Data-Apps-GitFlowPlus\670cb83e-903e-4a7a-8a42-3e26eddb1211\scratchpad\gfp-deck\icons\finish-flag.png">    </p:cNvPr>
          <p:cNvPicPr>
            <a:picLocks noChangeAspect="1"/>
          </p:cNvPicPr>
          <p:nvPr/>
        </p:nvPicPr>
        <p:blipFill>
          <a:blip r:embed="rId6"/>
          <a:stretch>
            <a:fillRect/>
          </a:stretch>
        </p:blipFill>
        <p:spPr>
          <a:xfrm>
            <a:off x="10601706" y="1545336"/>
            <a:ext cx="548640" cy="548640"/>
          </a:xfrm>
          <a:prstGeom prst="rect">
            <a:avLst/>
          </a:prstGeom>
        </p:spPr>
      </p:pic>
      <p:sp>
        <p:nvSpPr>
          <p:cNvPr id="31" name="Text 23"/>
          <p:cNvSpPr/>
          <p:nvPr/>
        </p:nvSpPr>
        <p:spPr>
          <a:xfrm>
            <a:off x="10093452" y="2167128"/>
            <a:ext cx="1565148" cy="338328"/>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release finish</a:t>
            </a:r>
            <a:endParaRPr lang="en-US" sz="1250" dirty="0"/>
          </a:p>
        </p:txBody>
      </p:sp>
      <p:sp>
        <p:nvSpPr>
          <p:cNvPr id="32" name="Text 24"/>
          <p:cNvSpPr/>
          <p:nvPr/>
        </p:nvSpPr>
        <p:spPr>
          <a:xfrm>
            <a:off x="10093452" y="2523744"/>
            <a:ext cx="1565148" cy="274320"/>
          </a:xfrm>
          <a:prstGeom prst="rect">
            <a:avLst/>
          </a:prstGeom>
          <a:noFill/>
          <a:ln/>
        </p:spPr>
        <p:txBody>
          <a:bodyPr wrap="square" lIns="0" tIns="0" rIns="0" bIns="0" rtlCol="0" anchor="ctr"/>
          <a:lstStyle/>
          <a:p>
            <a:pPr algn="ctr" indent="0" marL="0">
              <a:buNone/>
            </a:pPr>
            <a:r>
              <a:rPr lang="en-US" sz="950" i="1" dirty="0">
                <a:solidFill>
                  <a:srgbClr val="FFFFFF"/>
                </a:solidFill>
                <a:latin typeface="Calibri" pitchFamily="34" charset="0"/>
                <a:ea typeface="Calibri" pitchFamily="34" charset="-122"/>
                <a:cs typeface="Calibri" pitchFamily="34" charset="-120"/>
              </a:rPr>
              <a:t>tag + merge to main</a:t>
            </a:r>
            <a:endParaRPr lang="en-US" sz="950" dirty="0"/>
          </a:p>
        </p:txBody>
      </p:sp>
      <p:sp>
        <p:nvSpPr>
          <p:cNvPr id="33" name="Shape 25"/>
          <p:cNvSpPr/>
          <p:nvPr/>
        </p:nvSpPr>
        <p:spPr>
          <a:xfrm>
            <a:off x="457200" y="3200400"/>
            <a:ext cx="3566160" cy="2651760"/>
          </a:xfrm>
          <a:prstGeom prst="roundRect">
            <a:avLst>
              <a:gd name="adj" fmla="val 2069"/>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sp>
        <p:nvSpPr>
          <p:cNvPr id="34" name="Text 26"/>
          <p:cNvSpPr/>
          <p:nvPr/>
        </p:nvSpPr>
        <p:spPr>
          <a:xfrm>
            <a:off x="621792" y="3310128"/>
            <a:ext cx="3236976" cy="256032"/>
          </a:xfrm>
          <a:prstGeom prst="rect">
            <a:avLst/>
          </a:prstGeom>
          <a:noFill/>
          <a:ln/>
        </p:spPr>
        <p:txBody>
          <a:bodyPr wrap="square" lIns="0" tIns="0" rIns="0" bIns="0" rtlCol="0" anchor="ctr"/>
          <a:lstStyle/>
          <a:p>
            <a:pPr indent="0" marL="0">
              <a:buNone/>
            </a:pPr>
            <a:r>
              <a:rPr lang="en-US" sz="1100" b="1" spc="100" kern="0" dirty="0">
                <a:solidFill>
                  <a:srgbClr val="2563EB"/>
                </a:solidFill>
                <a:latin typeface="Calibri" pitchFamily="34" charset="0"/>
                <a:ea typeface="Calibri" pitchFamily="34" charset="-122"/>
                <a:cs typeface="Calibri" pitchFamily="34" charset="-120"/>
              </a:rPr>
              <a:t>BRANCHES TOUCHED</a:t>
            </a:r>
            <a:endParaRPr lang="en-US" sz="1100" dirty="0"/>
          </a:p>
        </p:txBody>
      </p:sp>
      <p:sp>
        <p:nvSpPr>
          <p:cNvPr id="35" name="Text 27"/>
          <p:cNvSpPr/>
          <p:nvPr/>
        </p:nvSpPr>
        <p:spPr>
          <a:xfrm>
            <a:off x="621792" y="3621024"/>
            <a:ext cx="3236976" cy="2121408"/>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staging: entire release lives here</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feature/*, releasefix/*, devops/*: stay alive through QA</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main: receives exactly one merge, at finish</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develop: untouched by the release entirely</a:t>
            </a:r>
            <a:endParaRPr lang="en-US" sz="1150" dirty="0"/>
          </a:p>
        </p:txBody>
      </p:sp>
      <p:sp>
        <p:nvSpPr>
          <p:cNvPr id="36" name="Shape 28"/>
          <p:cNvSpPr/>
          <p:nvPr/>
        </p:nvSpPr>
        <p:spPr>
          <a:xfrm>
            <a:off x="4251960" y="3200400"/>
            <a:ext cx="3566160" cy="2651760"/>
          </a:xfrm>
          <a:prstGeom prst="roundRect">
            <a:avLst>
              <a:gd name="adj" fmla="val 2069"/>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sp>
        <p:nvSpPr>
          <p:cNvPr id="37" name="Text 29"/>
          <p:cNvSpPr/>
          <p:nvPr/>
        </p:nvSpPr>
        <p:spPr>
          <a:xfrm>
            <a:off x="4416552" y="3310128"/>
            <a:ext cx="3236976" cy="256032"/>
          </a:xfrm>
          <a:prstGeom prst="rect">
            <a:avLst/>
          </a:prstGeom>
          <a:noFill/>
          <a:ln/>
        </p:spPr>
        <p:txBody>
          <a:bodyPr wrap="square" lIns="0" tIns="0" rIns="0" bIns="0" rtlCol="0" anchor="ctr"/>
          <a:lstStyle/>
          <a:p>
            <a:pPr indent="0" marL="0">
              <a:buNone/>
            </a:pPr>
            <a:r>
              <a:rPr lang="en-US" sz="1100" b="1" spc="100" kern="0" dirty="0">
                <a:solidFill>
                  <a:srgbClr val="16A34A"/>
                </a:solidFill>
                <a:latin typeface="Calibri" pitchFamily="34" charset="0"/>
                <a:ea typeface="Calibri" pitchFamily="34" charset="-122"/>
                <a:cs typeface="Calibri" pitchFamily="34" charset="-120"/>
              </a:rPr>
              <a:t>WHAT FINISH DOES</a:t>
            </a:r>
            <a:endParaRPr lang="en-US" sz="1100" dirty="0"/>
          </a:p>
        </p:txBody>
      </p:sp>
      <p:sp>
        <p:nvSpPr>
          <p:cNvPr id="38" name="Text 30"/>
          <p:cNvSpPr/>
          <p:nvPr/>
        </p:nvSpPr>
        <p:spPr>
          <a:xfrm>
            <a:off x="4416552" y="3621024"/>
            <a:ext cx="3236976" cy="2121408"/>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Cuts the production tag</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Merges staging → main only</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Deletes feature/release-fix/devops branches</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Archives the manifest and feature history</a:t>
            </a:r>
            <a:endParaRPr lang="en-US" sz="1150" dirty="0"/>
          </a:p>
        </p:txBody>
      </p:sp>
      <p:sp>
        <p:nvSpPr>
          <p:cNvPr id="39" name="Shape 31"/>
          <p:cNvSpPr/>
          <p:nvPr/>
        </p:nvSpPr>
        <p:spPr>
          <a:xfrm>
            <a:off x="8046720" y="3200400"/>
            <a:ext cx="3685032" cy="2651760"/>
          </a:xfrm>
          <a:prstGeom prst="roundRect">
            <a:avLst>
              <a:gd name="adj" fmla="val 2069"/>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sp>
        <p:nvSpPr>
          <p:cNvPr id="40" name="Text 32"/>
          <p:cNvSpPr/>
          <p:nvPr/>
        </p:nvSpPr>
        <p:spPr>
          <a:xfrm>
            <a:off x="8211312" y="3310128"/>
            <a:ext cx="3355848" cy="256032"/>
          </a:xfrm>
          <a:prstGeom prst="rect">
            <a:avLst/>
          </a:prstGeom>
          <a:noFill/>
          <a:ln/>
        </p:spPr>
        <p:txBody>
          <a:bodyPr wrap="square" lIns="0" tIns="0" rIns="0" bIns="0" rtlCol="0" anchor="ctr"/>
          <a:lstStyle/>
          <a:p>
            <a:pPr indent="0" marL="0">
              <a:buNone/>
            </a:pPr>
            <a:r>
              <a:rPr lang="en-US" sz="1100" b="1" spc="100" kern="0" dirty="0">
                <a:solidFill>
                  <a:srgbClr val="EA580C"/>
                </a:solidFill>
                <a:latin typeface="Calibri" pitchFamily="34" charset="0"/>
                <a:ea typeface="Calibri" pitchFamily="34" charset="-122"/>
                <a:cs typeface="Calibri" pitchFamily="34" charset="-120"/>
              </a:rPr>
              <a:t>WHAT NEVER HAPPENS</a:t>
            </a:r>
            <a:endParaRPr lang="en-US" sz="1100" dirty="0"/>
          </a:p>
        </p:txBody>
      </p:sp>
      <p:sp>
        <p:nvSpPr>
          <p:cNvPr id="41" name="Text 33"/>
          <p:cNvSpPr/>
          <p:nvPr/>
        </p:nvSpPr>
        <p:spPr>
          <a:xfrm>
            <a:off x="8211312" y="3621024"/>
            <a:ext cx="3355848" cy="2121408"/>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A direct push to main</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A branch deleted before finish</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A version field moved by the wrong command</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A feature shipped without Release Manager approval</a:t>
            </a:r>
            <a:endParaRPr lang="en-US" sz="1150" dirty="0"/>
          </a:p>
        </p:txBody>
      </p:sp>
      <p:sp>
        <p:nvSpPr>
          <p:cNvPr id="42" name="Text 34"/>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43" name="Text 35"/>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Command Cheat Sheet</a:t>
            </a:r>
            <a:endParaRPr lang="en-US" sz="3000" dirty="0"/>
          </a:p>
        </p:txBody>
      </p:sp>
      <p:sp>
        <p:nvSpPr>
          <p:cNvPr id="4" name="Shape 2"/>
          <p:cNvSpPr/>
          <p:nvPr/>
        </p:nvSpPr>
        <p:spPr>
          <a:xfrm>
            <a:off x="457200" y="1234440"/>
            <a:ext cx="11274552" cy="365760"/>
          </a:xfrm>
          <a:prstGeom prst="roundRect">
            <a:avLst>
              <a:gd name="adj" fmla="val 10000"/>
            </a:avLst>
          </a:prstGeom>
          <a:solidFill>
            <a:srgbClr val="1E2761"/>
          </a:solidFill>
          <a:ln w="12700">
            <a:solidFill>
              <a:srgbClr val="1E2761"/>
            </a:solidFill>
            <a:prstDash val="solid"/>
          </a:ln>
        </p:spPr>
      </p:sp>
      <p:sp>
        <p:nvSpPr>
          <p:cNvPr id="5" name="Text 3"/>
          <p:cNvSpPr/>
          <p:nvPr/>
        </p:nvSpPr>
        <p:spPr>
          <a:xfrm>
            <a:off x="566928" y="1280160"/>
            <a:ext cx="44805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Command</a:t>
            </a:r>
            <a:endParaRPr lang="en-US" sz="1100" dirty="0"/>
          </a:p>
        </p:txBody>
      </p:sp>
      <p:sp>
        <p:nvSpPr>
          <p:cNvPr id="6" name="Text 4"/>
          <p:cNvSpPr/>
          <p:nvPr/>
        </p:nvSpPr>
        <p:spPr>
          <a:xfrm>
            <a:off x="5230368" y="1280160"/>
            <a:ext cx="192024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Role</a:t>
            </a:r>
            <a:endParaRPr lang="en-US" sz="1100" dirty="0"/>
          </a:p>
        </p:txBody>
      </p:sp>
      <p:sp>
        <p:nvSpPr>
          <p:cNvPr id="7" name="Text 5"/>
          <p:cNvSpPr/>
          <p:nvPr/>
        </p:nvSpPr>
        <p:spPr>
          <a:xfrm>
            <a:off x="7333488" y="1280160"/>
            <a:ext cx="432511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8" name="Text 6"/>
          <p:cNvSpPr/>
          <p:nvPr/>
        </p:nvSpPr>
        <p:spPr>
          <a:xfrm>
            <a:off x="566928" y="1618488"/>
            <a:ext cx="4480560" cy="297180"/>
          </a:xfrm>
          <a:prstGeom prst="rect">
            <a:avLst/>
          </a:prstGeom>
          <a:noFill/>
          <a:ln/>
        </p:spPr>
        <p:txBody>
          <a:bodyPr wrap="square" lIns="0" tIns="0" rIns="0" bIns="0" rtlCol="0" anchor="ctr"/>
          <a:lstStyle/>
          <a:p>
            <a:pPr indent="0" marL="0">
              <a:buNone/>
            </a:pPr>
            <a:r>
              <a:rPr lang="en-US" sz="1050" dirty="0">
                <a:solidFill>
                  <a:srgbClr val="7C3AED"/>
                </a:solidFill>
                <a:latin typeface="Courier New" pitchFamily="34" charset="0"/>
                <a:ea typeface="Courier New" pitchFamily="34" charset="-122"/>
                <a:cs typeface="Courier New" pitchFamily="34" charset="-120"/>
              </a:rPr>
              <a:t>git flow init</a:t>
            </a:r>
            <a:endParaRPr lang="en-US" sz="1050" dirty="0"/>
          </a:p>
        </p:txBody>
      </p:sp>
      <p:sp>
        <p:nvSpPr>
          <p:cNvPr id="9" name="Text 7"/>
          <p:cNvSpPr/>
          <p:nvPr/>
        </p:nvSpPr>
        <p:spPr>
          <a:xfrm>
            <a:off x="5230368" y="1618488"/>
            <a:ext cx="1920240" cy="297180"/>
          </a:xfrm>
          <a:prstGeom prst="rect">
            <a:avLst/>
          </a:prstGeom>
          <a:noFill/>
          <a:ln/>
        </p:spPr>
        <p:txBody>
          <a:bodyPr wrap="square" lIns="0" tIns="0" rIns="0" bIns="0" rtlCol="0" anchor="ctr"/>
          <a:lstStyle/>
          <a:p>
            <a:pPr indent="0" marL="0">
              <a:buNone/>
            </a:pPr>
            <a:r>
              <a:rPr lang="en-US" sz="1050" b="1" dirty="0">
                <a:solidFill>
                  <a:srgbClr val="2563EB"/>
                </a:solidFill>
                <a:latin typeface="Calibri" pitchFamily="34" charset="0"/>
                <a:ea typeface="Calibri" pitchFamily="34" charset="-122"/>
                <a:cs typeface="Calibri" pitchFamily="34" charset="-120"/>
              </a:rPr>
              <a:t>Anyone</a:t>
            </a:r>
            <a:endParaRPr lang="en-US" sz="1050" dirty="0"/>
          </a:p>
        </p:txBody>
      </p:sp>
      <p:sp>
        <p:nvSpPr>
          <p:cNvPr id="10" name="Text 8"/>
          <p:cNvSpPr/>
          <p:nvPr/>
        </p:nvSpPr>
        <p:spPr>
          <a:xfrm>
            <a:off x="7333488" y="1618488"/>
            <a:ext cx="4325112" cy="29718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Initialize main/staging/develop in a repo</a:t>
            </a:r>
            <a:endParaRPr lang="en-US" sz="1050" dirty="0"/>
          </a:p>
        </p:txBody>
      </p:sp>
      <p:sp>
        <p:nvSpPr>
          <p:cNvPr id="11" name="Shape 9"/>
          <p:cNvSpPr/>
          <p:nvPr/>
        </p:nvSpPr>
        <p:spPr>
          <a:xfrm>
            <a:off x="457200" y="1933956"/>
            <a:ext cx="11274552" cy="333756"/>
          </a:xfrm>
          <a:prstGeom prst="rect">
            <a:avLst/>
          </a:prstGeom>
          <a:solidFill>
            <a:srgbClr val="F3F4F6"/>
          </a:solidFill>
          <a:ln w="12700">
            <a:solidFill>
              <a:srgbClr val="F3F4F6"/>
            </a:solidFill>
            <a:prstDash val="solid"/>
          </a:ln>
        </p:spPr>
      </p:sp>
      <p:sp>
        <p:nvSpPr>
          <p:cNvPr id="12" name="Text 10"/>
          <p:cNvSpPr/>
          <p:nvPr/>
        </p:nvSpPr>
        <p:spPr>
          <a:xfrm>
            <a:off x="566928" y="1952244"/>
            <a:ext cx="4480560" cy="297180"/>
          </a:xfrm>
          <a:prstGeom prst="rect">
            <a:avLst/>
          </a:prstGeom>
          <a:noFill/>
          <a:ln/>
        </p:spPr>
        <p:txBody>
          <a:bodyPr wrap="square" lIns="0" tIns="0" rIns="0" bIns="0" rtlCol="0" anchor="ctr"/>
          <a:lstStyle/>
          <a:p>
            <a:pPr indent="0" marL="0">
              <a:buNone/>
            </a:pPr>
            <a:r>
              <a:rPr lang="en-US" sz="1050" dirty="0">
                <a:solidFill>
                  <a:srgbClr val="7C3AED"/>
                </a:solidFill>
                <a:latin typeface="Courier New" pitchFamily="34" charset="0"/>
                <a:ea typeface="Courier New" pitchFamily="34" charset="-122"/>
                <a:cs typeface="Courier New" pitchFamily="34" charset="-120"/>
              </a:rPr>
              <a:t>git flow feature start NAME</a:t>
            </a:r>
            <a:endParaRPr lang="en-US" sz="1050" dirty="0"/>
          </a:p>
        </p:txBody>
      </p:sp>
      <p:sp>
        <p:nvSpPr>
          <p:cNvPr id="13" name="Text 11"/>
          <p:cNvSpPr/>
          <p:nvPr/>
        </p:nvSpPr>
        <p:spPr>
          <a:xfrm>
            <a:off x="5230368" y="1952244"/>
            <a:ext cx="1920240" cy="297180"/>
          </a:xfrm>
          <a:prstGeom prst="rect">
            <a:avLst/>
          </a:prstGeom>
          <a:noFill/>
          <a:ln/>
        </p:spPr>
        <p:txBody>
          <a:bodyPr wrap="square" lIns="0" tIns="0" rIns="0" bIns="0" rtlCol="0" anchor="ctr"/>
          <a:lstStyle/>
          <a:p>
            <a:pPr indent="0" marL="0">
              <a:buNone/>
            </a:pPr>
            <a:r>
              <a:rPr lang="en-US" sz="1050" b="1" dirty="0">
                <a:solidFill>
                  <a:srgbClr val="2563EB"/>
                </a:solidFill>
                <a:latin typeface="Calibri" pitchFamily="34" charset="0"/>
                <a:ea typeface="Calibri" pitchFamily="34" charset="-122"/>
                <a:cs typeface="Calibri" pitchFamily="34" charset="-120"/>
              </a:rPr>
              <a:t>Developer</a:t>
            </a:r>
            <a:endParaRPr lang="en-US" sz="1050" dirty="0"/>
          </a:p>
        </p:txBody>
      </p:sp>
      <p:sp>
        <p:nvSpPr>
          <p:cNvPr id="14" name="Text 12"/>
          <p:cNvSpPr/>
          <p:nvPr/>
        </p:nvSpPr>
        <p:spPr>
          <a:xfrm>
            <a:off x="7333488" y="1952244"/>
            <a:ext cx="4325112" cy="29718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Branch a feature from staging</a:t>
            </a:r>
            <a:endParaRPr lang="en-US" sz="1050" dirty="0"/>
          </a:p>
        </p:txBody>
      </p:sp>
      <p:sp>
        <p:nvSpPr>
          <p:cNvPr id="15" name="Text 13"/>
          <p:cNvSpPr/>
          <p:nvPr/>
        </p:nvSpPr>
        <p:spPr>
          <a:xfrm>
            <a:off x="566928" y="2286000"/>
            <a:ext cx="4480560" cy="297180"/>
          </a:xfrm>
          <a:prstGeom prst="rect">
            <a:avLst/>
          </a:prstGeom>
          <a:noFill/>
          <a:ln/>
        </p:spPr>
        <p:txBody>
          <a:bodyPr wrap="square" lIns="0" tIns="0" rIns="0" bIns="0" rtlCol="0" anchor="ctr"/>
          <a:lstStyle/>
          <a:p>
            <a:pPr indent="0" marL="0">
              <a:buNone/>
            </a:pPr>
            <a:r>
              <a:rPr lang="en-US" sz="1050" dirty="0">
                <a:solidFill>
                  <a:srgbClr val="7C3AED"/>
                </a:solidFill>
                <a:latin typeface="Courier New" pitchFamily="34" charset="0"/>
                <a:ea typeface="Courier New" pitchFamily="34" charset="-122"/>
                <a:cs typeface="Courier New" pitchFamily="34" charset="-120"/>
              </a:rPr>
              <a:t>git flow releasefix start NAME</a:t>
            </a:r>
            <a:endParaRPr lang="en-US" sz="1050" dirty="0"/>
          </a:p>
        </p:txBody>
      </p:sp>
      <p:sp>
        <p:nvSpPr>
          <p:cNvPr id="16" name="Text 14"/>
          <p:cNvSpPr/>
          <p:nvPr/>
        </p:nvSpPr>
        <p:spPr>
          <a:xfrm>
            <a:off x="5230368" y="2286000"/>
            <a:ext cx="1920240" cy="297180"/>
          </a:xfrm>
          <a:prstGeom prst="rect">
            <a:avLst/>
          </a:prstGeom>
          <a:noFill/>
          <a:ln/>
        </p:spPr>
        <p:txBody>
          <a:bodyPr wrap="square" lIns="0" tIns="0" rIns="0" bIns="0" rtlCol="0" anchor="ctr"/>
          <a:lstStyle/>
          <a:p>
            <a:pPr indent="0" marL="0">
              <a:buNone/>
            </a:pPr>
            <a:r>
              <a:rPr lang="en-US" sz="1050" b="1" dirty="0">
                <a:solidFill>
                  <a:srgbClr val="2563EB"/>
                </a:solidFill>
                <a:latin typeface="Calibri" pitchFamily="34" charset="0"/>
                <a:ea typeface="Calibri" pitchFamily="34" charset="-122"/>
                <a:cs typeface="Calibri" pitchFamily="34" charset="-120"/>
              </a:rPr>
              <a:t>Developer</a:t>
            </a:r>
            <a:endParaRPr lang="en-US" sz="1050" dirty="0"/>
          </a:p>
        </p:txBody>
      </p:sp>
      <p:sp>
        <p:nvSpPr>
          <p:cNvPr id="17" name="Text 15"/>
          <p:cNvSpPr/>
          <p:nvPr/>
        </p:nvSpPr>
        <p:spPr>
          <a:xfrm>
            <a:off x="7333488" y="2286000"/>
            <a:ext cx="4325112" cy="29718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Branch a release fix from staging</a:t>
            </a:r>
            <a:endParaRPr lang="en-US" sz="1050" dirty="0"/>
          </a:p>
        </p:txBody>
      </p:sp>
      <p:sp>
        <p:nvSpPr>
          <p:cNvPr id="18" name="Shape 16"/>
          <p:cNvSpPr/>
          <p:nvPr/>
        </p:nvSpPr>
        <p:spPr>
          <a:xfrm>
            <a:off x="457200" y="2601468"/>
            <a:ext cx="11274552" cy="333756"/>
          </a:xfrm>
          <a:prstGeom prst="rect">
            <a:avLst/>
          </a:prstGeom>
          <a:solidFill>
            <a:srgbClr val="F3F4F6"/>
          </a:solidFill>
          <a:ln w="12700">
            <a:solidFill>
              <a:srgbClr val="F3F4F6"/>
            </a:solidFill>
            <a:prstDash val="solid"/>
          </a:ln>
        </p:spPr>
      </p:sp>
      <p:sp>
        <p:nvSpPr>
          <p:cNvPr id="19" name="Text 17"/>
          <p:cNvSpPr/>
          <p:nvPr/>
        </p:nvSpPr>
        <p:spPr>
          <a:xfrm>
            <a:off x="566928" y="2619756"/>
            <a:ext cx="4480560" cy="297180"/>
          </a:xfrm>
          <a:prstGeom prst="rect">
            <a:avLst/>
          </a:prstGeom>
          <a:noFill/>
          <a:ln/>
        </p:spPr>
        <p:txBody>
          <a:bodyPr wrap="square" lIns="0" tIns="0" rIns="0" bIns="0" rtlCol="0" anchor="ctr"/>
          <a:lstStyle/>
          <a:p>
            <a:pPr indent="0" marL="0">
              <a:buNone/>
            </a:pPr>
            <a:r>
              <a:rPr lang="en-US" sz="1050" dirty="0">
                <a:solidFill>
                  <a:srgbClr val="7C3AED"/>
                </a:solidFill>
                <a:latin typeface="Courier New" pitchFamily="34" charset="0"/>
                <a:ea typeface="Courier New" pitchFamily="34" charset="-122"/>
                <a:cs typeface="Courier New" pitchFamily="34" charset="-120"/>
              </a:rPr>
              <a:t>git flow releasefix finish NAME</a:t>
            </a:r>
            <a:endParaRPr lang="en-US" sz="1050" dirty="0"/>
          </a:p>
        </p:txBody>
      </p:sp>
      <p:sp>
        <p:nvSpPr>
          <p:cNvPr id="20" name="Text 18"/>
          <p:cNvSpPr/>
          <p:nvPr/>
        </p:nvSpPr>
        <p:spPr>
          <a:xfrm>
            <a:off x="5230368" y="2619756"/>
            <a:ext cx="1920240" cy="297180"/>
          </a:xfrm>
          <a:prstGeom prst="rect">
            <a:avLst/>
          </a:prstGeom>
          <a:noFill/>
          <a:ln/>
        </p:spPr>
        <p:txBody>
          <a:bodyPr wrap="square" lIns="0" tIns="0" rIns="0" bIns="0" rtlCol="0" anchor="ctr"/>
          <a:lstStyle/>
          <a:p>
            <a:pPr indent="0" marL="0">
              <a:buNone/>
            </a:pPr>
            <a:r>
              <a:rPr lang="en-US" sz="1050" b="1" dirty="0">
                <a:solidFill>
                  <a:srgbClr val="2563EB"/>
                </a:solidFill>
                <a:latin typeface="Calibri" pitchFamily="34" charset="0"/>
                <a:ea typeface="Calibri" pitchFamily="34" charset="-122"/>
                <a:cs typeface="Calibri" pitchFamily="34" charset="-120"/>
              </a:rPr>
              <a:t>Developer</a:t>
            </a:r>
            <a:endParaRPr lang="en-US" sz="1050" dirty="0"/>
          </a:p>
        </p:txBody>
      </p:sp>
      <p:sp>
        <p:nvSpPr>
          <p:cNvPr id="21" name="Text 19"/>
          <p:cNvSpPr/>
          <p:nvPr/>
        </p:nvSpPr>
        <p:spPr>
          <a:xfrm>
            <a:off x="7333488" y="2619756"/>
            <a:ext cx="4325112" cy="29718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Merge a release fix into staging</a:t>
            </a:r>
            <a:endParaRPr lang="en-US" sz="1050" dirty="0"/>
          </a:p>
        </p:txBody>
      </p:sp>
      <p:sp>
        <p:nvSpPr>
          <p:cNvPr id="22" name="Text 20"/>
          <p:cNvSpPr/>
          <p:nvPr/>
        </p:nvSpPr>
        <p:spPr>
          <a:xfrm>
            <a:off x="566928" y="2953512"/>
            <a:ext cx="4480560" cy="297180"/>
          </a:xfrm>
          <a:prstGeom prst="rect">
            <a:avLst/>
          </a:prstGeom>
          <a:noFill/>
          <a:ln/>
        </p:spPr>
        <p:txBody>
          <a:bodyPr wrap="square" lIns="0" tIns="0" rIns="0" bIns="0" rtlCol="0" anchor="ctr"/>
          <a:lstStyle/>
          <a:p>
            <a:pPr indent="0" marL="0">
              <a:buNone/>
            </a:pPr>
            <a:r>
              <a:rPr lang="en-US" sz="1050" dirty="0">
                <a:solidFill>
                  <a:srgbClr val="7C3AED"/>
                </a:solidFill>
                <a:latin typeface="Courier New" pitchFamily="34" charset="0"/>
                <a:ea typeface="Courier New" pitchFamily="34" charset="-122"/>
                <a:cs typeface="Courier New" pitchFamily="34" charset="-120"/>
              </a:rPr>
              <a:t>git flow devops start / finish NAME</a:t>
            </a:r>
            <a:endParaRPr lang="en-US" sz="1050" dirty="0"/>
          </a:p>
        </p:txBody>
      </p:sp>
      <p:sp>
        <p:nvSpPr>
          <p:cNvPr id="23" name="Text 21"/>
          <p:cNvSpPr/>
          <p:nvPr/>
        </p:nvSpPr>
        <p:spPr>
          <a:xfrm>
            <a:off x="5230368" y="2953512"/>
            <a:ext cx="1920240" cy="297180"/>
          </a:xfrm>
          <a:prstGeom prst="rect">
            <a:avLst/>
          </a:prstGeom>
          <a:noFill/>
          <a:ln/>
        </p:spPr>
        <p:txBody>
          <a:bodyPr wrap="square" lIns="0" tIns="0" rIns="0" bIns="0" rtlCol="0" anchor="ctr"/>
          <a:lstStyle/>
          <a:p>
            <a:pPr indent="0" marL="0">
              <a:buNone/>
            </a:pPr>
            <a:r>
              <a:rPr lang="en-US" sz="1050" b="1" dirty="0">
                <a:solidFill>
                  <a:srgbClr val="2563EB"/>
                </a:solidFill>
                <a:latin typeface="Calibri" pitchFamily="34" charset="0"/>
                <a:ea typeface="Calibri" pitchFamily="34" charset="-122"/>
                <a:cs typeface="Calibri" pitchFamily="34" charset="-120"/>
              </a:rPr>
              <a:t>DevOps</a:t>
            </a:r>
            <a:endParaRPr lang="en-US" sz="1050" dirty="0"/>
          </a:p>
        </p:txBody>
      </p:sp>
      <p:sp>
        <p:nvSpPr>
          <p:cNvPr id="24" name="Text 22"/>
          <p:cNvSpPr/>
          <p:nvPr/>
        </p:nvSpPr>
        <p:spPr>
          <a:xfrm>
            <a:off x="7333488" y="2953512"/>
            <a:ext cx="4325112" cy="29718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Branch/merge infra changes via staging</a:t>
            </a:r>
            <a:endParaRPr lang="en-US" sz="1050" dirty="0"/>
          </a:p>
        </p:txBody>
      </p:sp>
      <p:sp>
        <p:nvSpPr>
          <p:cNvPr id="25" name="Shape 23"/>
          <p:cNvSpPr/>
          <p:nvPr/>
        </p:nvSpPr>
        <p:spPr>
          <a:xfrm>
            <a:off x="457200" y="3268980"/>
            <a:ext cx="11274552" cy="333756"/>
          </a:xfrm>
          <a:prstGeom prst="rect">
            <a:avLst/>
          </a:prstGeom>
          <a:solidFill>
            <a:srgbClr val="F3F4F6"/>
          </a:solidFill>
          <a:ln w="12700">
            <a:solidFill>
              <a:srgbClr val="F3F4F6"/>
            </a:solidFill>
            <a:prstDash val="solid"/>
          </a:ln>
        </p:spPr>
      </p:sp>
      <p:sp>
        <p:nvSpPr>
          <p:cNvPr id="26" name="Text 24"/>
          <p:cNvSpPr/>
          <p:nvPr/>
        </p:nvSpPr>
        <p:spPr>
          <a:xfrm>
            <a:off x="566928" y="3287268"/>
            <a:ext cx="4480560" cy="297180"/>
          </a:xfrm>
          <a:prstGeom prst="rect">
            <a:avLst/>
          </a:prstGeom>
          <a:noFill/>
          <a:ln/>
        </p:spPr>
        <p:txBody>
          <a:bodyPr wrap="square" lIns="0" tIns="0" rIns="0" bIns="0" rtlCol="0" anchor="ctr"/>
          <a:lstStyle/>
          <a:p>
            <a:pPr indent="0" marL="0">
              <a:buNone/>
            </a:pPr>
            <a:r>
              <a:rPr lang="en-US" sz="1050" dirty="0">
                <a:solidFill>
                  <a:srgbClr val="7C3AED"/>
                </a:solidFill>
                <a:latin typeface="Courier New" pitchFamily="34" charset="0"/>
                <a:ea typeface="Courier New" pitchFamily="34" charset="-122"/>
                <a:cs typeface="Courier New" pitchFamily="34" charset="-120"/>
              </a:rPr>
              <a:t>git flow release start SPRINT</a:t>
            </a:r>
            <a:endParaRPr lang="en-US" sz="1050" dirty="0"/>
          </a:p>
        </p:txBody>
      </p:sp>
      <p:sp>
        <p:nvSpPr>
          <p:cNvPr id="27" name="Text 25"/>
          <p:cNvSpPr/>
          <p:nvPr/>
        </p:nvSpPr>
        <p:spPr>
          <a:xfrm>
            <a:off x="5230368" y="3287268"/>
            <a:ext cx="1920240" cy="297180"/>
          </a:xfrm>
          <a:prstGeom prst="rect">
            <a:avLst/>
          </a:prstGeom>
          <a:noFill/>
          <a:ln/>
        </p:spPr>
        <p:txBody>
          <a:bodyPr wrap="square" lIns="0" tIns="0" rIns="0" bIns="0" rtlCol="0" anchor="ctr"/>
          <a:lstStyle/>
          <a:p>
            <a:pPr indent="0" marL="0">
              <a:buNone/>
            </a:pPr>
            <a:r>
              <a:rPr lang="en-US" sz="1050" b="1" dirty="0">
                <a:solidFill>
                  <a:srgbClr val="2563EB"/>
                </a:solidFill>
                <a:latin typeface="Calibri" pitchFamily="34" charset="0"/>
                <a:ea typeface="Calibri" pitchFamily="34" charset="-122"/>
                <a:cs typeface="Calibri" pitchFamily="34" charset="-120"/>
              </a:rPr>
              <a:t>Release Manager</a:t>
            </a:r>
            <a:endParaRPr lang="en-US" sz="1050" dirty="0"/>
          </a:p>
        </p:txBody>
      </p:sp>
      <p:sp>
        <p:nvSpPr>
          <p:cNvPr id="28" name="Text 26"/>
          <p:cNvSpPr/>
          <p:nvPr/>
        </p:nvSpPr>
        <p:spPr>
          <a:xfrm>
            <a:off x="7333488" y="3287268"/>
            <a:ext cx="4325112" cy="29718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Open a new release manifest</a:t>
            </a:r>
            <a:endParaRPr lang="en-US" sz="1050" dirty="0"/>
          </a:p>
        </p:txBody>
      </p:sp>
      <p:sp>
        <p:nvSpPr>
          <p:cNvPr id="29" name="Text 27"/>
          <p:cNvSpPr/>
          <p:nvPr/>
        </p:nvSpPr>
        <p:spPr>
          <a:xfrm>
            <a:off x="566928" y="3621024"/>
            <a:ext cx="4480560" cy="297180"/>
          </a:xfrm>
          <a:prstGeom prst="rect">
            <a:avLst/>
          </a:prstGeom>
          <a:noFill/>
          <a:ln/>
        </p:spPr>
        <p:txBody>
          <a:bodyPr wrap="square" lIns="0" tIns="0" rIns="0" bIns="0" rtlCol="0" anchor="ctr"/>
          <a:lstStyle/>
          <a:p>
            <a:pPr indent="0" marL="0">
              <a:buNone/>
            </a:pPr>
            <a:r>
              <a:rPr lang="en-US" sz="1050" dirty="0">
                <a:solidFill>
                  <a:srgbClr val="7C3AED"/>
                </a:solidFill>
                <a:latin typeface="Courier New" pitchFamily="34" charset="0"/>
                <a:ea typeface="Courier New" pitchFamily="34" charset="-122"/>
                <a:cs typeface="Courier New" pitchFamily="34" charset="-120"/>
              </a:rPr>
              <a:t>git flow release feature list</a:t>
            </a:r>
            <a:endParaRPr lang="en-US" sz="1050" dirty="0"/>
          </a:p>
        </p:txBody>
      </p:sp>
      <p:sp>
        <p:nvSpPr>
          <p:cNvPr id="30" name="Text 28"/>
          <p:cNvSpPr/>
          <p:nvPr/>
        </p:nvSpPr>
        <p:spPr>
          <a:xfrm>
            <a:off x="5230368" y="3621024"/>
            <a:ext cx="1920240" cy="297180"/>
          </a:xfrm>
          <a:prstGeom prst="rect">
            <a:avLst/>
          </a:prstGeom>
          <a:noFill/>
          <a:ln/>
        </p:spPr>
        <p:txBody>
          <a:bodyPr wrap="square" lIns="0" tIns="0" rIns="0" bIns="0" rtlCol="0" anchor="ctr"/>
          <a:lstStyle/>
          <a:p>
            <a:pPr indent="0" marL="0">
              <a:buNone/>
            </a:pPr>
            <a:r>
              <a:rPr lang="en-US" sz="1050" b="1" dirty="0">
                <a:solidFill>
                  <a:srgbClr val="2563EB"/>
                </a:solidFill>
                <a:latin typeface="Calibri" pitchFamily="34" charset="0"/>
                <a:ea typeface="Calibri" pitchFamily="34" charset="-122"/>
                <a:cs typeface="Calibri" pitchFamily="34" charset="-120"/>
              </a:rPr>
              <a:t>Release Manager</a:t>
            </a:r>
            <a:endParaRPr lang="en-US" sz="1050" dirty="0"/>
          </a:p>
        </p:txBody>
      </p:sp>
      <p:sp>
        <p:nvSpPr>
          <p:cNvPr id="31" name="Text 29"/>
          <p:cNvSpPr/>
          <p:nvPr/>
        </p:nvSpPr>
        <p:spPr>
          <a:xfrm>
            <a:off x="7333488" y="3621024"/>
            <a:ext cx="4325112" cy="29718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Show Approved features awaiting merge</a:t>
            </a:r>
            <a:endParaRPr lang="en-US" sz="1050" dirty="0"/>
          </a:p>
        </p:txBody>
      </p:sp>
      <p:sp>
        <p:nvSpPr>
          <p:cNvPr id="32" name="Shape 30"/>
          <p:cNvSpPr/>
          <p:nvPr/>
        </p:nvSpPr>
        <p:spPr>
          <a:xfrm>
            <a:off x="457200" y="3936492"/>
            <a:ext cx="11274552" cy="333756"/>
          </a:xfrm>
          <a:prstGeom prst="rect">
            <a:avLst/>
          </a:prstGeom>
          <a:solidFill>
            <a:srgbClr val="F3F4F6"/>
          </a:solidFill>
          <a:ln w="12700">
            <a:solidFill>
              <a:srgbClr val="F3F4F6"/>
            </a:solidFill>
            <a:prstDash val="solid"/>
          </a:ln>
        </p:spPr>
      </p:sp>
      <p:sp>
        <p:nvSpPr>
          <p:cNvPr id="33" name="Text 31"/>
          <p:cNvSpPr/>
          <p:nvPr/>
        </p:nvSpPr>
        <p:spPr>
          <a:xfrm>
            <a:off x="566928" y="3954780"/>
            <a:ext cx="4480560" cy="297180"/>
          </a:xfrm>
          <a:prstGeom prst="rect">
            <a:avLst/>
          </a:prstGeom>
          <a:noFill/>
          <a:ln/>
        </p:spPr>
        <p:txBody>
          <a:bodyPr wrap="square" lIns="0" tIns="0" rIns="0" bIns="0" rtlCol="0" anchor="ctr"/>
          <a:lstStyle/>
          <a:p>
            <a:pPr indent="0" marL="0">
              <a:buNone/>
            </a:pPr>
            <a:r>
              <a:rPr lang="en-US" sz="1050" dirty="0">
                <a:solidFill>
                  <a:srgbClr val="7C3AED"/>
                </a:solidFill>
                <a:latin typeface="Courier New" pitchFamily="34" charset="0"/>
                <a:ea typeface="Courier New" pitchFamily="34" charset="-122"/>
                <a:cs typeface="Courier New" pitchFamily="34" charset="-120"/>
              </a:rPr>
              <a:t>git flow release feature approve NAME</a:t>
            </a:r>
            <a:endParaRPr lang="en-US" sz="1050" dirty="0"/>
          </a:p>
        </p:txBody>
      </p:sp>
      <p:sp>
        <p:nvSpPr>
          <p:cNvPr id="34" name="Text 32"/>
          <p:cNvSpPr/>
          <p:nvPr/>
        </p:nvSpPr>
        <p:spPr>
          <a:xfrm>
            <a:off x="5230368" y="3954780"/>
            <a:ext cx="1920240" cy="297180"/>
          </a:xfrm>
          <a:prstGeom prst="rect">
            <a:avLst/>
          </a:prstGeom>
          <a:noFill/>
          <a:ln/>
        </p:spPr>
        <p:txBody>
          <a:bodyPr wrap="square" lIns="0" tIns="0" rIns="0" bIns="0" rtlCol="0" anchor="ctr"/>
          <a:lstStyle/>
          <a:p>
            <a:pPr indent="0" marL="0">
              <a:buNone/>
            </a:pPr>
            <a:r>
              <a:rPr lang="en-US" sz="1050" b="1" dirty="0">
                <a:solidFill>
                  <a:srgbClr val="2563EB"/>
                </a:solidFill>
                <a:latin typeface="Calibri" pitchFamily="34" charset="0"/>
                <a:ea typeface="Calibri" pitchFamily="34" charset="-122"/>
                <a:cs typeface="Calibri" pitchFamily="34" charset="-120"/>
              </a:rPr>
              <a:t>Release Manager</a:t>
            </a:r>
            <a:endParaRPr lang="en-US" sz="1050" dirty="0"/>
          </a:p>
        </p:txBody>
      </p:sp>
      <p:sp>
        <p:nvSpPr>
          <p:cNvPr id="35" name="Text 33"/>
          <p:cNvSpPr/>
          <p:nvPr/>
        </p:nvSpPr>
        <p:spPr>
          <a:xfrm>
            <a:off x="7333488" y="3954780"/>
            <a:ext cx="4325112" cy="29718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Mark a feature ready to merge</a:t>
            </a:r>
            <a:endParaRPr lang="en-US" sz="1050" dirty="0"/>
          </a:p>
        </p:txBody>
      </p:sp>
      <p:sp>
        <p:nvSpPr>
          <p:cNvPr id="36" name="Text 34"/>
          <p:cNvSpPr/>
          <p:nvPr/>
        </p:nvSpPr>
        <p:spPr>
          <a:xfrm>
            <a:off x="566928" y="4288536"/>
            <a:ext cx="4480560" cy="297180"/>
          </a:xfrm>
          <a:prstGeom prst="rect">
            <a:avLst/>
          </a:prstGeom>
          <a:noFill/>
          <a:ln/>
        </p:spPr>
        <p:txBody>
          <a:bodyPr wrap="square" lIns="0" tIns="0" rIns="0" bIns="0" rtlCol="0" anchor="ctr"/>
          <a:lstStyle/>
          <a:p>
            <a:pPr indent="0" marL="0">
              <a:buNone/>
            </a:pPr>
            <a:r>
              <a:rPr lang="en-US" sz="1050" dirty="0">
                <a:solidFill>
                  <a:srgbClr val="7C3AED"/>
                </a:solidFill>
                <a:latin typeface="Courier New" pitchFamily="34" charset="0"/>
                <a:ea typeface="Courier New" pitchFamily="34" charset="-122"/>
                <a:cs typeface="Courier New" pitchFamily="34" charset="-120"/>
              </a:rPr>
              <a:t>git flow release feature add NAME</a:t>
            </a:r>
            <a:endParaRPr lang="en-US" sz="1050" dirty="0"/>
          </a:p>
        </p:txBody>
      </p:sp>
      <p:sp>
        <p:nvSpPr>
          <p:cNvPr id="37" name="Text 35"/>
          <p:cNvSpPr/>
          <p:nvPr/>
        </p:nvSpPr>
        <p:spPr>
          <a:xfrm>
            <a:off x="5230368" y="4288536"/>
            <a:ext cx="1920240" cy="297180"/>
          </a:xfrm>
          <a:prstGeom prst="rect">
            <a:avLst/>
          </a:prstGeom>
          <a:noFill/>
          <a:ln/>
        </p:spPr>
        <p:txBody>
          <a:bodyPr wrap="square" lIns="0" tIns="0" rIns="0" bIns="0" rtlCol="0" anchor="ctr"/>
          <a:lstStyle/>
          <a:p>
            <a:pPr indent="0" marL="0">
              <a:buNone/>
            </a:pPr>
            <a:r>
              <a:rPr lang="en-US" sz="1050" b="1" dirty="0">
                <a:solidFill>
                  <a:srgbClr val="2563EB"/>
                </a:solidFill>
                <a:latin typeface="Calibri" pitchFamily="34" charset="0"/>
                <a:ea typeface="Calibri" pitchFamily="34" charset="-122"/>
                <a:cs typeface="Calibri" pitchFamily="34" charset="-120"/>
              </a:rPr>
              <a:t>Release Manager</a:t>
            </a:r>
            <a:endParaRPr lang="en-US" sz="1050" dirty="0"/>
          </a:p>
        </p:txBody>
      </p:sp>
      <p:sp>
        <p:nvSpPr>
          <p:cNvPr id="38" name="Text 36"/>
          <p:cNvSpPr/>
          <p:nvPr/>
        </p:nvSpPr>
        <p:spPr>
          <a:xfrm>
            <a:off x="7333488" y="4288536"/>
            <a:ext cx="4325112" cy="29718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Real merge into staging (safe to re-run)</a:t>
            </a:r>
            <a:endParaRPr lang="en-US" sz="1050" dirty="0"/>
          </a:p>
        </p:txBody>
      </p:sp>
      <p:sp>
        <p:nvSpPr>
          <p:cNvPr id="39" name="Shape 37"/>
          <p:cNvSpPr/>
          <p:nvPr/>
        </p:nvSpPr>
        <p:spPr>
          <a:xfrm>
            <a:off x="457200" y="4604004"/>
            <a:ext cx="11274552" cy="333756"/>
          </a:xfrm>
          <a:prstGeom prst="rect">
            <a:avLst/>
          </a:prstGeom>
          <a:solidFill>
            <a:srgbClr val="F3F4F6"/>
          </a:solidFill>
          <a:ln w="12700">
            <a:solidFill>
              <a:srgbClr val="F3F4F6"/>
            </a:solidFill>
            <a:prstDash val="solid"/>
          </a:ln>
        </p:spPr>
      </p:sp>
      <p:sp>
        <p:nvSpPr>
          <p:cNvPr id="40" name="Text 38"/>
          <p:cNvSpPr/>
          <p:nvPr/>
        </p:nvSpPr>
        <p:spPr>
          <a:xfrm>
            <a:off x="566928" y="4622292"/>
            <a:ext cx="4480560" cy="297180"/>
          </a:xfrm>
          <a:prstGeom prst="rect">
            <a:avLst/>
          </a:prstGeom>
          <a:noFill/>
          <a:ln/>
        </p:spPr>
        <p:txBody>
          <a:bodyPr wrap="square" lIns="0" tIns="0" rIns="0" bIns="0" rtlCol="0" anchor="ctr"/>
          <a:lstStyle/>
          <a:p>
            <a:pPr indent="0" marL="0">
              <a:buNone/>
            </a:pPr>
            <a:r>
              <a:rPr lang="en-US" sz="1050" dirty="0">
                <a:solidFill>
                  <a:srgbClr val="7C3AED"/>
                </a:solidFill>
                <a:latin typeface="Courier New" pitchFamily="34" charset="0"/>
                <a:ea typeface="Courier New" pitchFamily="34" charset="-122"/>
                <a:cs typeface="Courier New" pitchFamily="34" charset="-120"/>
              </a:rPr>
              <a:t>git flow release feature defer NAME</a:t>
            </a:r>
            <a:endParaRPr lang="en-US" sz="1050" dirty="0"/>
          </a:p>
        </p:txBody>
      </p:sp>
      <p:sp>
        <p:nvSpPr>
          <p:cNvPr id="41" name="Text 39"/>
          <p:cNvSpPr/>
          <p:nvPr/>
        </p:nvSpPr>
        <p:spPr>
          <a:xfrm>
            <a:off x="5230368" y="4622292"/>
            <a:ext cx="1920240" cy="297180"/>
          </a:xfrm>
          <a:prstGeom prst="rect">
            <a:avLst/>
          </a:prstGeom>
          <a:noFill/>
          <a:ln/>
        </p:spPr>
        <p:txBody>
          <a:bodyPr wrap="square" lIns="0" tIns="0" rIns="0" bIns="0" rtlCol="0" anchor="ctr"/>
          <a:lstStyle/>
          <a:p>
            <a:pPr indent="0" marL="0">
              <a:buNone/>
            </a:pPr>
            <a:r>
              <a:rPr lang="en-US" sz="1050" b="1" dirty="0">
                <a:solidFill>
                  <a:srgbClr val="2563EB"/>
                </a:solidFill>
                <a:latin typeface="Calibri" pitchFamily="34" charset="0"/>
                <a:ea typeface="Calibri" pitchFamily="34" charset="-122"/>
                <a:cs typeface="Calibri" pitchFamily="34" charset="-120"/>
              </a:rPr>
              <a:t>Release Manager</a:t>
            </a:r>
            <a:endParaRPr lang="en-US" sz="1050" dirty="0"/>
          </a:p>
        </p:txBody>
      </p:sp>
      <p:sp>
        <p:nvSpPr>
          <p:cNvPr id="42" name="Text 40"/>
          <p:cNvSpPr/>
          <p:nvPr/>
        </p:nvSpPr>
        <p:spPr>
          <a:xfrm>
            <a:off x="7333488" y="4622292"/>
            <a:ext cx="4325112" cy="29718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Hold a feature back (only before first add)</a:t>
            </a:r>
            <a:endParaRPr lang="en-US" sz="1050" dirty="0"/>
          </a:p>
        </p:txBody>
      </p:sp>
      <p:sp>
        <p:nvSpPr>
          <p:cNvPr id="43" name="Text 41"/>
          <p:cNvSpPr/>
          <p:nvPr/>
        </p:nvSpPr>
        <p:spPr>
          <a:xfrm>
            <a:off x="566928" y="4956048"/>
            <a:ext cx="4480560" cy="297180"/>
          </a:xfrm>
          <a:prstGeom prst="rect">
            <a:avLst/>
          </a:prstGeom>
          <a:noFill/>
          <a:ln/>
        </p:spPr>
        <p:txBody>
          <a:bodyPr wrap="square" lIns="0" tIns="0" rIns="0" bIns="0" rtlCol="0" anchor="ctr"/>
          <a:lstStyle/>
          <a:p>
            <a:pPr indent="0" marL="0">
              <a:buNone/>
            </a:pPr>
            <a:r>
              <a:rPr lang="en-US" sz="1050" dirty="0">
                <a:solidFill>
                  <a:srgbClr val="7C3AED"/>
                </a:solidFill>
                <a:latin typeface="Courier New" pitchFamily="34" charset="0"/>
                <a:ea typeface="Courier New" pitchFamily="34" charset="-122"/>
                <a:cs typeface="Courier New" pitchFamily="34" charset="-120"/>
              </a:rPr>
              <a:t>git flow release build</a:t>
            </a:r>
            <a:endParaRPr lang="en-US" sz="1050" dirty="0"/>
          </a:p>
        </p:txBody>
      </p:sp>
      <p:sp>
        <p:nvSpPr>
          <p:cNvPr id="44" name="Text 42"/>
          <p:cNvSpPr/>
          <p:nvPr/>
        </p:nvSpPr>
        <p:spPr>
          <a:xfrm>
            <a:off x="5230368" y="4956048"/>
            <a:ext cx="1920240" cy="297180"/>
          </a:xfrm>
          <a:prstGeom prst="rect">
            <a:avLst/>
          </a:prstGeom>
          <a:noFill/>
          <a:ln/>
        </p:spPr>
        <p:txBody>
          <a:bodyPr wrap="square" lIns="0" tIns="0" rIns="0" bIns="0" rtlCol="0" anchor="ctr"/>
          <a:lstStyle/>
          <a:p>
            <a:pPr indent="0" marL="0">
              <a:buNone/>
            </a:pPr>
            <a:r>
              <a:rPr lang="en-US" sz="1050" b="1" dirty="0">
                <a:solidFill>
                  <a:srgbClr val="2563EB"/>
                </a:solidFill>
                <a:latin typeface="Calibri" pitchFamily="34" charset="0"/>
                <a:ea typeface="Calibri" pitchFamily="34" charset="-122"/>
                <a:cs typeface="Calibri" pitchFamily="34" charset="-120"/>
              </a:rPr>
              <a:t>Release Manager</a:t>
            </a:r>
            <a:endParaRPr lang="en-US" sz="1050" dirty="0"/>
          </a:p>
        </p:txBody>
      </p:sp>
      <p:sp>
        <p:nvSpPr>
          <p:cNvPr id="45" name="Text 43"/>
          <p:cNvSpPr/>
          <p:nvPr/>
        </p:nvSpPr>
        <p:spPr>
          <a:xfrm>
            <a:off x="7333488" y="4956048"/>
            <a:ext cx="4325112" cy="29718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Cut a QA tag; only command moving QA counter</a:t>
            </a:r>
            <a:endParaRPr lang="en-US" sz="1050" dirty="0"/>
          </a:p>
        </p:txBody>
      </p:sp>
      <p:sp>
        <p:nvSpPr>
          <p:cNvPr id="46" name="Shape 44"/>
          <p:cNvSpPr/>
          <p:nvPr/>
        </p:nvSpPr>
        <p:spPr>
          <a:xfrm>
            <a:off x="457200" y="5271516"/>
            <a:ext cx="11274552" cy="333756"/>
          </a:xfrm>
          <a:prstGeom prst="rect">
            <a:avLst/>
          </a:prstGeom>
          <a:solidFill>
            <a:srgbClr val="F3F4F6"/>
          </a:solidFill>
          <a:ln w="12700">
            <a:solidFill>
              <a:srgbClr val="F3F4F6"/>
            </a:solidFill>
            <a:prstDash val="solid"/>
          </a:ln>
        </p:spPr>
      </p:sp>
      <p:sp>
        <p:nvSpPr>
          <p:cNvPr id="47" name="Text 45"/>
          <p:cNvSpPr/>
          <p:nvPr/>
        </p:nvSpPr>
        <p:spPr>
          <a:xfrm>
            <a:off x="566928" y="5289804"/>
            <a:ext cx="4480560" cy="297180"/>
          </a:xfrm>
          <a:prstGeom prst="rect">
            <a:avLst/>
          </a:prstGeom>
          <a:noFill/>
          <a:ln/>
        </p:spPr>
        <p:txBody>
          <a:bodyPr wrap="square" lIns="0" tIns="0" rIns="0" bIns="0" rtlCol="0" anchor="ctr"/>
          <a:lstStyle/>
          <a:p>
            <a:pPr indent="0" marL="0">
              <a:buNone/>
            </a:pPr>
            <a:r>
              <a:rPr lang="en-US" sz="1050" dirty="0">
                <a:solidFill>
                  <a:srgbClr val="7C3AED"/>
                </a:solidFill>
                <a:latin typeface="Courier New" pitchFamily="34" charset="0"/>
                <a:ea typeface="Courier New" pitchFamily="34" charset="-122"/>
                <a:cs typeface="Courier New" pitchFamily="34" charset="-120"/>
              </a:rPr>
              <a:t>git flow release finish</a:t>
            </a:r>
            <a:endParaRPr lang="en-US" sz="1050" dirty="0"/>
          </a:p>
        </p:txBody>
      </p:sp>
      <p:sp>
        <p:nvSpPr>
          <p:cNvPr id="48" name="Text 46"/>
          <p:cNvSpPr/>
          <p:nvPr/>
        </p:nvSpPr>
        <p:spPr>
          <a:xfrm>
            <a:off x="5230368" y="5289804"/>
            <a:ext cx="1920240" cy="297180"/>
          </a:xfrm>
          <a:prstGeom prst="rect">
            <a:avLst/>
          </a:prstGeom>
          <a:noFill/>
          <a:ln/>
        </p:spPr>
        <p:txBody>
          <a:bodyPr wrap="square" lIns="0" tIns="0" rIns="0" bIns="0" rtlCol="0" anchor="ctr"/>
          <a:lstStyle/>
          <a:p>
            <a:pPr indent="0" marL="0">
              <a:buNone/>
            </a:pPr>
            <a:r>
              <a:rPr lang="en-US" sz="1050" b="1" dirty="0">
                <a:solidFill>
                  <a:srgbClr val="2563EB"/>
                </a:solidFill>
                <a:latin typeface="Calibri" pitchFamily="34" charset="0"/>
                <a:ea typeface="Calibri" pitchFamily="34" charset="-122"/>
                <a:cs typeface="Calibri" pitchFamily="34" charset="-120"/>
              </a:rPr>
              <a:t>Release Manager</a:t>
            </a:r>
            <a:endParaRPr lang="en-US" sz="1050" dirty="0"/>
          </a:p>
        </p:txBody>
      </p:sp>
      <p:sp>
        <p:nvSpPr>
          <p:cNvPr id="49" name="Text 47"/>
          <p:cNvSpPr/>
          <p:nvPr/>
        </p:nvSpPr>
        <p:spPr>
          <a:xfrm>
            <a:off x="7333488" y="5289804"/>
            <a:ext cx="4325112" cy="29718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Tag production; merge to main; clean up branches</a:t>
            </a:r>
            <a:endParaRPr lang="en-US" sz="1050" dirty="0"/>
          </a:p>
        </p:txBody>
      </p:sp>
      <p:sp>
        <p:nvSpPr>
          <p:cNvPr id="50" name="Text 48"/>
          <p:cNvSpPr/>
          <p:nvPr/>
        </p:nvSpPr>
        <p:spPr>
          <a:xfrm>
            <a:off x="566928" y="5623560"/>
            <a:ext cx="4480560" cy="297180"/>
          </a:xfrm>
          <a:prstGeom prst="rect">
            <a:avLst/>
          </a:prstGeom>
          <a:noFill/>
          <a:ln/>
        </p:spPr>
        <p:txBody>
          <a:bodyPr wrap="square" lIns="0" tIns="0" rIns="0" bIns="0" rtlCol="0" anchor="ctr"/>
          <a:lstStyle/>
          <a:p>
            <a:pPr indent="0" marL="0">
              <a:buNone/>
            </a:pPr>
            <a:r>
              <a:rPr lang="en-US" sz="1050" dirty="0">
                <a:solidFill>
                  <a:srgbClr val="7C3AED"/>
                </a:solidFill>
                <a:latin typeface="Courier New" pitchFamily="34" charset="0"/>
                <a:ea typeface="Courier New" pitchFamily="34" charset="-122"/>
                <a:cs typeface="Courier New" pitchFamily="34" charset="-120"/>
              </a:rPr>
              <a:t>git flow release status / version / manifest</a:t>
            </a:r>
            <a:endParaRPr lang="en-US" sz="1050" dirty="0"/>
          </a:p>
        </p:txBody>
      </p:sp>
      <p:sp>
        <p:nvSpPr>
          <p:cNvPr id="51" name="Text 49"/>
          <p:cNvSpPr/>
          <p:nvPr/>
        </p:nvSpPr>
        <p:spPr>
          <a:xfrm>
            <a:off x="5230368" y="5623560"/>
            <a:ext cx="1920240" cy="297180"/>
          </a:xfrm>
          <a:prstGeom prst="rect">
            <a:avLst/>
          </a:prstGeom>
          <a:noFill/>
          <a:ln/>
        </p:spPr>
        <p:txBody>
          <a:bodyPr wrap="square" lIns="0" tIns="0" rIns="0" bIns="0" rtlCol="0" anchor="ctr"/>
          <a:lstStyle/>
          <a:p>
            <a:pPr indent="0" marL="0">
              <a:buNone/>
            </a:pPr>
            <a:r>
              <a:rPr lang="en-US" sz="1050" b="1" dirty="0">
                <a:solidFill>
                  <a:srgbClr val="2563EB"/>
                </a:solidFill>
                <a:latin typeface="Calibri" pitchFamily="34" charset="0"/>
                <a:ea typeface="Calibri" pitchFamily="34" charset="-122"/>
                <a:cs typeface="Calibri" pitchFamily="34" charset="-120"/>
              </a:rPr>
              <a:t>Anyone</a:t>
            </a:r>
            <a:endParaRPr lang="en-US" sz="1050" dirty="0"/>
          </a:p>
        </p:txBody>
      </p:sp>
      <p:sp>
        <p:nvSpPr>
          <p:cNvPr id="52" name="Text 50"/>
          <p:cNvSpPr/>
          <p:nvPr/>
        </p:nvSpPr>
        <p:spPr>
          <a:xfrm>
            <a:off x="7333488" y="5623560"/>
            <a:ext cx="4325112" cy="29718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Inspect the active release</a:t>
            </a:r>
            <a:endParaRPr lang="en-US" sz="1050" dirty="0"/>
          </a:p>
        </p:txBody>
      </p:sp>
      <p:sp>
        <p:nvSpPr>
          <p:cNvPr id="53" name="Shape 51"/>
          <p:cNvSpPr/>
          <p:nvPr/>
        </p:nvSpPr>
        <p:spPr>
          <a:xfrm>
            <a:off x="457200" y="5939028"/>
            <a:ext cx="11274552" cy="333756"/>
          </a:xfrm>
          <a:prstGeom prst="rect">
            <a:avLst/>
          </a:prstGeom>
          <a:solidFill>
            <a:srgbClr val="F3F4F6"/>
          </a:solidFill>
          <a:ln w="12700">
            <a:solidFill>
              <a:srgbClr val="F3F4F6"/>
            </a:solidFill>
            <a:prstDash val="solid"/>
          </a:ln>
        </p:spPr>
      </p:sp>
      <p:sp>
        <p:nvSpPr>
          <p:cNvPr id="54" name="Text 52"/>
          <p:cNvSpPr/>
          <p:nvPr/>
        </p:nvSpPr>
        <p:spPr>
          <a:xfrm>
            <a:off x="566928" y="5957316"/>
            <a:ext cx="4480560" cy="297180"/>
          </a:xfrm>
          <a:prstGeom prst="rect">
            <a:avLst/>
          </a:prstGeom>
          <a:noFill/>
          <a:ln/>
        </p:spPr>
        <p:txBody>
          <a:bodyPr wrap="square" lIns="0" tIns="0" rIns="0" bIns="0" rtlCol="0" anchor="ctr"/>
          <a:lstStyle/>
          <a:p>
            <a:pPr indent="0" marL="0">
              <a:buNone/>
            </a:pPr>
            <a:r>
              <a:rPr lang="en-US" sz="1050" dirty="0">
                <a:solidFill>
                  <a:srgbClr val="7C3AED"/>
                </a:solidFill>
                <a:latin typeface="Courier New" pitchFamily="34" charset="0"/>
                <a:ea typeface="Courier New" pitchFamily="34" charset="-122"/>
                <a:cs typeface="Courier New" pitchFamily="34" charset="-120"/>
              </a:rPr>
              <a:t>git flow doctor</a:t>
            </a:r>
            <a:endParaRPr lang="en-US" sz="1050" dirty="0"/>
          </a:p>
        </p:txBody>
      </p:sp>
      <p:sp>
        <p:nvSpPr>
          <p:cNvPr id="55" name="Text 53"/>
          <p:cNvSpPr/>
          <p:nvPr/>
        </p:nvSpPr>
        <p:spPr>
          <a:xfrm>
            <a:off x="5230368" y="5957316"/>
            <a:ext cx="1920240" cy="297180"/>
          </a:xfrm>
          <a:prstGeom prst="rect">
            <a:avLst/>
          </a:prstGeom>
          <a:noFill/>
          <a:ln/>
        </p:spPr>
        <p:txBody>
          <a:bodyPr wrap="square" lIns="0" tIns="0" rIns="0" bIns="0" rtlCol="0" anchor="ctr"/>
          <a:lstStyle/>
          <a:p>
            <a:pPr indent="0" marL="0">
              <a:buNone/>
            </a:pPr>
            <a:r>
              <a:rPr lang="en-US" sz="1050" b="1" dirty="0">
                <a:solidFill>
                  <a:srgbClr val="2563EB"/>
                </a:solidFill>
                <a:latin typeface="Calibri" pitchFamily="34" charset="0"/>
                <a:ea typeface="Calibri" pitchFamily="34" charset="-122"/>
                <a:cs typeface="Calibri" pitchFamily="34" charset="-120"/>
              </a:rPr>
              <a:t>Anyone</a:t>
            </a:r>
            <a:endParaRPr lang="en-US" sz="1050" dirty="0"/>
          </a:p>
        </p:txBody>
      </p:sp>
      <p:sp>
        <p:nvSpPr>
          <p:cNvPr id="56" name="Text 54"/>
          <p:cNvSpPr/>
          <p:nvPr/>
        </p:nvSpPr>
        <p:spPr>
          <a:xfrm>
            <a:off x="7333488" y="5957316"/>
            <a:ext cx="4325112" cy="29718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Health-check the repo/config</a:t>
            </a:r>
            <a:endParaRPr lang="en-US" sz="1050" dirty="0"/>
          </a:p>
        </p:txBody>
      </p:sp>
      <p:sp>
        <p:nvSpPr>
          <p:cNvPr id="57" name="Text 55"/>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58" name="Text 56"/>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LIVE DEMONSTRATION</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Live Demonstration — A Release, End to End</a:t>
            </a:r>
            <a:endParaRPr lang="en-US" sz="3000" dirty="0"/>
          </a:p>
        </p:txBody>
      </p:sp>
      <p:sp>
        <p:nvSpPr>
          <p:cNvPr id="4" name="Shape 2"/>
          <p:cNvSpPr/>
          <p:nvPr/>
        </p:nvSpPr>
        <p:spPr>
          <a:xfrm>
            <a:off x="457200" y="1225296"/>
            <a:ext cx="3246120" cy="1417320"/>
          </a:xfrm>
          <a:prstGeom prst="roundRect">
            <a:avLst>
              <a:gd name="adj" fmla="val 3871"/>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sp>
        <p:nvSpPr>
          <p:cNvPr id="5" name="Text 3"/>
          <p:cNvSpPr/>
          <p:nvPr/>
        </p:nvSpPr>
        <p:spPr>
          <a:xfrm>
            <a:off x="621792" y="1335024"/>
            <a:ext cx="2916936" cy="256032"/>
          </a:xfrm>
          <a:prstGeom prst="rect">
            <a:avLst/>
          </a:prstGeom>
          <a:noFill/>
          <a:ln/>
        </p:spPr>
        <p:txBody>
          <a:bodyPr wrap="square" lIns="0" tIns="0" rIns="0" bIns="0"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621792" y="1645920"/>
            <a:ext cx="2916936" cy="886968"/>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Watch a complete release cycle run in real time</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See the manifest, version, and tags change after every command</a:t>
            </a:r>
            <a:endParaRPr lang="en-US" sz="1200" dirty="0"/>
          </a:p>
        </p:txBody>
      </p:sp>
      <p:sp>
        <p:nvSpPr>
          <p:cNvPr id="7" name="Shape 5"/>
          <p:cNvSpPr/>
          <p:nvPr/>
        </p:nvSpPr>
        <p:spPr>
          <a:xfrm>
            <a:off x="457200" y="2788920"/>
            <a:ext cx="3246120" cy="2203704"/>
          </a:xfrm>
          <a:prstGeom prst="roundRect">
            <a:avLst>
              <a:gd name="adj" fmla="val 2490"/>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sp>
        <p:nvSpPr>
          <p:cNvPr id="8" name="Text 6"/>
          <p:cNvSpPr/>
          <p:nvPr/>
        </p:nvSpPr>
        <p:spPr>
          <a:xfrm>
            <a:off x="621792" y="2898648"/>
            <a:ext cx="2916936" cy="256032"/>
          </a:xfrm>
          <a:prstGeom prst="rect">
            <a:avLst/>
          </a:prstGeom>
          <a:noFill/>
          <a:ln/>
        </p:spPr>
        <p:txBody>
          <a:bodyPr wrap="square" lIns="0" tIns="0" rIns="0" bIns="0"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KEY NOTES</a:t>
            </a:r>
            <a:endParaRPr lang="en-US" sz="1100" dirty="0"/>
          </a:p>
        </p:txBody>
      </p:sp>
      <p:sp>
        <p:nvSpPr>
          <p:cNvPr id="9" name="Text 7"/>
          <p:cNvSpPr/>
          <p:nvPr/>
        </p:nvSpPr>
        <p:spPr>
          <a:xfrm>
            <a:off x="621792" y="3209544"/>
            <a:ext cx="2916936" cy="167335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Every step below is run live against a scratch repository</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We will pause after each command to inspect release status and git log</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Questions welcome at any point — this is meant to be interactive</a:t>
            </a:r>
            <a:endParaRPr lang="en-US" sz="1150" dirty="0"/>
          </a:p>
        </p:txBody>
      </p:sp>
      <p:sp>
        <p:nvSpPr>
          <p:cNvPr id="10" name="Shape 8"/>
          <p:cNvSpPr/>
          <p:nvPr/>
        </p:nvSpPr>
        <p:spPr>
          <a:xfrm>
            <a:off x="457200" y="5120640"/>
            <a:ext cx="11274552" cy="1188720"/>
          </a:xfrm>
          <a:prstGeom prst="roundRect">
            <a:avLst>
              <a:gd name="adj" fmla="val 4615"/>
            </a:avLst>
          </a:prstGeom>
          <a:solidFill>
            <a:srgbClr val="0F172A"/>
          </a:solidFill>
          <a:ln w="12700">
            <a:solidFill>
              <a:srgbClr val="0F172A"/>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685800" y="5212080"/>
            <a:ext cx="10817352" cy="237744"/>
          </a:xfrm>
          <a:prstGeom prst="rect">
            <a:avLst/>
          </a:prstGeom>
          <a:noFill/>
          <a:ln/>
        </p:spPr>
        <p:txBody>
          <a:bodyPr wrap="square" lIns="0" tIns="0" rIns="0" bIns="0" rtlCol="0" anchor="ctr"/>
          <a:lstStyle/>
          <a:p>
            <a:pPr indent="0" marL="0">
              <a:buNone/>
            </a:pPr>
            <a:r>
              <a:rPr lang="en-US" sz="1000" b="1" spc="100" kern="0" dirty="0">
                <a:solidFill>
                  <a:srgbClr val="93C5FD"/>
                </a:solidFill>
                <a:latin typeface="Calibri" pitchFamily="34" charset="0"/>
                <a:ea typeface="Calibri" pitchFamily="34" charset="-122"/>
                <a:cs typeface="Calibri" pitchFamily="34" charset="-120"/>
              </a:rPr>
              <a:t>DEMO SCRIPT (RUN IN ORDER)</a:t>
            </a:r>
            <a:endParaRPr lang="en-US" sz="1000" dirty="0"/>
          </a:p>
        </p:txBody>
      </p:sp>
      <p:sp>
        <p:nvSpPr>
          <p:cNvPr id="12" name="Text 10"/>
          <p:cNvSpPr/>
          <p:nvPr/>
        </p:nvSpPr>
        <p:spPr>
          <a:xfrm>
            <a:off x="685800" y="5504688"/>
            <a:ext cx="10817352" cy="694944"/>
          </a:xfrm>
          <a:prstGeom prst="rect">
            <a:avLst/>
          </a:prstGeom>
          <a:noFill/>
          <a:ln/>
        </p:spPr>
        <p:txBody>
          <a:bodyPr wrap="square" lIns="0" tIns="0" rIns="0" bIns="0" rtlCol="0" anchor="t"/>
          <a:lstStyle/>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init</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feature start LOGIN</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feature add LOGIN</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releasefix start BUG-101 &amp;&amp; git flow releasefix finish BUG-101</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build   # QA tests here</a:t>
            </a:r>
            <a:endParaRPr lang="en-US" sz="1250" dirty="0"/>
          </a:p>
          <a:p>
            <a:pPr indent="0" marL="0">
              <a:spcAft>
                <a:spcPts val="300"/>
              </a:spcAft>
              <a:buNone/>
            </a:pPr>
            <a:r>
              <a:rPr lang="en-US" sz="1250" dirty="0">
                <a:solidFill>
                  <a:srgbClr val="86EFAC"/>
                </a:solidFill>
                <a:latin typeface="Courier New" pitchFamily="34" charset="0"/>
                <a:ea typeface="Courier New" pitchFamily="34" charset="-122"/>
                <a:cs typeface="Courier New" pitchFamily="34" charset="-120"/>
              </a:rPr>
              <a:t>$ git flow release finish</a:t>
            </a:r>
            <a:endParaRPr lang="en-US" sz="1250" dirty="0"/>
          </a:p>
        </p:txBody>
      </p:sp>
      <p:sp>
        <p:nvSpPr>
          <p:cNvPr id="13" name="Text 11"/>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14" name="Text 12"/>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
        <p:nvSpPr>
          <p:cNvPr id="15" name="Shape 13"/>
          <p:cNvSpPr/>
          <p:nvPr/>
        </p:nvSpPr>
        <p:spPr>
          <a:xfrm>
            <a:off x="3886200" y="1225296"/>
            <a:ext cx="1139952" cy="1234440"/>
          </a:xfrm>
          <a:prstGeom prst="roundRect">
            <a:avLst>
              <a:gd name="adj" fmla="val 6417"/>
            </a:avLst>
          </a:prstGeom>
          <a:solidFill>
            <a:srgbClr val="1E2761"/>
          </a:solidFill>
          <a:ln w="12700">
            <a:solidFill>
              <a:srgbClr val="FFFFFF"/>
            </a:solidFill>
            <a:prstDash val="solid"/>
          </a:ln>
          <a:effectLst>
            <a:outerShdw sx="100000" sy="100000" kx="0" ky="0" algn="bl" rotWithShape="0" blurRad="Infinity" dist="Infinity" dir="Infinity">
              <a:srgbClr val="000000">
                <a:alpha val="Infinity"/>
              </a:srgbClr>
            </a:outerShdw>
          </a:effectLst>
        </p:spPr>
      </p:sp>
      <p:pic>
        <p:nvPicPr>
          <p:cNvPr id="16" name="Image 0" descr="C:\Users\Tabish.DESKTOP-AMHU6DL\AppData\Local\Temp\claude\C--Data-Apps-GitFlowPlus\670cb83e-903e-4a7a-8a42-3e26eddb1211\scratchpad\gfp-deck\icons\git-branch.png">    </p:cNvPr>
          <p:cNvPicPr>
            <a:picLocks noChangeAspect="1"/>
          </p:cNvPicPr>
          <p:nvPr/>
        </p:nvPicPr>
        <p:blipFill>
          <a:blip r:embed="rId1"/>
          <a:stretch>
            <a:fillRect/>
          </a:stretch>
        </p:blipFill>
        <p:spPr>
          <a:xfrm>
            <a:off x="4181856" y="1353312"/>
            <a:ext cx="548640" cy="548640"/>
          </a:xfrm>
          <a:prstGeom prst="rect">
            <a:avLst/>
          </a:prstGeom>
        </p:spPr>
      </p:pic>
      <p:sp>
        <p:nvSpPr>
          <p:cNvPr id="17" name="Text 14"/>
          <p:cNvSpPr/>
          <p:nvPr/>
        </p:nvSpPr>
        <p:spPr>
          <a:xfrm>
            <a:off x="3959352" y="1975104"/>
            <a:ext cx="993648" cy="374904"/>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init</a:t>
            </a:r>
            <a:endParaRPr lang="en-US" sz="1100" dirty="0"/>
          </a:p>
        </p:txBody>
      </p:sp>
      <p:sp>
        <p:nvSpPr>
          <p:cNvPr id="18" name="Shape 15"/>
          <p:cNvSpPr/>
          <p:nvPr/>
        </p:nvSpPr>
        <p:spPr>
          <a:xfrm>
            <a:off x="5046269" y="1751076"/>
            <a:ext cx="160934" cy="182880"/>
          </a:xfrm>
          <a:prstGeom prst="rightArrow">
            <a:avLst/>
          </a:prstGeom>
          <a:solidFill>
            <a:srgbClr val="6B7280"/>
          </a:solidFill>
          <a:ln w="12700">
            <a:solidFill>
              <a:srgbClr val="6B7280"/>
            </a:solidFill>
            <a:prstDash val="solid"/>
          </a:ln>
        </p:spPr>
      </p:sp>
      <p:sp>
        <p:nvSpPr>
          <p:cNvPr id="19" name="Shape 16"/>
          <p:cNvSpPr/>
          <p:nvPr/>
        </p:nvSpPr>
        <p:spPr>
          <a:xfrm>
            <a:off x="5227320" y="1225296"/>
            <a:ext cx="1139952" cy="1234440"/>
          </a:xfrm>
          <a:prstGeom prst="roundRect">
            <a:avLst>
              <a:gd name="adj" fmla="val 6417"/>
            </a:avLst>
          </a:prstGeom>
          <a:solidFill>
            <a:srgbClr val="2563EB"/>
          </a:solidFill>
          <a:ln w="12700">
            <a:solidFill>
              <a:srgbClr val="FFFFFF"/>
            </a:solidFill>
            <a:prstDash val="solid"/>
          </a:ln>
          <a:effectLst>
            <a:outerShdw sx="100000" sy="100000" kx="0" ky="0" algn="bl" rotWithShape="0" blurRad="Infinity" dist="Infinity" dir="Infinity">
              <a:srgbClr val="000000">
                <a:alpha val="Infinity"/>
              </a:srgbClr>
            </a:outerShdw>
          </a:effectLst>
        </p:spPr>
      </p:sp>
      <p:pic>
        <p:nvPicPr>
          <p:cNvPr id="20" name="Image 1" descr="C:\Users\Tabish.DESKTOP-AMHU6DL\AppData\Local\Temp\claude\C--Data-Apps-GitFlowPlus\670cb83e-903e-4a7a-8a42-3e26eddb1211\scratchpad\gfp-deck\icons\developer.png">    </p:cNvPr>
          <p:cNvPicPr>
            <a:picLocks noChangeAspect="1"/>
          </p:cNvPicPr>
          <p:nvPr/>
        </p:nvPicPr>
        <p:blipFill>
          <a:blip r:embed="rId2"/>
          <a:stretch>
            <a:fillRect/>
          </a:stretch>
        </p:blipFill>
        <p:spPr>
          <a:xfrm>
            <a:off x="5522976" y="1353312"/>
            <a:ext cx="548640" cy="548640"/>
          </a:xfrm>
          <a:prstGeom prst="rect">
            <a:avLst/>
          </a:prstGeom>
        </p:spPr>
      </p:pic>
      <p:sp>
        <p:nvSpPr>
          <p:cNvPr id="21" name="Text 17"/>
          <p:cNvSpPr/>
          <p:nvPr/>
        </p:nvSpPr>
        <p:spPr>
          <a:xfrm>
            <a:off x="5300472" y="1975104"/>
            <a:ext cx="993648" cy="374904"/>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feature start</a:t>
            </a:r>
            <a:endParaRPr lang="en-US" sz="1100" dirty="0"/>
          </a:p>
        </p:txBody>
      </p:sp>
      <p:sp>
        <p:nvSpPr>
          <p:cNvPr id="22" name="Shape 18"/>
          <p:cNvSpPr/>
          <p:nvPr/>
        </p:nvSpPr>
        <p:spPr>
          <a:xfrm>
            <a:off x="6387389" y="1751076"/>
            <a:ext cx="160934" cy="182880"/>
          </a:xfrm>
          <a:prstGeom prst="rightArrow">
            <a:avLst/>
          </a:prstGeom>
          <a:solidFill>
            <a:srgbClr val="6B7280"/>
          </a:solidFill>
          <a:ln w="12700">
            <a:solidFill>
              <a:srgbClr val="6B7280"/>
            </a:solidFill>
            <a:prstDash val="solid"/>
          </a:ln>
        </p:spPr>
      </p:sp>
      <p:sp>
        <p:nvSpPr>
          <p:cNvPr id="23" name="Shape 19"/>
          <p:cNvSpPr/>
          <p:nvPr/>
        </p:nvSpPr>
        <p:spPr>
          <a:xfrm>
            <a:off x="6568440" y="1225296"/>
            <a:ext cx="1139952" cy="1234440"/>
          </a:xfrm>
          <a:prstGeom prst="roundRect">
            <a:avLst>
              <a:gd name="adj" fmla="val 6417"/>
            </a:avLst>
          </a:prstGeom>
          <a:solidFill>
            <a:srgbClr val="7C3AED"/>
          </a:solidFill>
          <a:ln w="12700">
            <a:solidFill>
              <a:srgbClr val="FFFFFF"/>
            </a:solidFill>
            <a:prstDash val="solid"/>
          </a:ln>
          <a:effectLst>
            <a:outerShdw sx="100000" sy="100000" kx="0" ky="0" algn="bl" rotWithShape="0" blurRad="Infinity" dist="Infinity" dir="Infinity">
              <a:srgbClr val="000000">
                <a:alpha val="Infinity"/>
              </a:srgbClr>
            </a:outerShdw>
          </a:effectLst>
        </p:spPr>
      </p:sp>
      <p:pic>
        <p:nvPicPr>
          <p:cNvPr id="24" name="Image 2" descr="C:\Users\Tabish.DESKTOP-AMHU6DL\AppData\Local\Temp\claude\C--Data-Apps-GitFlowPlus\670cb83e-903e-4a7a-8a42-3e26eddb1211\scratchpad\gfp-deck\icons\git-merge.png">    </p:cNvPr>
          <p:cNvPicPr>
            <a:picLocks noChangeAspect="1"/>
          </p:cNvPicPr>
          <p:nvPr/>
        </p:nvPicPr>
        <p:blipFill>
          <a:blip r:embed="rId3"/>
          <a:stretch>
            <a:fillRect/>
          </a:stretch>
        </p:blipFill>
        <p:spPr>
          <a:xfrm>
            <a:off x="6864096" y="1353312"/>
            <a:ext cx="548640" cy="548640"/>
          </a:xfrm>
          <a:prstGeom prst="rect">
            <a:avLst/>
          </a:prstGeom>
        </p:spPr>
      </p:pic>
      <p:sp>
        <p:nvSpPr>
          <p:cNvPr id="25" name="Text 20"/>
          <p:cNvSpPr/>
          <p:nvPr/>
        </p:nvSpPr>
        <p:spPr>
          <a:xfrm>
            <a:off x="6641592" y="1975104"/>
            <a:ext cx="993648" cy="374904"/>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feature add</a:t>
            </a:r>
            <a:endParaRPr lang="en-US" sz="1100" dirty="0"/>
          </a:p>
        </p:txBody>
      </p:sp>
      <p:sp>
        <p:nvSpPr>
          <p:cNvPr id="26" name="Shape 21"/>
          <p:cNvSpPr/>
          <p:nvPr/>
        </p:nvSpPr>
        <p:spPr>
          <a:xfrm>
            <a:off x="7728509" y="1751076"/>
            <a:ext cx="160934" cy="182880"/>
          </a:xfrm>
          <a:prstGeom prst="rightArrow">
            <a:avLst/>
          </a:prstGeom>
          <a:solidFill>
            <a:srgbClr val="6B7280"/>
          </a:solidFill>
          <a:ln w="12700">
            <a:solidFill>
              <a:srgbClr val="6B7280"/>
            </a:solidFill>
            <a:prstDash val="solid"/>
          </a:ln>
        </p:spPr>
      </p:sp>
      <p:sp>
        <p:nvSpPr>
          <p:cNvPr id="27" name="Shape 22"/>
          <p:cNvSpPr/>
          <p:nvPr/>
        </p:nvSpPr>
        <p:spPr>
          <a:xfrm>
            <a:off x="7909560" y="1225296"/>
            <a:ext cx="1139952" cy="1234440"/>
          </a:xfrm>
          <a:prstGeom prst="roundRect">
            <a:avLst>
              <a:gd name="adj" fmla="val 6417"/>
            </a:avLst>
          </a:prstGeom>
          <a:solidFill>
            <a:srgbClr val="EA580C"/>
          </a:solidFill>
          <a:ln w="12700">
            <a:solidFill>
              <a:srgbClr val="FFFFFF"/>
            </a:solidFill>
            <a:prstDash val="solid"/>
          </a:ln>
          <a:effectLst>
            <a:outerShdw sx="100000" sy="100000" kx="0" ky="0" algn="bl" rotWithShape="0" blurRad="Infinity" dist="Infinity" dir="Infinity">
              <a:srgbClr val="000000">
                <a:alpha val="Infinity"/>
              </a:srgbClr>
            </a:outerShdw>
          </a:effectLst>
        </p:spPr>
      </p:sp>
      <p:pic>
        <p:nvPicPr>
          <p:cNvPr id="28" name="Image 3" descr="C:\Users\Tabish.DESKTOP-AMHU6DL\AppData\Local\Temp\claude\C--Data-Apps-GitFlowPlus\670cb83e-903e-4a7a-8a42-3e26eddb1211\scratchpad\gfp-deck\icons\bug.png">    </p:cNvPr>
          <p:cNvPicPr>
            <a:picLocks noChangeAspect="1"/>
          </p:cNvPicPr>
          <p:nvPr/>
        </p:nvPicPr>
        <p:blipFill>
          <a:blip r:embed="rId4"/>
          <a:stretch>
            <a:fillRect/>
          </a:stretch>
        </p:blipFill>
        <p:spPr>
          <a:xfrm>
            <a:off x="8205216" y="1353312"/>
            <a:ext cx="548640" cy="548640"/>
          </a:xfrm>
          <a:prstGeom prst="rect">
            <a:avLst/>
          </a:prstGeom>
        </p:spPr>
      </p:pic>
      <p:sp>
        <p:nvSpPr>
          <p:cNvPr id="29" name="Text 23"/>
          <p:cNvSpPr/>
          <p:nvPr/>
        </p:nvSpPr>
        <p:spPr>
          <a:xfrm>
            <a:off x="7982712" y="1975104"/>
            <a:ext cx="993648" cy="374904"/>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releasefix</a:t>
            </a:r>
            <a:endParaRPr lang="en-US" sz="1100" dirty="0"/>
          </a:p>
        </p:txBody>
      </p:sp>
      <p:sp>
        <p:nvSpPr>
          <p:cNvPr id="30" name="Shape 24"/>
          <p:cNvSpPr/>
          <p:nvPr/>
        </p:nvSpPr>
        <p:spPr>
          <a:xfrm>
            <a:off x="9069629" y="1751076"/>
            <a:ext cx="160934" cy="182880"/>
          </a:xfrm>
          <a:prstGeom prst="rightArrow">
            <a:avLst/>
          </a:prstGeom>
          <a:solidFill>
            <a:srgbClr val="6B7280"/>
          </a:solidFill>
          <a:ln w="12700">
            <a:solidFill>
              <a:srgbClr val="6B7280"/>
            </a:solidFill>
            <a:prstDash val="solid"/>
          </a:ln>
        </p:spPr>
      </p:sp>
      <p:sp>
        <p:nvSpPr>
          <p:cNvPr id="31" name="Shape 25"/>
          <p:cNvSpPr/>
          <p:nvPr/>
        </p:nvSpPr>
        <p:spPr>
          <a:xfrm>
            <a:off x="9250680" y="1225296"/>
            <a:ext cx="1139952" cy="1234440"/>
          </a:xfrm>
          <a:prstGeom prst="roundRect">
            <a:avLst>
              <a:gd name="adj" fmla="val 6417"/>
            </a:avLst>
          </a:prstGeom>
          <a:solidFill>
            <a:srgbClr val="EA580C"/>
          </a:solidFill>
          <a:ln w="12700">
            <a:solidFill>
              <a:srgbClr val="FFFFFF"/>
            </a:solidFill>
            <a:prstDash val="solid"/>
          </a:ln>
          <a:effectLst>
            <a:outerShdw sx="100000" sy="100000" kx="0" ky="0" algn="bl" rotWithShape="0" blurRad="Infinity" dist="Infinity" dir="Infinity">
              <a:srgbClr val="000000">
                <a:alpha val="Infinity"/>
              </a:srgbClr>
            </a:outerShdw>
          </a:effectLst>
        </p:spPr>
      </p:sp>
      <p:pic>
        <p:nvPicPr>
          <p:cNvPr id="32" name="Image 4" descr="C:\Users\Tabish.DESKTOP-AMHU6DL\AppData\Local\Temp\claude\C--Data-Apps-GitFlowPlus\670cb83e-903e-4a7a-8a42-3e26eddb1211\scratchpad\gfp-deck\icons\git-tag.png">    </p:cNvPr>
          <p:cNvPicPr>
            <a:picLocks noChangeAspect="1"/>
          </p:cNvPicPr>
          <p:nvPr/>
        </p:nvPicPr>
        <p:blipFill>
          <a:blip r:embed="rId5"/>
          <a:stretch>
            <a:fillRect/>
          </a:stretch>
        </p:blipFill>
        <p:spPr>
          <a:xfrm>
            <a:off x="9546336" y="1353312"/>
            <a:ext cx="548640" cy="548640"/>
          </a:xfrm>
          <a:prstGeom prst="rect">
            <a:avLst/>
          </a:prstGeom>
        </p:spPr>
      </p:pic>
      <p:sp>
        <p:nvSpPr>
          <p:cNvPr id="33" name="Text 26"/>
          <p:cNvSpPr/>
          <p:nvPr/>
        </p:nvSpPr>
        <p:spPr>
          <a:xfrm>
            <a:off x="9323832" y="1975104"/>
            <a:ext cx="993648" cy="374904"/>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release build</a:t>
            </a:r>
            <a:endParaRPr lang="en-US" sz="1100" dirty="0"/>
          </a:p>
        </p:txBody>
      </p:sp>
      <p:sp>
        <p:nvSpPr>
          <p:cNvPr id="34" name="Shape 27"/>
          <p:cNvSpPr/>
          <p:nvPr/>
        </p:nvSpPr>
        <p:spPr>
          <a:xfrm>
            <a:off x="10410749" y="1751076"/>
            <a:ext cx="160934" cy="182880"/>
          </a:xfrm>
          <a:prstGeom prst="rightArrow">
            <a:avLst/>
          </a:prstGeom>
          <a:solidFill>
            <a:srgbClr val="6B7280"/>
          </a:solidFill>
          <a:ln w="12700">
            <a:solidFill>
              <a:srgbClr val="6B7280"/>
            </a:solidFill>
            <a:prstDash val="solid"/>
          </a:ln>
        </p:spPr>
      </p:sp>
      <p:sp>
        <p:nvSpPr>
          <p:cNvPr id="35" name="Shape 28"/>
          <p:cNvSpPr/>
          <p:nvPr/>
        </p:nvSpPr>
        <p:spPr>
          <a:xfrm>
            <a:off x="10591800" y="1225296"/>
            <a:ext cx="1139952" cy="1234440"/>
          </a:xfrm>
          <a:prstGeom prst="roundRect">
            <a:avLst>
              <a:gd name="adj" fmla="val 6417"/>
            </a:avLst>
          </a:prstGeom>
          <a:solidFill>
            <a:srgbClr val="16A34A"/>
          </a:solidFill>
          <a:ln w="12700">
            <a:solidFill>
              <a:srgbClr val="FFFFFF"/>
            </a:solidFill>
            <a:prstDash val="solid"/>
          </a:ln>
          <a:effectLst>
            <a:outerShdw sx="100000" sy="100000" kx="0" ky="0" algn="bl" rotWithShape="0" blurRad="Infinity" dist="Infinity" dir="Infinity">
              <a:srgbClr val="000000">
                <a:alpha val="Infinity"/>
              </a:srgbClr>
            </a:outerShdw>
          </a:effectLst>
        </p:spPr>
      </p:sp>
      <p:pic>
        <p:nvPicPr>
          <p:cNvPr id="36" name="Image 5" descr="C:\Users\Tabish.DESKTOP-AMHU6DL\AppData\Local\Temp\claude\C--Data-Apps-GitFlowPlus\670cb83e-903e-4a7a-8a42-3e26eddb1211\scratchpad\gfp-deck\icons\finish-flag.png">    </p:cNvPr>
          <p:cNvPicPr>
            <a:picLocks noChangeAspect="1"/>
          </p:cNvPicPr>
          <p:nvPr/>
        </p:nvPicPr>
        <p:blipFill>
          <a:blip r:embed="rId6"/>
          <a:stretch>
            <a:fillRect/>
          </a:stretch>
        </p:blipFill>
        <p:spPr>
          <a:xfrm>
            <a:off x="10887456" y="1353312"/>
            <a:ext cx="548640" cy="548640"/>
          </a:xfrm>
          <a:prstGeom prst="rect">
            <a:avLst/>
          </a:prstGeom>
        </p:spPr>
      </p:pic>
      <p:sp>
        <p:nvSpPr>
          <p:cNvPr id="37" name="Text 29"/>
          <p:cNvSpPr/>
          <p:nvPr/>
        </p:nvSpPr>
        <p:spPr>
          <a:xfrm>
            <a:off x="10664952" y="1975104"/>
            <a:ext cx="993648" cy="374904"/>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release finish</a:t>
            </a:r>
            <a:endParaRPr lang="en-US" sz="1100" dirty="0"/>
          </a:p>
        </p:txBody>
      </p:sp>
      <p:sp>
        <p:nvSpPr>
          <p:cNvPr id="38" name="Shape 30"/>
          <p:cNvSpPr/>
          <p:nvPr/>
        </p:nvSpPr>
        <p:spPr>
          <a:xfrm>
            <a:off x="3886200" y="2688336"/>
            <a:ext cx="7845552" cy="1234440"/>
          </a:xfrm>
          <a:prstGeom prst="roundRect">
            <a:avLst>
              <a:gd name="adj" fmla="val 4444"/>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sp>
        <p:nvSpPr>
          <p:cNvPr id="39" name="Text 31"/>
          <p:cNvSpPr/>
          <p:nvPr/>
        </p:nvSpPr>
        <p:spPr>
          <a:xfrm>
            <a:off x="4050792" y="2798064"/>
            <a:ext cx="7516368" cy="256032"/>
          </a:xfrm>
          <a:prstGeom prst="rect">
            <a:avLst/>
          </a:prstGeom>
          <a:noFill/>
          <a:ln/>
        </p:spPr>
        <p:txBody>
          <a:bodyPr wrap="square" lIns="0" tIns="0" rIns="0" bIns="0"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WHAT WE WILL CHECK AFTER EACH STEP</a:t>
            </a:r>
            <a:endParaRPr lang="en-US" sz="1100" dirty="0"/>
          </a:p>
        </p:txBody>
      </p:sp>
      <p:sp>
        <p:nvSpPr>
          <p:cNvPr id="40" name="Text 32"/>
          <p:cNvSpPr/>
          <p:nvPr/>
        </p:nvSpPr>
        <p:spPr>
          <a:xfrm>
            <a:off x="4050792" y="3108960"/>
            <a:ext cx="7516368" cy="704088"/>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git flow release status — current version, included features/fixes/devops</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git flow release manifest — full release.json contents</a:t>
            </a:r>
            <a:endParaRPr lang="en-US" sz="1150" dirty="0"/>
          </a:p>
          <a:p>
            <a:pPr marL="342900" indent="-3429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git log --oneline --decorate --tags -5 — the resulting commits and tags</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7C3AED"/>
                </a:solidFill>
                <a:latin typeface="Calibri" pitchFamily="34" charset="0"/>
                <a:ea typeface="Calibri" pitchFamily="34" charset="-122"/>
                <a:cs typeface="Calibri" pitchFamily="34" charset="-120"/>
              </a:rPr>
              <a:t>OWNERSHIP</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Roles and Responsibilities</a:t>
            </a:r>
            <a:endParaRPr lang="en-US" sz="3000" dirty="0"/>
          </a:p>
        </p:txBody>
      </p:sp>
      <p:sp>
        <p:nvSpPr>
          <p:cNvPr id="4" name="Shape 2"/>
          <p:cNvSpPr/>
          <p:nvPr/>
        </p:nvSpPr>
        <p:spPr>
          <a:xfrm>
            <a:off x="457200" y="1280160"/>
            <a:ext cx="2578608" cy="4480560"/>
          </a:xfrm>
          <a:prstGeom prst="roundRect">
            <a:avLst>
              <a:gd name="adj" fmla="val 2128"/>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sp>
        <p:nvSpPr>
          <p:cNvPr id="5" name="Shape 3"/>
          <p:cNvSpPr/>
          <p:nvPr/>
        </p:nvSpPr>
        <p:spPr>
          <a:xfrm>
            <a:off x="1362456" y="1508760"/>
            <a:ext cx="768096" cy="768096"/>
          </a:xfrm>
          <a:prstGeom prst="oval">
            <a:avLst/>
          </a:prstGeom>
          <a:solidFill>
            <a:srgbClr val="2563EB"/>
          </a:solidFill>
          <a:ln w="12700">
            <a:solidFill>
              <a:srgbClr val="2563EB"/>
            </a:solidFill>
            <a:prstDash val="solid"/>
          </a:ln>
        </p:spPr>
      </p:sp>
      <p:pic>
        <p:nvPicPr>
          <p:cNvPr id="6" name="Image 0" descr="C:\Users\Tabish.DESKTOP-AMHU6DL\AppData\Local\Temp\claude\C--Data-Apps-GitFlowPlus\670cb83e-903e-4a7a-8a42-3e26eddb1211\scratchpad\gfp-deck\icons\developer.png">    </p:cNvPr>
          <p:cNvPicPr>
            <a:picLocks noChangeAspect="1"/>
          </p:cNvPicPr>
          <p:nvPr/>
        </p:nvPicPr>
        <p:blipFill>
          <a:blip r:embed="rId1"/>
          <a:stretch>
            <a:fillRect/>
          </a:stretch>
        </p:blipFill>
        <p:spPr>
          <a:xfrm>
            <a:off x="1517904" y="1664208"/>
            <a:ext cx="457200" cy="457200"/>
          </a:xfrm>
          <a:prstGeom prst="rect">
            <a:avLst/>
          </a:prstGeom>
        </p:spPr>
      </p:pic>
      <p:sp>
        <p:nvSpPr>
          <p:cNvPr id="7" name="Text 4"/>
          <p:cNvSpPr/>
          <p:nvPr/>
        </p:nvSpPr>
        <p:spPr>
          <a:xfrm>
            <a:off x="548640" y="2423160"/>
            <a:ext cx="2395728" cy="365760"/>
          </a:xfrm>
          <a:prstGeom prst="rect">
            <a:avLst/>
          </a:prstGeom>
          <a:noFill/>
          <a:ln/>
        </p:spPr>
        <p:txBody>
          <a:bodyPr wrap="square" lIns="0" tIns="0" rIns="0" bIns="0" rtlCol="0" anchor="ctr"/>
          <a:lstStyle/>
          <a:p>
            <a:pPr algn="ctr" indent="0" marL="0">
              <a:buNone/>
            </a:pPr>
            <a:r>
              <a:rPr lang="en-US" sz="1400" b="1" dirty="0">
                <a:solidFill>
                  <a:srgbClr val="2563EB"/>
                </a:solidFill>
                <a:latin typeface="Calibri" pitchFamily="34" charset="0"/>
                <a:ea typeface="Calibri" pitchFamily="34" charset="-122"/>
                <a:cs typeface="Calibri" pitchFamily="34" charset="-120"/>
              </a:rPr>
              <a:t>Developer</a:t>
            </a:r>
            <a:endParaRPr lang="en-US" sz="1400" dirty="0"/>
          </a:p>
        </p:txBody>
      </p:sp>
      <p:sp>
        <p:nvSpPr>
          <p:cNvPr id="8" name="Text 5"/>
          <p:cNvSpPr/>
          <p:nvPr/>
        </p:nvSpPr>
        <p:spPr>
          <a:xfrm>
            <a:off x="640080" y="2926080"/>
            <a:ext cx="2212848" cy="2651760"/>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1F2937"/>
                </a:solidFill>
                <a:latin typeface="Calibri" pitchFamily="34" charset="0"/>
                <a:ea typeface="Calibri" pitchFamily="34" charset="-122"/>
                <a:cs typeface="Calibri" pitchFamily="34" charset="-120"/>
              </a:rPr>
              <a:t>git flow feature start</a:t>
            </a:r>
            <a:endParaRPr lang="en-US" sz="1050" dirty="0"/>
          </a:p>
          <a:p>
            <a:pPr marL="342900" indent="-342900">
              <a:spcAft>
                <a:spcPts val="800"/>
              </a:spcAft>
              <a:buSzPct val="100000"/>
              <a:buChar char="•"/>
            </a:pPr>
            <a:r>
              <a:rPr lang="en-US" sz="1050" dirty="0">
                <a:solidFill>
                  <a:srgbClr val="1F2937"/>
                </a:solidFill>
                <a:latin typeface="Calibri" pitchFamily="34" charset="0"/>
                <a:ea typeface="Calibri" pitchFamily="34" charset="-122"/>
                <a:cs typeface="Calibri" pitchFamily="34" charset="-120"/>
              </a:rPr>
              <a:t>Commit &amp; push</a:t>
            </a:r>
            <a:endParaRPr lang="en-US" sz="1050" dirty="0"/>
          </a:p>
          <a:p>
            <a:pPr marL="342900" indent="-342900">
              <a:spcAft>
                <a:spcPts val="800"/>
              </a:spcAft>
              <a:buSzPct val="100000"/>
              <a:buChar char="•"/>
            </a:pPr>
            <a:r>
              <a:rPr lang="en-US" sz="1050" dirty="0">
                <a:solidFill>
                  <a:srgbClr val="1F2937"/>
                </a:solidFill>
                <a:latin typeface="Calibri" pitchFamily="34" charset="0"/>
                <a:ea typeface="Calibri" pitchFamily="34" charset="-122"/>
                <a:cs typeface="Calibri" pitchFamily="34" charset="-120"/>
              </a:rPr>
              <a:t>Open pull requests</a:t>
            </a:r>
            <a:endParaRPr lang="en-US" sz="1050" dirty="0"/>
          </a:p>
          <a:p>
            <a:pPr marL="342900" indent="-342900">
              <a:spcAft>
                <a:spcPts val="800"/>
              </a:spcAft>
              <a:buSzPct val="100000"/>
              <a:buChar char="•"/>
            </a:pPr>
            <a:r>
              <a:rPr lang="en-US" sz="1050" dirty="0">
                <a:solidFill>
                  <a:srgbClr val="1F2937"/>
                </a:solidFill>
                <a:latin typeface="Calibri" pitchFamily="34" charset="0"/>
                <a:ea typeface="Calibri" pitchFamily="34" charset="-122"/>
                <a:cs typeface="Calibri" pitchFamily="34" charset="-120"/>
              </a:rPr>
              <a:t>Fix QA-reported defects on the same branch</a:t>
            </a:r>
            <a:endParaRPr lang="en-US" sz="1050" dirty="0"/>
          </a:p>
        </p:txBody>
      </p:sp>
      <p:sp>
        <p:nvSpPr>
          <p:cNvPr id="9" name="Shape 6"/>
          <p:cNvSpPr/>
          <p:nvPr/>
        </p:nvSpPr>
        <p:spPr>
          <a:xfrm>
            <a:off x="3355848" y="1280160"/>
            <a:ext cx="2578608" cy="4480560"/>
          </a:xfrm>
          <a:prstGeom prst="roundRect">
            <a:avLst>
              <a:gd name="adj" fmla="val 2128"/>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sp>
        <p:nvSpPr>
          <p:cNvPr id="10" name="Shape 7"/>
          <p:cNvSpPr/>
          <p:nvPr/>
        </p:nvSpPr>
        <p:spPr>
          <a:xfrm>
            <a:off x="4261104" y="1508760"/>
            <a:ext cx="768096" cy="768096"/>
          </a:xfrm>
          <a:prstGeom prst="oval">
            <a:avLst/>
          </a:prstGeom>
          <a:solidFill>
            <a:srgbClr val="7C3AED"/>
          </a:solidFill>
          <a:ln w="12700">
            <a:solidFill>
              <a:srgbClr val="7C3AED"/>
            </a:solidFill>
            <a:prstDash val="solid"/>
          </a:ln>
        </p:spPr>
      </p:sp>
      <p:pic>
        <p:nvPicPr>
          <p:cNvPr id="11" name="Image 1" descr="C:\Users\Tabish.DESKTOP-AMHU6DL\AppData\Local\Temp\claude\C--Data-Apps-GitFlowPlus\670cb83e-903e-4a7a-8a42-3e26eddb1211\scratchpad\gfp-deck\icons\release-manager.png">    </p:cNvPr>
          <p:cNvPicPr>
            <a:picLocks noChangeAspect="1"/>
          </p:cNvPicPr>
          <p:nvPr/>
        </p:nvPicPr>
        <p:blipFill>
          <a:blip r:embed="rId2"/>
          <a:stretch>
            <a:fillRect/>
          </a:stretch>
        </p:blipFill>
        <p:spPr>
          <a:xfrm>
            <a:off x="4416552" y="1664208"/>
            <a:ext cx="457200" cy="457200"/>
          </a:xfrm>
          <a:prstGeom prst="rect">
            <a:avLst/>
          </a:prstGeom>
        </p:spPr>
      </p:pic>
      <p:sp>
        <p:nvSpPr>
          <p:cNvPr id="12" name="Text 8"/>
          <p:cNvSpPr/>
          <p:nvPr/>
        </p:nvSpPr>
        <p:spPr>
          <a:xfrm>
            <a:off x="3447288" y="2423160"/>
            <a:ext cx="2395728" cy="365760"/>
          </a:xfrm>
          <a:prstGeom prst="rect">
            <a:avLst/>
          </a:prstGeom>
          <a:noFill/>
          <a:ln/>
        </p:spPr>
        <p:txBody>
          <a:bodyPr wrap="square" lIns="0" tIns="0" rIns="0" bIns="0" rtlCol="0" anchor="ctr"/>
          <a:lstStyle/>
          <a:p>
            <a:pPr algn="ctr" indent="0" marL="0">
              <a:buNone/>
            </a:pPr>
            <a:r>
              <a:rPr lang="en-US" sz="1400" b="1" dirty="0">
                <a:solidFill>
                  <a:srgbClr val="7C3AED"/>
                </a:solidFill>
                <a:latin typeface="Calibri" pitchFamily="34" charset="0"/>
                <a:ea typeface="Calibri" pitchFamily="34" charset="-122"/>
                <a:cs typeface="Calibri" pitchFamily="34" charset="-120"/>
              </a:rPr>
              <a:t>Release Manager</a:t>
            </a:r>
            <a:endParaRPr lang="en-US" sz="1400" dirty="0"/>
          </a:p>
        </p:txBody>
      </p:sp>
      <p:sp>
        <p:nvSpPr>
          <p:cNvPr id="13" name="Text 9"/>
          <p:cNvSpPr/>
          <p:nvPr/>
        </p:nvSpPr>
        <p:spPr>
          <a:xfrm>
            <a:off x="3538728" y="2926080"/>
            <a:ext cx="2212848" cy="2651760"/>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1F2937"/>
                </a:solidFill>
                <a:latin typeface="Calibri" pitchFamily="34" charset="0"/>
                <a:ea typeface="Calibri" pitchFamily="34" charset="-122"/>
                <a:cs typeface="Calibri" pitchFamily="34" charset="-120"/>
              </a:rPr>
              <a:t>release start / finish</a:t>
            </a:r>
            <a:endParaRPr lang="en-US" sz="1050" dirty="0"/>
          </a:p>
          <a:p>
            <a:pPr marL="342900" indent="-342900">
              <a:spcAft>
                <a:spcPts val="800"/>
              </a:spcAft>
              <a:buSzPct val="100000"/>
              <a:buChar char="•"/>
            </a:pPr>
            <a:r>
              <a:rPr lang="en-US" sz="1050" dirty="0">
                <a:solidFill>
                  <a:srgbClr val="1F2937"/>
                </a:solidFill>
                <a:latin typeface="Calibri" pitchFamily="34" charset="0"/>
                <a:ea typeface="Calibri" pitchFamily="34" charset="-122"/>
                <a:cs typeface="Calibri" pitchFamily="34" charset="-120"/>
              </a:rPr>
              <a:t>Approve &amp; merge features (feature add)</a:t>
            </a:r>
            <a:endParaRPr lang="en-US" sz="1050" dirty="0"/>
          </a:p>
          <a:p>
            <a:pPr marL="342900" indent="-342900">
              <a:spcAft>
                <a:spcPts val="800"/>
              </a:spcAft>
              <a:buSzPct val="100000"/>
              <a:buChar char="•"/>
            </a:pPr>
            <a:r>
              <a:rPr lang="en-US" sz="1050" dirty="0">
                <a:solidFill>
                  <a:srgbClr val="1F2937"/>
                </a:solidFill>
                <a:latin typeface="Calibri" pitchFamily="34" charset="0"/>
                <a:ea typeface="Calibri" pitchFamily="34" charset="-122"/>
                <a:cs typeface="Calibri" pitchFamily="34" charset="-120"/>
              </a:rPr>
              <a:t>Cut QA builds (release build)</a:t>
            </a:r>
            <a:endParaRPr lang="en-US" sz="1050" dirty="0"/>
          </a:p>
          <a:p>
            <a:pPr marL="342900" indent="-342900">
              <a:spcAft>
                <a:spcPts val="800"/>
              </a:spcAft>
              <a:buSzPct val="100000"/>
              <a:buChar char="•"/>
            </a:pPr>
            <a:r>
              <a:rPr lang="en-US" sz="1050" dirty="0">
                <a:solidFill>
                  <a:srgbClr val="1F2937"/>
                </a:solidFill>
                <a:latin typeface="Calibri" pitchFamily="34" charset="0"/>
                <a:ea typeface="Calibri" pitchFamily="34" charset="-122"/>
                <a:cs typeface="Calibri" pitchFamily="34" charset="-120"/>
              </a:rPr>
              <a:t>Own the release manifest end to end</a:t>
            </a:r>
            <a:endParaRPr lang="en-US" sz="1050" dirty="0"/>
          </a:p>
        </p:txBody>
      </p:sp>
      <p:sp>
        <p:nvSpPr>
          <p:cNvPr id="14" name="Shape 10"/>
          <p:cNvSpPr/>
          <p:nvPr/>
        </p:nvSpPr>
        <p:spPr>
          <a:xfrm>
            <a:off x="6254496" y="1280160"/>
            <a:ext cx="2578608" cy="4480560"/>
          </a:xfrm>
          <a:prstGeom prst="roundRect">
            <a:avLst>
              <a:gd name="adj" fmla="val 2128"/>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sp>
        <p:nvSpPr>
          <p:cNvPr id="15" name="Shape 11"/>
          <p:cNvSpPr/>
          <p:nvPr/>
        </p:nvSpPr>
        <p:spPr>
          <a:xfrm>
            <a:off x="7159752" y="1508760"/>
            <a:ext cx="768096" cy="768096"/>
          </a:xfrm>
          <a:prstGeom prst="oval">
            <a:avLst/>
          </a:prstGeom>
          <a:solidFill>
            <a:srgbClr val="EA580C"/>
          </a:solidFill>
          <a:ln w="12700">
            <a:solidFill>
              <a:srgbClr val="EA580C"/>
            </a:solidFill>
            <a:prstDash val="solid"/>
          </a:ln>
        </p:spPr>
      </p:sp>
      <p:pic>
        <p:nvPicPr>
          <p:cNvPr id="16" name="Image 2" descr="C:\Users\Tabish.DESKTOP-AMHU6DL\AppData\Local\Temp\claude\C--Data-Apps-GitFlowPlus\670cb83e-903e-4a7a-8a42-3e26eddb1211\scratchpad\gfp-deck\icons\qa-engineer.png">    </p:cNvPr>
          <p:cNvPicPr>
            <a:picLocks noChangeAspect="1"/>
          </p:cNvPicPr>
          <p:nvPr/>
        </p:nvPicPr>
        <p:blipFill>
          <a:blip r:embed="rId3"/>
          <a:stretch>
            <a:fillRect/>
          </a:stretch>
        </p:blipFill>
        <p:spPr>
          <a:xfrm>
            <a:off x="7315200" y="1664208"/>
            <a:ext cx="457200" cy="457200"/>
          </a:xfrm>
          <a:prstGeom prst="rect">
            <a:avLst/>
          </a:prstGeom>
        </p:spPr>
      </p:pic>
      <p:sp>
        <p:nvSpPr>
          <p:cNvPr id="17" name="Text 12"/>
          <p:cNvSpPr/>
          <p:nvPr/>
        </p:nvSpPr>
        <p:spPr>
          <a:xfrm>
            <a:off x="6345936" y="2423160"/>
            <a:ext cx="2395728" cy="365760"/>
          </a:xfrm>
          <a:prstGeom prst="rect">
            <a:avLst/>
          </a:prstGeom>
          <a:noFill/>
          <a:ln/>
        </p:spPr>
        <p:txBody>
          <a:bodyPr wrap="square" lIns="0" tIns="0" rIns="0" bIns="0" rtlCol="0" anchor="ctr"/>
          <a:lstStyle/>
          <a:p>
            <a:pPr algn="ctr" indent="0" marL="0">
              <a:buNone/>
            </a:pPr>
            <a:r>
              <a:rPr lang="en-US" sz="1400" b="1" dirty="0">
                <a:solidFill>
                  <a:srgbClr val="EA580C"/>
                </a:solidFill>
                <a:latin typeface="Calibri" pitchFamily="34" charset="0"/>
                <a:ea typeface="Calibri" pitchFamily="34" charset="-122"/>
                <a:cs typeface="Calibri" pitchFamily="34" charset="-120"/>
              </a:rPr>
              <a:t>QA Engineer</a:t>
            </a:r>
            <a:endParaRPr lang="en-US" sz="1400" dirty="0"/>
          </a:p>
        </p:txBody>
      </p:sp>
      <p:sp>
        <p:nvSpPr>
          <p:cNvPr id="18" name="Text 13"/>
          <p:cNvSpPr/>
          <p:nvPr/>
        </p:nvSpPr>
        <p:spPr>
          <a:xfrm>
            <a:off x="6437376" y="2926080"/>
            <a:ext cx="2212848" cy="2651760"/>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1F2937"/>
                </a:solidFill>
                <a:latin typeface="Calibri" pitchFamily="34" charset="0"/>
                <a:ea typeface="Calibri" pitchFamily="34" charset="-122"/>
                <a:cs typeface="Calibri" pitchFamily="34" charset="-120"/>
              </a:rPr>
              <a:t>Test every tagged QA build</a:t>
            </a:r>
            <a:endParaRPr lang="en-US" sz="1050" dirty="0"/>
          </a:p>
          <a:p>
            <a:pPr marL="342900" indent="-342900">
              <a:spcAft>
                <a:spcPts val="800"/>
              </a:spcAft>
              <a:buSzPct val="100000"/>
              <a:buChar char="•"/>
            </a:pPr>
            <a:r>
              <a:rPr lang="en-US" sz="1050" dirty="0">
                <a:solidFill>
                  <a:srgbClr val="1F2937"/>
                </a:solidFill>
                <a:latin typeface="Calibri" pitchFamily="34" charset="0"/>
                <a:ea typeface="Calibri" pitchFamily="34" charset="-122"/>
                <a:cs typeface="Calibri" pitchFamily="34" charset="-120"/>
              </a:rPr>
              <a:t>File defects against the release</a:t>
            </a:r>
            <a:endParaRPr lang="en-US" sz="1050" dirty="0"/>
          </a:p>
          <a:p>
            <a:pPr marL="342900" indent="-342900">
              <a:spcAft>
                <a:spcPts val="800"/>
              </a:spcAft>
              <a:buSzPct val="100000"/>
              <a:buChar char="•"/>
            </a:pPr>
            <a:r>
              <a:rPr lang="en-US" sz="1050" dirty="0">
                <a:solidFill>
                  <a:srgbClr val="1F2937"/>
                </a:solidFill>
                <a:latin typeface="Calibri" pitchFamily="34" charset="0"/>
                <a:ea typeface="Calibri" pitchFamily="34" charset="-122"/>
                <a:cs typeface="Calibri" pitchFamily="34" charset="-120"/>
              </a:rPr>
              <a:t>Sign off before release finish</a:t>
            </a:r>
            <a:endParaRPr lang="en-US" sz="1050" dirty="0"/>
          </a:p>
          <a:p>
            <a:pPr marL="342900" indent="-342900">
              <a:spcAft>
                <a:spcPts val="800"/>
              </a:spcAft>
              <a:buSzPct val="100000"/>
              <a:buChar char="•"/>
            </a:pPr>
            <a:r>
              <a:rPr lang="en-US" sz="1050" dirty="0">
                <a:solidFill>
                  <a:srgbClr val="1F2937"/>
                </a:solidFill>
                <a:latin typeface="Calibri" pitchFamily="34" charset="0"/>
                <a:ea typeface="Calibri" pitchFamily="34" charset="-122"/>
                <a:cs typeface="Calibri" pitchFamily="34" charset="-120"/>
              </a:rPr>
              <a:t>Verify the production tag post-release</a:t>
            </a:r>
            <a:endParaRPr lang="en-US" sz="1050" dirty="0"/>
          </a:p>
        </p:txBody>
      </p:sp>
      <p:sp>
        <p:nvSpPr>
          <p:cNvPr id="19" name="Shape 14"/>
          <p:cNvSpPr/>
          <p:nvPr/>
        </p:nvSpPr>
        <p:spPr>
          <a:xfrm>
            <a:off x="9153144" y="1280160"/>
            <a:ext cx="2578608" cy="4480560"/>
          </a:xfrm>
          <a:prstGeom prst="roundRect">
            <a:avLst>
              <a:gd name="adj" fmla="val 2128"/>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sp>
        <p:nvSpPr>
          <p:cNvPr id="20" name="Shape 15"/>
          <p:cNvSpPr/>
          <p:nvPr/>
        </p:nvSpPr>
        <p:spPr>
          <a:xfrm>
            <a:off x="10058400" y="1508760"/>
            <a:ext cx="768096" cy="768096"/>
          </a:xfrm>
          <a:prstGeom prst="oval">
            <a:avLst/>
          </a:prstGeom>
          <a:solidFill>
            <a:srgbClr val="7C3AED"/>
          </a:solidFill>
          <a:ln w="12700">
            <a:solidFill>
              <a:srgbClr val="7C3AED"/>
            </a:solidFill>
            <a:prstDash val="solid"/>
          </a:ln>
        </p:spPr>
      </p:sp>
      <p:pic>
        <p:nvPicPr>
          <p:cNvPr id="21" name="Image 3" descr="C:\Users\Tabish.DESKTOP-AMHU6DL\AppData\Local\Temp\claude\C--Data-Apps-GitFlowPlus\670cb83e-903e-4a7a-8a42-3e26eddb1211\scratchpad\gfp-deck\icons\devops-engineer.png">    </p:cNvPr>
          <p:cNvPicPr>
            <a:picLocks noChangeAspect="1"/>
          </p:cNvPicPr>
          <p:nvPr/>
        </p:nvPicPr>
        <p:blipFill>
          <a:blip r:embed="rId4"/>
          <a:stretch>
            <a:fillRect/>
          </a:stretch>
        </p:blipFill>
        <p:spPr>
          <a:xfrm>
            <a:off x="10213848" y="1664208"/>
            <a:ext cx="457200" cy="457200"/>
          </a:xfrm>
          <a:prstGeom prst="rect">
            <a:avLst/>
          </a:prstGeom>
        </p:spPr>
      </p:pic>
      <p:sp>
        <p:nvSpPr>
          <p:cNvPr id="22" name="Text 16"/>
          <p:cNvSpPr/>
          <p:nvPr/>
        </p:nvSpPr>
        <p:spPr>
          <a:xfrm>
            <a:off x="9244584" y="2423160"/>
            <a:ext cx="2395728" cy="365760"/>
          </a:xfrm>
          <a:prstGeom prst="rect">
            <a:avLst/>
          </a:prstGeom>
          <a:noFill/>
          <a:ln/>
        </p:spPr>
        <p:txBody>
          <a:bodyPr wrap="square" lIns="0" tIns="0" rIns="0" bIns="0" rtlCol="0" anchor="ctr"/>
          <a:lstStyle/>
          <a:p>
            <a:pPr algn="ctr" indent="0" marL="0">
              <a:buNone/>
            </a:pPr>
            <a:r>
              <a:rPr lang="en-US" sz="1400" b="1" dirty="0">
                <a:solidFill>
                  <a:srgbClr val="7C3AED"/>
                </a:solidFill>
                <a:latin typeface="Calibri" pitchFamily="34" charset="0"/>
                <a:ea typeface="Calibri" pitchFamily="34" charset="-122"/>
                <a:cs typeface="Calibri" pitchFamily="34" charset="-120"/>
              </a:rPr>
              <a:t>DevOps Engineer</a:t>
            </a:r>
            <a:endParaRPr lang="en-US" sz="1400" dirty="0"/>
          </a:p>
        </p:txBody>
      </p:sp>
      <p:sp>
        <p:nvSpPr>
          <p:cNvPr id="23" name="Text 17"/>
          <p:cNvSpPr/>
          <p:nvPr/>
        </p:nvSpPr>
        <p:spPr>
          <a:xfrm>
            <a:off x="9336024" y="2926080"/>
            <a:ext cx="2212848" cy="2651760"/>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1F2937"/>
                </a:solidFill>
                <a:latin typeface="Calibri" pitchFamily="34" charset="0"/>
                <a:ea typeface="Calibri" pitchFamily="34" charset="-122"/>
                <a:cs typeface="Calibri" pitchFamily="34" charset="-120"/>
              </a:rPr>
              <a:t>devops start / finish for pipeline changes</a:t>
            </a:r>
            <a:endParaRPr lang="en-US" sz="1050" dirty="0"/>
          </a:p>
          <a:p>
            <a:pPr marL="342900" indent="-342900">
              <a:spcAft>
                <a:spcPts val="800"/>
              </a:spcAft>
              <a:buSzPct val="100000"/>
              <a:buChar char="•"/>
            </a:pPr>
            <a:r>
              <a:rPr lang="en-US" sz="1050" dirty="0">
                <a:solidFill>
                  <a:srgbClr val="1F2937"/>
                </a:solidFill>
                <a:latin typeface="Calibri" pitchFamily="34" charset="0"/>
                <a:ea typeface="Calibri" pitchFamily="34" charset="-122"/>
                <a:cs typeface="Calibri" pitchFamily="34" charset="-120"/>
              </a:rPr>
              <a:t>Wire post-qa-tag / post-production-tag hooks</a:t>
            </a:r>
            <a:endParaRPr lang="en-US" sz="1050" dirty="0"/>
          </a:p>
          <a:p>
            <a:pPr marL="342900" indent="-342900">
              <a:spcAft>
                <a:spcPts val="800"/>
              </a:spcAft>
              <a:buSzPct val="100000"/>
              <a:buChar char="•"/>
            </a:pPr>
            <a:r>
              <a:rPr lang="en-US" sz="1050" dirty="0">
                <a:solidFill>
                  <a:srgbClr val="1F2937"/>
                </a:solidFill>
                <a:latin typeface="Calibri" pitchFamily="34" charset="0"/>
                <a:ea typeface="Calibri" pitchFamily="34" charset="-122"/>
                <a:cs typeface="Calibri" pitchFamily="34" charset="-120"/>
              </a:rPr>
              <a:t>Own CI/CD deploy automation</a:t>
            </a:r>
            <a:endParaRPr lang="en-US" sz="1050" dirty="0"/>
          </a:p>
          <a:p>
            <a:pPr marL="342900" indent="-342900">
              <a:spcAft>
                <a:spcPts val="800"/>
              </a:spcAft>
              <a:buSzPct val="100000"/>
              <a:buChar char="•"/>
            </a:pPr>
            <a:r>
              <a:rPr lang="en-US" sz="1050" dirty="0">
                <a:solidFill>
                  <a:srgbClr val="1F2937"/>
                </a:solidFill>
                <a:latin typeface="Calibri" pitchFamily="34" charset="0"/>
                <a:ea typeface="Calibri" pitchFamily="34" charset="-122"/>
                <a:cs typeface="Calibri" pitchFamily="34" charset="-120"/>
              </a:rPr>
              <a:t>Maintain build &amp; packaging scripts</a:t>
            </a:r>
            <a:endParaRPr lang="en-US" sz="1050" dirty="0"/>
          </a:p>
        </p:txBody>
      </p:sp>
      <p:sp>
        <p:nvSpPr>
          <p:cNvPr id="24" name="Text 18"/>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25" name="Text 19"/>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74552" cy="274320"/>
          </a:xfrm>
          <a:prstGeom prst="rect">
            <a:avLst/>
          </a:prstGeom>
          <a:noFill/>
          <a:ln/>
        </p:spPr>
        <p:txBody>
          <a:bodyPr wrap="square" lIns="0" tIns="0" rIns="0" bIns="0" rtlCol="0" anchor="ctr"/>
          <a:lstStyle/>
          <a:p>
            <a:pPr indent="0" marL="0">
              <a:buNone/>
            </a:pPr>
            <a:r>
              <a:rPr lang="en-US" sz="1200" b="1" spc="200" kern="0" dirty="0">
                <a:solidFill>
                  <a:srgbClr val="16A34A"/>
                </a:solidFill>
                <a:latin typeface="Calibri" pitchFamily="34" charset="0"/>
                <a:ea typeface="Calibri" pitchFamily="34" charset="-122"/>
                <a:cs typeface="Calibri" pitchFamily="34" charset="-120"/>
              </a:rPr>
              <a:t>WHY IT MATTERS</a:t>
            </a:r>
            <a:endParaRPr lang="en-US" sz="1200" dirty="0"/>
          </a:p>
        </p:txBody>
      </p:sp>
      <p:sp>
        <p:nvSpPr>
          <p:cNvPr id="3" name="Text 1"/>
          <p:cNvSpPr/>
          <p:nvPr/>
        </p:nvSpPr>
        <p:spPr>
          <a:xfrm>
            <a:off x="457200" y="512064"/>
            <a:ext cx="11274552"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Benefits</a:t>
            </a:r>
            <a:endParaRPr lang="en-US" sz="3000" dirty="0"/>
          </a:p>
        </p:txBody>
      </p:sp>
      <p:sp>
        <p:nvSpPr>
          <p:cNvPr id="4" name="Shape 2"/>
          <p:cNvSpPr/>
          <p:nvPr/>
        </p:nvSpPr>
        <p:spPr>
          <a:xfrm>
            <a:off x="457200" y="1325880"/>
            <a:ext cx="3575304" cy="2148840"/>
          </a:xfrm>
          <a:prstGeom prst="roundRect">
            <a:avLst>
              <a:gd name="adj" fmla="val 2553"/>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pic>
        <p:nvPicPr>
          <p:cNvPr id="5" name="Image 0" descr="C:\Users\Tabish.DESKTOP-AMHU6DL\AppData\Local\Temp\claude\C--Data-Apps-GitFlowPlus\670cb83e-903e-4a7a-8a42-3e26eddb1211\scratchpad\gfp-deck\icons\approval.png">    </p:cNvPr>
          <p:cNvPicPr>
            <a:picLocks noChangeAspect="1"/>
          </p:cNvPicPr>
          <p:nvPr/>
        </p:nvPicPr>
        <p:blipFill>
          <a:blip r:embed="rId1"/>
          <a:stretch>
            <a:fillRect/>
          </a:stretch>
        </p:blipFill>
        <p:spPr>
          <a:xfrm>
            <a:off x="658368" y="1527048"/>
            <a:ext cx="457200" cy="457200"/>
          </a:xfrm>
          <a:prstGeom prst="rect">
            <a:avLst/>
          </a:prstGeom>
        </p:spPr>
      </p:pic>
      <p:sp>
        <p:nvSpPr>
          <p:cNvPr id="6" name="Text 3"/>
          <p:cNvSpPr/>
          <p:nvPr/>
        </p:nvSpPr>
        <p:spPr>
          <a:xfrm>
            <a:off x="1234440" y="1545336"/>
            <a:ext cx="2615184" cy="457200"/>
          </a:xfrm>
          <a:prstGeom prst="rect">
            <a:avLst/>
          </a:prstGeom>
          <a:noFill/>
          <a:ln/>
        </p:spPr>
        <p:txBody>
          <a:bodyPr wrap="square" lIns="0" tIns="0" rIns="0" bIns="0" rtlCol="0" anchor="ctr"/>
          <a:lstStyle/>
          <a:p>
            <a:pPr indent="0" marL="0">
              <a:buNone/>
            </a:pPr>
            <a:r>
              <a:rPr lang="en-US" sz="1350" b="1" dirty="0">
                <a:solidFill>
                  <a:srgbClr val="7C3AED"/>
                </a:solidFill>
                <a:latin typeface="Calibri" pitchFamily="34" charset="0"/>
                <a:ea typeface="Calibri" pitchFamily="34" charset="-122"/>
                <a:cs typeface="Calibri" pitchFamily="34" charset="-120"/>
              </a:rPr>
              <a:t>Governed Releases</a:t>
            </a:r>
            <a:endParaRPr lang="en-US" sz="1350" dirty="0"/>
          </a:p>
        </p:txBody>
      </p:sp>
      <p:sp>
        <p:nvSpPr>
          <p:cNvPr id="7" name="Text 4"/>
          <p:cNvSpPr/>
          <p:nvPr/>
        </p:nvSpPr>
        <p:spPr>
          <a:xfrm>
            <a:off x="658368" y="2148840"/>
            <a:ext cx="3172968" cy="11887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Nothing reaches staging without explicit Release Manager approval — no accidental shipping.</a:t>
            </a:r>
            <a:endParaRPr lang="en-US" sz="1050" dirty="0"/>
          </a:p>
        </p:txBody>
      </p:sp>
      <p:sp>
        <p:nvSpPr>
          <p:cNvPr id="8" name="Shape 5"/>
          <p:cNvSpPr/>
          <p:nvPr/>
        </p:nvSpPr>
        <p:spPr>
          <a:xfrm>
            <a:off x="4306824" y="1325880"/>
            <a:ext cx="3575304" cy="2148840"/>
          </a:xfrm>
          <a:prstGeom prst="roundRect">
            <a:avLst>
              <a:gd name="adj" fmla="val 2553"/>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pic>
        <p:nvPicPr>
          <p:cNvPr id="9" name="Image 1" descr="C:\Users\Tabish.DESKTOP-AMHU6DL\AppData\Local\Temp\claude\C--Data-Apps-GitFlowPlus\670cb83e-903e-4a7a-8a42-3e26eddb1211\scratchpad\gfp-deck\icons\history.png">    </p:cNvPr>
          <p:cNvPicPr>
            <a:picLocks noChangeAspect="1"/>
          </p:cNvPicPr>
          <p:nvPr/>
        </p:nvPicPr>
        <p:blipFill>
          <a:blip r:embed="rId2"/>
          <a:stretch>
            <a:fillRect/>
          </a:stretch>
        </p:blipFill>
        <p:spPr>
          <a:xfrm>
            <a:off x="4507992" y="1527048"/>
            <a:ext cx="457200" cy="457200"/>
          </a:xfrm>
          <a:prstGeom prst="rect">
            <a:avLst/>
          </a:prstGeom>
        </p:spPr>
      </p:pic>
      <p:sp>
        <p:nvSpPr>
          <p:cNvPr id="10" name="Text 6"/>
          <p:cNvSpPr/>
          <p:nvPr/>
        </p:nvSpPr>
        <p:spPr>
          <a:xfrm>
            <a:off x="5084064" y="1545336"/>
            <a:ext cx="2615184" cy="457200"/>
          </a:xfrm>
          <a:prstGeom prst="rect">
            <a:avLst/>
          </a:prstGeom>
          <a:noFill/>
          <a:ln/>
        </p:spPr>
        <p:txBody>
          <a:bodyPr wrap="square" lIns="0" tIns="0" rIns="0" bIns="0" rtlCol="0" anchor="ctr"/>
          <a:lstStyle/>
          <a:p>
            <a:pPr indent="0" marL="0">
              <a:buNone/>
            </a:pPr>
            <a:r>
              <a:rPr lang="en-US" sz="1350" b="1" dirty="0">
                <a:solidFill>
                  <a:srgbClr val="2563EB"/>
                </a:solidFill>
                <a:latin typeface="Calibri" pitchFamily="34" charset="0"/>
                <a:ea typeface="Calibri" pitchFamily="34" charset="-122"/>
                <a:cs typeface="Calibri" pitchFamily="34" charset="-120"/>
              </a:rPr>
              <a:t>Full Audit Trail</a:t>
            </a:r>
            <a:endParaRPr lang="en-US" sz="1350" dirty="0"/>
          </a:p>
        </p:txBody>
      </p:sp>
      <p:sp>
        <p:nvSpPr>
          <p:cNvPr id="11" name="Text 7"/>
          <p:cNvSpPr/>
          <p:nvPr/>
        </p:nvSpPr>
        <p:spPr>
          <a:xfrm>
            <a:off x="4507992" y="2148840"/>
            <a:ext cx="3172968" cy="11887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Every merge, resync, and tag is recorded — reconstruct any release's exact history months later.</a:t>
            </a:r>
            <a:endParaRPr lang="en-US" sz="1050" dirty="0"/>
          </a:p>
        </p:txBody>
      </p:sp>
      <p:sp>
        <p:nvSpPr>
          <p:cNvPr id="12" name="Shape 8"/>
          <p:cNvSpPr/>
          <p:nvPr/>
        </p:nvSpPr>
        <p:spPr>
          <a:xfrm>
            <a:off x="8156448" y="1325880"/>
            <a:ext cx="3575304" cy="2148840"/>
          </a:xfrm>
          <a:prstGeom prst="roundRect">
            <a:avLst>
              <a:gd name="adj" fmla="val 2553"/>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pic>
        <p:nvPicPr>
          <p:cNvPr id="13" name="Image 2" descr="C:\Users\Tabish.DESKTOP-AMHU6DL\AppData\Local\Temp\claude\C--Data-Apps-GitFlowPlus\670cb83e-903e-4a7a-8a42-3e26eddb1211\scratchpad\gfp-deck\icons\git-tag.png">    </p:cNvPr>
          <p:cNvPicPr>
            <a:picLocks noChangeAspect="1"/>
          </p:cNvPicPr>
          <p:nvPr/>
        </p:nvPicPr>
        <p:blipFill>
          <a:blip r:embed="rId3"/>
          <a:stretch>
            <a:fillRect/>
          </a:stretch>
        </p:blipFill>
        <p:spPr>
          <a:xfrm>
            <a:off x="8357616" y="1527048"/>
            <a:ext cx="457200" cy="457200"/>
          </a:xfrm>
          <a:prstGeom prst="rect">
            <a:avLst/>
          </a:prstGeom>
        </p:spPr>
      </p:pic>
      <p:sp>
        <p:nvSpPr>
          <p:cNvPr id="14" name="Text 9"/>
          <p:cNvSpPr/>
          <p:nvPr/>
        </p:nvSpPr>
        <p:spPr>
          <a:xfrm>
            <a:off x="8933688" y="1545336"/>
            <a:ext cx="2615184" cy="457200"/>
          </a:xfrm>
          <a:prstGeom prst="rect">
            <a:avLst/>
          </a:prstGeom>
          <a:noFill/>
          <a:ln/>
        </p:spPr>
        <p:txBody>
          <a:bodyPr wrap="square" lIns="0" tIns="0" rIns="0" bIns="0" rtlCol="0" anchor="ctr"/>
          <a:lstStyle/>
          <a:p>
            <a:pPr indent="0" marL="0">
              <a:buNone/>
            </a:pPr>
            <a:r>
              <a:rPr lang="en-US" sz="1350" b="1" dirty="0">
                <a:solidFill>
                  <a:srgbClr val="EA580C"/>
                </a:solidFill>
                <a:latin typeface="Calibri" pitchFamily="34" charset="0"/>
                <a:ea typeface="Calibri" pitchFamily="34" charset="-122"/>
                <a:cs typeface="Calibri" pitchFamily="34" charset="-120"/>
              </a:rPr>
              <a:t>Reproducible Builds</a:t>
            </a:r>
            <a:endParaRPr lang="en-US" sz="1350" dirty="0"/>
          </a:p>
        </p:txBody>
      </p:sp>
      <p:sp>
        <p:nvSpPr>
          <p:cNvPr id="15" name="Text 10"/>
          <p:cNvSpPr/>
          <p:nvPr/>
        </p:nvSpPr>
        <p:spPr>
          <a:xfrm>
            <a:off x="8357616" y="2148840"/>
            <a:ext cx="3172968" cy="11887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Every QA build is a real, checkoutable Git tag — "what did QA actually test" always has an answer.</a:t>
            </a:r>
            <a:endParaRPr lang="en-US" sz="1050" dirty="0"/>
          </a:p>
        </p:txBody>
      </p:sp>
      <p:sp>
        <p:nvSpPr>
          <p:cNvPr id="16" name="Shape 11"/>
          <p:cNvSpPr/>
          <p:nvPr/>
        </p:nvSpPr>
        <p:spPr>
          <a:xfrm>
            <a:off x="457200" y="3657600"/>
            <a:ext cx="3575304" cy="2148840"/>
          </a:xfrm>
          <a:prstGeom prst="roundRect">
            <a:avLst>
              <a:gd name="adj" fmla="val 2553"/>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pic>
        <p:nvPicPr>
          <p:cNvPr id="17" name="Image 3" descr="C:\Users\Tabish.DESKTOP-AMHU6DL\AppData\Local\Temp\claude\C--Data-Apps-GitFlowPlus\670cb83e-903e-4a7a-8a42-3e26eddb1211\scratchpad\gfp-deck\icons\manifest.png">    </p:cNvPr>
          <p:cNvPicPr>
            <a:picLocks noChangeAspect="1"/>
          </p:cNvPicPr>
          <p:nvPr/>
        </p:nvPicPr>
        <p:blipFill>
          <a:blip r:embed="rId4"/>
          <a:stretch>
            <a:fillRect/>
          </a:stretch>
        </p:blipFill>
        <p:spPr>
          <a:xfrm>
            <a:off x="658368" y="3858768"/>
            <a:ext cx="457200" cy="457200"/>
          </a:xfrm>
          <a:prstGeom prst="rect">
            <a:avLst/>
          </a:prstGeom>
        </p:spPr>
      </p:pic>
      <p:sp>
        <p:nvSpPr>
          <p:cNvPr id="18" name="Text 12"/>
          <p:cNvSpPr/>
          <p:nvPr/>
        </p:nvSpPr>
        <p:spPr>
          <a:xfrm>
            <a:off x="1234440" y="3877056"/>
            <a:ext cx="2615184" cy="457200"/>
          </a:xfrm>
          <a:prstGeom prst="rect">
            <a:avLst/>
          </a:prstGeom>
          <a:noFill/>
          <a:ln/>
        </p:spPr>
        <p:txBody>
          <a:bodyPr wrap="square" lIns="0" tIns="0" rIns="0" bIns="0" rtlCol="0" anchor="ctr"/>
          <a:lstStyle/>
          <a:p>
            <a:pPr indent="0" marL="0">
              <a:buNone/>
            </a:pPr>
            <a:r>
              <a:rPr lang="en-US" sz="1350" b="1" dirty="0">
                <a:solidFill>
                  <a:srgbClr val="7C3AED"/>
                </a:solidFill>
                <a:latin typeface="Calibri" pitchFamily="34" charset="0"/>
                <a:ea typeface="Calibri" pitchFamily="34" charset="-122"/>
                <a:cs typeface="Calibri" pitchFamily="34" charset="-120"/>
              </a:rPr>
              <a:t>Single Source of Truth</a:t>
            </a:r>
            <a:endParaRPr lang="en-US" sz="1350" dirty="0"/>
          </a:p>
        </p:txBody>
      </p:sp>
      <p:sp>
        <p:nvSpPr>
          <p:cNvPr id="19" name="Text 13"/>
          <p:cNvSpPr/>
          <p:nvPr/>
        </p:nvSpPr>
        <p:spPr>
          <a:xfrm>
            <a:off x="658368" y="4480560"/>
            <a:ext cx="3172968" cy="11887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release.json answers "what's in this release" without a spreadsheet or a Slack thread.</a:t>
            </a:r>
            <a:endParaRPr lang="en-US" sz="1050" dirty="0"/>
          </a:p>
        </p:txBody>
      </p:sp>
      <p:sp>
        <p:nvSpPr>
          <p:cNvPr id="20" name="Shape 14"/>
          <p:cNvSpPr/>
          <p:nvPr/>
        </p:nvSpPr>
        <p:spPr>
          <a:xfrm>
            <a:off x="4306824" y="3657600"/>
            <a:ext cx="3575304" cy="2148840"/>
          </a:xfrm>
          <a:prstGeom prst="roundRect">
            <a:avLst>
              <a:gd name="adj" fmla="val 2553"/>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pic>
        <p:nvPicPr>
          <p:cNvPr id="21" name="Image 4" descr="C:\Users\Tabish.DESKTOP-AMHU6DL\AppData\Local\Temp\claude\C--Data-Apps-GitFlowPlus\670cb83e-903e-4a7a-8a42-3e26eddb1211\scratchpad\gfp-deck\icons\devops-tools.png">    </p:cNvPr>
          <p:cNvPicPr>
            <a:picLocks noChangeAspect="1"/>
          </p:cNvPicPr>
          <p:nvPr/>
        </p:nvPicPr>
        <p:blipFill>
          <a:blip r:embed="rId5"/>
          <a:stretch>
            <a:fillRect/>
          </a:stretch>
        </p:blipFill>
        <p:spPr>
          <a:xfrm>
            <a:off x="4507992" y="3858768"/>
            <a:ext cx="457200" cy="457200"/>
          </a:xfrm>
          <a:prstGeom prst="rect">
            <a:avLst/>
          </a:prstGeom>
        </p:spPr>
      </p:pic>
      <p:sp>
        <p:nvSpPr>
          <p:cNvPr id="22" name="Text 15"/>
          <p:cNvSpPr/>
          <p:nvPr/>
        </p:nvSpPr>
        <p:spPr>
          <a:xfrm>
            <a:off x="5084064" y="3877056"/>
            <a:ext cx="2615184" cy="45720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CI/CD-Agnostic</a:t>
            </a:r>
            <a:endParaRPr lang="en-US" sz="1350" dirty="0"/>
          </a:p>
        </p:txBody>
      </p:sp>
      <p:sp>
        <p:nvSpPr>
          <p:cNvPr id="23" name="Text 16"/>
          <p:cNvSpPr/>
          <p:nvPr/>
        </p:nvSpPr>
        <p:spPr>
          <a:xfrm>
            <a:off x="4507992" y="4480560"/>
            <a:ext cx="3172968" cy="11887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post-qa-tag / post-production-tag hooks integrate with whatever pipeline you already run.</a:t>
            </a:r>
            <a:endParaRPr lang="en-US" sz="1050" dirty="0"/>
          </a:p>
        </p:txBody>
      </p:sp>
      <p:sp>
        <p:nvSpPr>
          <p:cNvPr id="24" name="Shape 17"/>
          <p:cNvSpPr/>
          <p:nvPr/>
        </p:nvSpPr>
        <p:spPr>
          <a:xfrm>
            <a:off x="8156448" y="3657600"/>
            <a:ext cx="3575304" cy="2148840"/>
          </a:xfrm>
          <a:prstGeom prst="roundRect">
            <a:avLst>
              <a:gd name="adj" fmla="val 2553"/>
            </a:avLst>
          </a:prstGeom>
          <a:solidFill>
            <a:srgbClr val="F3F4F6"/>
          </a:solidFill>
          <a:ln w="9525">
            <a:solidFill>
              <a:srgbClr val="E5E7EB"/>
            </a:solidFill>
            <a:prstDash val="solid"/>
          </a:ln>
          <a:effectLst>
            <a:outerShdw sx="100000" sy="100000" kx="0" ky="0" algn="bl" rotWithShape="0" blurRad="Infinity" dist="Infinity" dir="Infinity">
              <a:srgbClr val="000000">
                <a:alpha val="Infinity"/>
              </a:srgbClr>
            </a:outerShdw>
          </a:effectLst>
        </p:spPr>
      </p:sp>
      <p:pic>
        <p:nvPicPr>
          <p:cNvPr id="25" name="Image 5" descr="C:\Users\Tabish.DESKTOP-AMHU6DL\AppData\Local\Temp\claude\C--Data-Apps-GitFlowPlus\670cb83e-903e-4a7a-8a42-3e26eddb1211\scratchpad\gfp-deck\icons\handshake.png">    </p:cNvPr>
          <p:cNvPicPr>
            <a:picLocks noChangeAspect="1"/>
          </p:cNvPicPr>
          <p:nvPr/>
        </p:nvPicPr>
        <p:blipFill>
          <a:blip r:embed="rId6"/>
          <a:stretch>
            <a:fillRect/>
          </a:stretch>
        </p:blipFill>
        <p:spPr>
          <a:xfrm>
            <a:off x="8357616" y="3858768"/>
            <a:ext cx="457200" cy="457200"/>
          </a:xfrm>
          <a:prstGeom prst="rect">
            <a:avLst/>
          </a:prstGeom>
        </p:spPr>
      </p:pic>
      <p:sp>
        <p:nvSpPr>
          <p:cNvPr id="26" name="Text 18"/>
          <p:cNvSpPr/>
          <p:nvPr/>
        </p:nvSpPr>
        <p:spPr>
          <a:xfrm>
            <a:off x="8933688" y="3877056"/>
            <a:ext cx="2615184" cy="457200"/>
          </a:xfrm>
          <a:prstGeom prst="rect">
            <a:avLst/>
          </a:prstGeom>
          <a:noFill/>
          <a:ln/>
        </p:spPr>
        <p:txBody>
          <a:bodyPr wrap="square" lIns="0" tIns="0" rIns="0" bIns="0" rtlCol="0" anchor="ctr"/>
          <a:lstStyle/>
          <a:p>
            <a:pPr indent="0" marL="0">
              <a:buNone/>
            </a:pPr>
            <a:r>
              <a:rPr lang="en-US" sz="1350" b="1" dirty="0">
                <a:solidFill>
                  <a:srgbClr val="16A34A"/>
                </a:solidFill>
                <a:latin typeface="Calibri" pitchFamily="34" charset="0"/>
                <a:ea typeface="Calibri" pitchFamily="34" charset="-122"/>
                <a:cs typeface="Calibri" pitchFamily="34" charset="-120"/>
              </a:rPr>
              <a:t>Zero New Vendor Lock-In</a:t>
            </a:r>
            <a:endParaRPr lang="en-US" sz="1350" dirty="0"/>
          </a:p>
        </p:txBody>
      </p:sp>
      <p:sp>
        <p:nvSpPr>
          <p:cNvPr id="27" name="Text 19"/>
          <p:cNvSpPr/>
          <p:nvPr/>
        </p:nvSpPr>
        <p:spPr>
          <a:xfrm>
            <a:off x="8357616" y="4480560"/>
            <a:ext cx="3172968" cy="11887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Every action is a normal git commit, merge, or annotated tag — no proprietary state, ever.</a:t>
            </a:r>
            <a:endParaRPr lang="en-US" sz="1050" dirty="0"/>
          </a:p>
        </p:txBody>
      </p:sp>
      <p:sp>
        <p:nvSpPr>
          <p:cNvPr id="28" name="Text 20"/>
          <p:cNvSpPr/>
          <p:nvPr/>
        </p:nvSpPr>
        <p:spPr>
          <a:xfrm>
            <a:off x="457200" y="6528816"/>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Git Flow Plus — Release Management Platform</a:t>
            </a:r>
            <a:endParaRPr lang="en-US" sz="900" dirty="0"/>
          </a:p>
        </p:txBody>
      </p:sp>
      <p:sp>
        <p:nvSpPr>
          <p:cNvPr id="29" name="Text 21"/>
          <p:cNvSpPr/>
          <p:nvPr/>
        </p:nvSpPr>
        <p:spPr>
          <a:xfrm>
            <a:off x="11274552" y="6528816"/>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w="12700">
            <a:solidFill>
              <a:srgbClr val="1E2761"/>
            </a:solidFill>
            <a:prstDash val="solid"/>
          </a:ln>
        </p:spPr>
      </p:sp>
      <p:sp>
        <p:nvSpPr>
          <p:cNvPr id="3" name="Shape 1"/>
          <p:cNvSpPr/>
          <p:nvPr/>
        </p:nvSpPr>
        <p:spPr>
          <a:xfrm>
            <a:off x="-2286000" y="-2011680"/>
            <a:ext cx="5486400" cy="5486400"/>
          </a:xfrm>
          <a:prstGeom prst="oval">
            <a:avLst/>
          </a:prstGeom>
          <a:solidFill>
            <a:srgbClr val="141A42"/>
          </a:solidFill>
          <a:ln w="12700">
            <a:solidFill>
              <a:srgbClr val="141A42"/>
            </a:solidFill>
            <a:prstDash val="solid"/>
          </a:ln>
        </p:spPr>
      </p:sp>
      <p:sp>
        <p:nvSpPr>
          <p:cNvPr id="4" name="Shape 2"/>
          <p:cNvSpPr/>
          <p:nvPr/>
        </p:nvSpPr>
        <p:spPr>
          <a:xfrm>
            <a:off x="9601200" y="4114800"/>
            <a:ext cx="5029200" cy="5029200"/>
          </a:xfrm>
          <a:prstGeom prst="oval">
            <a:avLst/>
          </a:prstGeom>
          <a:solidFill>
            <a:srgbClr val="141A42"/>
          </a:solidFill>
          <a:ln w="12700">
            <a:solidFill>
              <a:srgbClr val="141A42"/>
            </a:solidFill>
            <a:prstDash val="solid"/>
          </a:ln>
        </p:spPr>
      </p:sp>
      <p:pic>
        <p:nvPicPr>
          <p:cNvPr id="5" name="Image 0" descr="C:\Users\Tabish.DESKTOP-AMHU6DL\AppData\Local\Temp\claude\C--Data-Apps-GitFlowPlus\670cb83e-903e-4a7a-8a42-3e26eddb1211\scratchpad\gfp-deck\icons\question.png">    </p:cNvPr>
          <p:cNvPicPr>
            <a:picLocks noChangeAspect="1"/>
          </p:cNvPicPr>
          <p:nvPr/>
        </p:nvPicPr>
        <p:blipFill>
          <a:blip r:embed="rId1"/>
          <a:stretch>
            <a:fillRect/>
          </a:stretch>
        </p:blipFill>
        <p:spPr>
          <a:xfrm>
            <a:off x="5394960" y="1417320"/>
            <a:ext cx="1371600" cy="1371600"/>
          </a:xfrm>
          <a:prstGeom prst="rect">
            <a:avLst/>
          </a:prstGeom>
        </p:spPr>
      </p:pic>
      <p:sp>
        <p:nvSpPr>
          <p:cNvPr id="6" name="Text 3"/>
          <p:cNvSpPr/>
          <p:nvPr/>
        </p:nvSpPr>
        <p:spPr>
          <a:xfrm>
            <a:off x="822960" y="2971800"/>
            <a:ext cx="10515600"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Questions?</a:t>
            </a:r>
            <a:endParaRPr lang="en-US" sz="4400" dirty="0"/>
          </a:p>
        </p:txBody>
      </p:sp>
      <p:sp>
        <p:nvSpPr>
          <p:cNvPr id="7" name="Text 4"/>
          <p:cNvSpPr/>
          <p:nvPr/>
        </p:nvSpPr>
        <p:spPr>
          <a:xfrm>
            <a:off x="822960" y="3886200"/>
            <a:ext cx="10515600" cy="457200"/>
          </a:xfrm>
          <a:prstGeom prst="rect">
            <a:avLst/>
          </a:prstGeom>
          <a:noFill/>
          <a:ln/>
        </p:spPr>
        <p:txBody>
          <a:bodyPr wrap="square" lIns="0" tIns="0" rIns="0" bIns="0" rtlCol="0" anchor="ctr"/>
          <a:lstStyle/>
          <a:p>
            <a:pPr algn="ctr" indent="0" marL="0">
              <a:buNone/>
            </a:pPr>
            <a:r>
              <a:rPr lang="en-US" sz="1800" dirty="0">
                <a:solidFill>
                  <a:srgbClr val="9CA8E8"/>
                </a:solidFill>
                <a:latin typeface="Calibri" pitchFamily="34" charset="0"/>
                <a:ea typeface="Calibri" pitchFamily="34" charset="-122"/>
                <a:cs typeface="Calibri" pitchFamily="34" charset="-120"/>
              </a:rPr>
              <a:t>Thank you for your time</a:t>
            </a:r>
            <a:endParaRPr lang="en-US" sz="1800" dirty="0"/>
          </a:p>
        </p:txBody>
      </p:sp>
      <p:sp>
        <p:nvSpPr>
          <p:cNvPr id="8" name="Shape 5"/>
          <p:cNvSpPr/>
          <p:nvPr/>
        </p:nvSpPr>
        <p:spPr>
          <a:xfrm>
            <a:off x="4480560" y="4617720"/>
            <a:ext cx="3200400" cy="0"/>
          </a:xfrm>
          <a:prstGeom prst="line">
            <a:avLst/>
          </a:prstGeom>
          <a:noFill/>
          <a:ln w="25400">
            <a:solidFill>
              <a:srgbClr val="2563EB"/>
            </a:solidFill>
            <a:prstDash val="solid"/>
          </a:ln>
        </p:spPr>
      </p:sp>
      <p:sp>
        <p:nvSpPr>
          <p:cNvPr id="9" name="Text 6"/>
          <p:cNvSpPr/>
          <p:nvPr/>
        </p:nvSpPr>
        <p:spPr>
          <a:xfrm>
            <a:off x="822960" y="4846320"/>
            <a:ext cx="10515600" cy="365760"/>
          </a:xfrm>
          <a:prstGeom prst="rect">
            <a:avLst/>
          </a:prstGeom>
          <a:noFill/>
          <a:ln/>
        </p:spPr>
        <p:txBody>
          <a:bodyPr wrap="square" lIns="0" tIns="0" rIns="0" bIns="0" rtlCol="0" anchor="ctr"/>
          <a:lstStyle/>
          <a:p>
            <a:pPr algn="ctr" indent="0" marL="0">
              <a:buNone/>
            </a:pPr>
            <a:r>
              <a:rPr lang="en-US" sz="1200" b="1" dirty="0">
                <a:solidFill>
                  <a:srgbClr val="CBD3F3"/>
                </a:solidFill>
                <a:latin typeface="Calibri" pitchFamily="34" charset="0"/>
                <a:ea typeface="Calibri" pitchFamily="34" charset="-122"/>
                <a:cs typeface="Calibri" pitchFamily="34" charset="-120"/>
              </a:rPr>
              <a:t>Documentation: </a:t>
            </a:r>
            <a:pPr algn="ctr" indent="0" marL="0">
              <a:buNone/>
            </a:pPr>
            <a:r>
              <a:rPr lang="en-US" sz="1200" dirty="0">
                <a:solidFill>
                  <a:srgbClr val="9CA8E8"/>
                </a:solidFill>
                <a:latin typeface="Calibri" pitchFamily="34" charset="0"/>
                <a:ea typeface="Calibri" pitchFamily="34" charset="-122"/>
                <a:cs typeface="Calibri" pitchFamily="34" charset="-120"/>
              </a:rPr>
              <a:t>Architecture.md · ReleaseManagement.md · DeveloperGuide.md · CommandReference.md</a:t>
            </a:r>
            <a:endParaRPr lang="en-US" sz="1200" dirty="0"/>
          </a:p>
        </p:txBody>
      </p:sp>
      <p:sp>
        <p:nvSpPr>
          <p:cNvPr id="10" name="Text 7"/>
          <p:cNvSpPr/>
          <p:nvPr/>
        </p:nvSpPr>
        <p:spPr>
          <a:xfrm>
            <a:off x="822960" y="5212080"/>
            <a:ext cx="10515600" cy="365760"/>
          </a:xfrm>
          <a:prstGeom prst="rect">
            <a:avLst/>
          </a:prstGeom>
          <a:noFill/>
          <a:ln/>
        </p:spPr>
        <p:txBody>
          <a:bodyPr wrap="square" lIns="0" tIns="0" rIns="0" bIns="0" rtlCol="0" anchor="ctr"/>
          <a:lstStyle/>
          <a:p>
            <a:pPr algn="ctr" indent="0" marL="0">
              <a:buNone/>
            </a:pPr>
            <a:r>
              <a:rPr lang="en-US" sz="1300" b="1" dirty="0">
                <a:solidFill>
                  <a:srgbClr val="CBD3F3"/>
                </a:solidFill>
                <a:latin typeface="Calibri" pitchFamily="34" charset="0"/>
                <a:ea typeface="Calibri" pitchFamily="34" charset="-122"/>
                <a:cs typeface="Calibri" pitchFamily="34" charset="-120"/>
              </a:rPr>
              <a:t>Get started: </a:t>
            </a:r>
            <a:pPr algn="ctr" indent="0" marL="0">
              <a:buNone/>
            </a:pPr>
            <a:r>
              <a:rPr lang="en-US" sz="1300" dirty="0">
                <a:solidFill>
                  <a:srgbClr val="86EFAC"/>
                </a:solidFill>
                <a:latin typeface="Courier New" pitchFamily="34" charset="0"/>
                <a:ea typeface="Courier New" pitchFamily="34" charset="-122"/>
                <a:cs typeface="Courier New" pitchFamily="34" charset="-120"/>
              </a:rPr>
              <a:t>git flow init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Git Flow Plus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Flow Plus — Enterprise Release Management Workflow</dc:title>
  <dc:subject>PptxGenJS Presentation</dc:subject>
  <dc:creator>Git Flow Plus</dc:creator>
  <cp:lastModifiedBy>Git Flow Plus</cp:lastModifiedBy>
  <cp:revision>1</cp:revision>
  <dcterms:created xsi:type="dcterms:W3CDTF">2026-07-28T07:31:53Z</dcterms:created>
  <dcterms:modified xsi:type="dcterms:W3CDTF">2026-07-28T07:31:53Z</dcterms:modified>
</cp:coreProperties>
</file>